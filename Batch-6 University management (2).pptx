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303" r:id="rId5"/>
    <p:sldId id="281" r:id="rId6"/>
    <p:sldId id="283" r:id="rId7"/>
    <p:sldId id="309" r:id="rId8"/>
    <p:sldId id="302" r:id="rId9"/>
    <p:sldId id="320" r:id="rId10"/>
    <p:sldId id="313" r:id="rId11"/>
    <p:sldId id="314" r:id="rId12"/>
    <p:sldId id="316" r:id="rId13"/>
    <p:sldId id="318" r:id="rId14"/>
    <p:sldId id="319" r:id="rId15"/>
    <p:sldId id="310" r:id="rId16"/>
    <p:sldId id="311" r:id="rId17"/>
    <p:sldId id="312" r:id="rId18"/>
    <p:sldId id="322" r:id="rId19"/>
    <p:sldId id="323" r:id="rId20"/>
    <p:sldId id="324" r:id="rId21"/>
    <p:sldId id="321" r:id="rId22"/>
    <p:sldId id="269" r:id="rId23"/>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964595-3361-4D43-BEC2-DDDB7698E8A7}" v="58" dt="2026-09-24T08:07:14.46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6965" autoAdjust="0"/>
  </p:normalViewPr>
  <p:slideViewPr>
    <p:cSldViewPr>
      <p:cViewPr varScale="1">
        <p:scale>
          <a:sx n="63" d="100"/>
          <a:sy n="63" d="100"/>
        </p:scale>
        <p:origin x="1877" y="67"/>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nkara bhuvanakruthi" userId="3c80df5541a811b9" providerId="LiveId" clId="{76C38D51-07A9-4149-B7D5-8B219FFEED29}"/>
    <pc:docChg chg="undo custSel addSld delSld modSld sldOrd">
      <pc:chgData name="sunkara bhuvanakruthi" userId="3c80df5541a811b9" providerId="LiveId" clId="{76C38D51-07A9-4149-B7D5-8B219FFEED29}" dt="2026-09-26T04:27:27.666" v="1469" actId="2711"/>
      <pc:docMkLst>
        <pc:docMk/>
      </pc:docMkLst>
      <pc:sldChg chg="addSp delSp modSp mod">
        <pc:chgData name="sunkara bhuvanakruthi" userId="3c80df5541a811b9" providerId="LiveId" clId="{76C38D51-07A9-4149-B7D5-8B219FFEED29}" dt="2026-09-26T04:25:23.423" v="1467" actId="948"/>
        <pc:sldMkLst>
          <pc:docMk/>
          <pc:sldMk cId="0" sldId="256"/>
        </pc:sldMkLst>
        <pc:spChg chg="mod">
          <ac:chgData name="sunkara bhuvanakruthi" userId="3c80df5541a811b9" providerId="LiveId" clId="{76C38D51-07A9-4149-B7D5-8B219FFEED29}" dt="2026-09-26T04:25:23.423" v="1467" actId="948"/>
          <ac:spMkLst>
            <pc:docMk/>
            <pc:sldMk cId="0" sldId="256"/>
            <ac:spMk id="4" creationId="{00000000-0000-0000-0000-000000000000}"/>
          </ac:spMkLst>
        </pc:spChg>
      </pc:sldChg>
      <pc:sldChg chg="modSp mod">
        <pc:chgData name="sunkara bhuvanakruthi" userId="3c80df5541a811b9" providerId="LiveId" clId="{76C38D51-07A9-4149-B7D5-8B219FFEED29}" dt="2026-09-24T07:02:21.338" v="1257" actId="948"/>
        <pc:sldMkLst>
          <pc:docMk/>
          <pc:sldMk cId="0" sldId="257"/>
        </pc:sldMkLst>
        <pc:spChg chg="mod">
          <ac:chgData name="sunkara bhuvanakruthi" userId="3c80df5541a811b9" providerId="LiveId" clId="{76C38D51-07A9-4149-B7D5-8B219FFEED29}" dt="2026-09-24T07:02:21.338" v="1257" actId="948"/>
          <ac:spMkLst>
            <pc:docMk/>
            <pc:sldMk cId="0" sldId="257"/>
            <ac:spMk id="4" creationId="{00000000-0000-0000-0000-000000000000}"/>
          </ac:spMkLst>
        </pc:spChg>
      </pc:sldChg>
      <pc:sldChg chg="modSp mod">
        <pc:chgData name="sunkara bhuvanakruthi" userId="3c80df5541a811b9" providerId="LiveId" clId="{76C38D51-07A9-4149-B7D5-8B219FFEED29}" dt="2026-09-24T07:06:17.978" v="1258" actId="123"/>
        <pc:sldMkLst>
          <pc:docMk/>
          <pc:sldMk cId="4239901173" sldId="281"/>
        </pc:sldMkLst>
        <pc:spChg chg="mod">
          <ac:chgData name="sunkara bhuvanakruthi" userId="3c80df5541a811b9" providerId="LiveId" clId="{76C38D51-07A9-4149-B7D5-8B219FFEED29}" dt="2026-09-24T07:06:17.978" v="1258" actId="123"/>
          <ac:spMkLst>
            <pc:docMk/>
            <pc:sldMk cId="4239901173" sldId="281"/>
            <ac:spMk id="2" creationId="{BE67B7F0-9F4E-807D-6945-52E549721A2F}"/>
          </ac:spMkLst>
        </pc:spChg>
      </pc:sldChg>
      <pc:sldChg chg="addSp modSp add mod ord">
        <pc:chgData name="sunkara bhuvanakruthi" userId="3c80df5541a811b9" providerId="LiveId" clId="{76C38D51-07A9-4149-B7D5-8B219FFEED29}" dt="2026-09-24T06:54:50.455" v="1102" actId="2161"/>
        <pc:sldMkLst>
          <pc:docMk/>
          <pc:sldMk cId="2997505075" sldId="310"/>
        </pc:sldMkLst>
        <pc:spChg chg="mod">
          <ac:chgData name="sunkara bhuvanakruthi" userId="3c80df5541a811b9" providerId="LiveId" clId="{76C38D51-07A9-4149-B7D5-8B219FFEED29}" dt="2026-09-24T06:54:39.702" v="1099" actId="2711"/>
          <ac:spMkLst>
            <pc:docMk/>
            <pc:sldMk cId="2997505075" sldId="310"/>
            <ac:spMk id="3" creationId="{366A6EA7-3204-3F9E-35D7-3077133E5BC1}"/>
          </ac:spMkLst>
        </pc:spChg>
        <pc:spChg chg="mod">
          <ac:chgData name="sunkara bhuvanakruthi" userId="3c80df5541a811b9" providerId="LiveId" clId="{76C38D51-07A9-4149-B7D5-8B219FFEED29}" dt="2026-09-24T06:02:36.567" v="267" actId="20577"/>
          <ac:spMkLst>
            <pc:docMk/>
            <pc:sldMk cId="2997505075" sldId="310"/>
            <ac:spMk id="15" creationId="{7B44140B-7854-6A9D-9297-077DA0696523}"/>
          </ac:spMkLst>
        </pc:spChg>
        <pc:graphicFrameChg chg="add mod modGraphic">
          <ac:chgData name="sunkara bhuvanakruthi" userId="3c80df5541a811b9" providerId="LiveId" clId="{76C38D51-07A9-4149-B7D5-8B219FFEED29}" dt="2026-09-24T06:54:50.455" v="1102" actId="2161"/>
          <ac:graphicFrameMkLst>
            <pc:docMk/>
            <pc:sldMk cId="2997505075" sldId="310"/>
            <ac:graphicFrameMk id="2" creationId="{7CFD1436-8F59-4280-4A9D-6DC9FD0F81F9}"/>
          </ac:graphicFrameMkLst>
        </pc:graphicFrameChg>
      </pc:sldChg>
      <pc:sldChg chg="modSp add mod">
        <pc:chgData name="sunkara bhuvanakruthi" userId="3c80df5541a811b9" providerId="LiveId" clId="{76C38D51-07A9-4149-B7D5-8B219FFEED29}" dt="2026-09-24T06:55:04.326" v="1104" actId="2711"/>
        <pc:sldMkLst>
          <pc:docMk/>
          <pc:sldMk cId="975641371" sldId="311"/>
        </pc:sldMkLst>
        <pc:spChg chg="mod">
          <ac:chgData name="sunkara bhuvanakruthi" userId="3c80df5541a811b9" providerId="LiveId" clId="{76C38D51-07A9-4149-B7D5-8B219FFEED29}" dt="2026-09-24T06:54:58.902" v="1103" actId="2711"/>
          <ac:spMkLst>
            <pc:docMk/>
            <pc:sldMk cId="975641371" sldId="311"/>
            <ac:spMk id="3" creationId="{34B0B6D6-037C-69FB-AB58-B617723872D5}"/>
          </ac:spMkLst>
        </pc:spChg>
        <pc:graphicFrameChg chg="mod modGraphic">
          <ac:chgData name="sunkara bhuvanakruthi" userId="3c80df5541a811b9" providerId="LiveId" clId="{76C38D51-07A9-4149-B7D5-8B219FFEED29}" dt="2026-09-24T06:55:04.326" v="1104" actId="2711"/>
          <ac:graphicFrameMkLst>
            <pc:docMk/>
            <pc:sldMk cId="975641371" sldId="311"/>
            <ac:graphicFrameMk id="2" creationId="{637A8F14-FCDF-260C-11EE-8BA4C47D04F1}"/>
          </ac:graphicFrameMkLst>
        </pc:graphicFrameChg>
      </pc:sldChg>
      <pc:sldChg chg="addSp delSp modSp add mod">
        <pc:chgData name="sunkara bhuvanakruthi" userId="3c80df5541a811b9" providerId="LiveId" clId="{76C38D51-07A9-4149-B7D5-8B219FFEED29}" dt="2026-09-24T06:57:00.001" v="1123" actId="1076"/>
        <pc:sldMkLst>
          <pc:docMk/>
          <pc:sldMk cId="861652554" sldId="312"/>
        </pc:sldMkLst>
        <pc:spChg chg="mod">
          <ac:chgData name="sunkara bhuvanakruthi" userId="3c80df5541a811b9" providerId="LiveId" clId="{76C38D51-07A9-4149-B7D5-8B219FFEED29}" dt="2026-09-24T06:57:00.001" v="1123" actId="1076"/>
          <ac:spMkLst>
            <pc:docMk/>
            <pc:sldMk cId="861652554" sldId="312"/>
            <ac:spMk id="3" creationId="{A38967D9-135E-B5F6-65C2-395BB8562F68}"/>
          </ac:spMkLst>
        </pc:spChg>
        <pc:graphicFrameChg chg="mod modGraphic">
          <ac:chgData name="sunkara bhuvanakruthi" userId="3c80df5541a811b9" providerId="LiveId" clId="{76C38D51-07A9-4149-B7D5-8B219FFEED29}" dt="2026-09-24T06:56:51.358" v="1121" actId="1076"/>
          <ac:graphicFrameMkLst>
            <pc:docMk/>
            <pc:sldMk cId="861652554" sldId="312"/>
            <ac:graphicFrameMk id="2" creationId="{67266C80-7940-A47D-AAC8-E43D18907EED}"/>
          </ac:graphicFrameMkLst>
        </pc:graphicFrameChg>
        <pc:graphicFrameChg chg="add mod modGraphic">
          <ac:chgData name="sunkara bhuvanakruthi" userId="3c80df5541a811b9" providerId="LiveId" clId="{76C38D51-07A9-4149-B7D5-8B219FFEED29}" dt="2026-09-24T06:56:46.940" v="1120" actId="1076"/>
          <ac:graphicFrameMkLst>
            <pc:docMk/>
            <pc:sldMk cId="861652554" sldId="312"/>
            <ac:graphicFrameMk id="10" creationId="{E0A19672-2717-0D07-6514-B82346E09BBE}"/>
          </ac:graphicFrameMkLst>
        </pc:graphicFrameChg>
      </pc:sldChg>
      <pc:sldChg chg="modSp add mod ord">
        <pc:chgData name="sunkara bhuvanakruthi" userId="3c80df5541a811b9" providerId="LiveId" clId="{76C38D51-07A9-4149-B7D5-8B219FFEED29}" dt="2026-09-24T06:57:31.505" v="1126" actId="1076"/>
        <pc:sldMkLst>
          <pc:docMk/>
          <pc:sldMk cId="822926580" sldId="313"/>
        </pc:sldMkLst>
        <pc:spChg chg="mod">
          <ac:chgData name="sunkara bhuvanakruthi" userId="3c80df5541a811b9" providerId="LiveId" clId="{76C38D51-07A9-4149-B7D5-8B219FFEED29}" dt="2026-09-24T06:57:31.505" v="1126" actId="1076"/>
          <ac:spMkLst>
            <pc:docMk/>
            <pc:sldMk cId="822926580" sldId="313"/>
            <ac:spMk id="3" creationId="{8A6E1E99-8741-73C3-188A-52239B6FDDE0}"/>
          </ac:spMkLst>
        </pc:spChg>
        <pc:spChg chg="mod">
          <ac:chgData name="sunkara bhuvanakruthi" userId="3c80df5541a811b9" providerId="LiveId" clId="{76C38D51-07A9-4149-B7D5-8B219FFEED29}" dt="2026-09-24T06:15:53.781" v="429" actId="20577"/>
          <ac:spMkLst>
            <pc:docMk/>
            <pc:sldMk cId="822926580" sldId="313"/>
            <ac:spMk id="15" creationId="{924F4555-0EFB-EB68-2C40-6BB247753B1F}"/>
          </ac:spMkLst>
        </pc:spChg>
      </pc:sldChg>
      <pc:sldChg chg="addSp delSp modSp add mod">
        <pc:chgData name="sunkara bhuvanakruthi" userId="3c80df5541a811b9" providerId="LiveId" clId="{76C38D51-07A9-4149-B7D5-8B219FFEED29}" dt="2026-09-24T06:57:45.278" v="1128" actId="1076"/>
        <pc:sldMkLst>
          <pc:docMk/>
          <pc:sldMk cId="3527037601" sldId="314"/>
        </pc:sldMkLst>
        <pc:spChg chg="add mod">
          <ac:chgData name="sunkara bhuvanakruthi" userId="3c80df5541a811b9" providerId="LiveId" clId="{76C38D51-07A9-4149-B7D5-8B219FFEED29}" dt="2026-09-24T06:57:45.278" v="1128" actId="1076"/>
          <ac:spMkLst>
            <pc:docMk/>
            <pc:sldMk cId="3527037601" sldId="314"/>
            <ac:spMk id="2" creationId="{F4DB59B7-E17F-B87D-B417-57B13D83D4D9}"/>
          </ac:spMkLst>
        </pc:spChg>
      </pc:sldChg>
      <pc:sldChg chg="addSp delSp modSp add mod">
        <pc:chgData name="sunkara bhuvanakruthi" userId="3c80df5541a811b9" providerId="LiveId" clId="{76C38D51-07A9-4149-B7D5-8B219FFEED29}" dt="2026-09-24T06:57:53.095" v="1129" actId="2711"/>
        <pc:sldMkLst>
          <pc:docMk/>
          <pc:sldMk cId="3129847414" sldId="315"/>
        </pc:sldMkLst>
        <pc:spChg chg="add mod">
          <ac:chgData name="sunkara bhuvanakruthi" userId="3c80df5541a811b9" providerId="LiveId" clId="{76C38D51-07A9-4149-B7D5-8B219FFEED29}" dt="2026-09-24T06:57:53.095" v="1129" actId="2711"/>
          <ac:spMkLst>
            <pc:docMk/>
            <pc:sldMk cId="3129847414" sldId="315"/>
            <ac:spMk id="10" creationId="{FEEB20E4-A642-1EC4-2C19-964381AB5A8C}"/>
          </ac:spMkLst>
        </pc:spChg>
      </pc:sldChg>
      <pc:sldChg chg="modSp add mod">
        <pc:chgData name="sunkara bhuvanakruthi" userId="3c80df5541a811b9" providerId="LiveId" clId="{76C38D51-07A9-4149-B7D5-8B219FFEED29}" dt="2026-09-24T06:58:10.092" v="1131" actId="255"/>
        <pc:sldMkLst>
          <pc:docMk/>
          <pc:sldMk cId="3824990529" sldId="316"/>
        </pc:sldMkLst>
        <pc:spChg chg="mod">
          <ac:chgData name="sunkara bhuvanakruthi" userId="3c80df5541a811b9" providerId="LiveId" clId="{76C38D51-07A9-4149-B7D5-8B219FFEED29}" dt="2026-09-24T06:58:10.092" v="1131" actId="255"/>
          <ac:spMkLst>
            <pc:docMk/>
            <pc:sldMk cId="3824990529" sldId="316"/>
            <ac:spMk id="10" creationId="{BF6F8755-3C0E-0C4A-3FCC-F6257E2B283D}"/>
          </ac:spMkLst>
        </pc:spChg>
        <pc:spChg chg="mod">
          <ac:chgData name="sunkara bhuvanakruthi" userId="3c80df5541a811b9" providerId="LiveId" clId="{76C38D51-07A9-4149-B7D5-8B219FFEED29}" dt="2026-09-24T06:25:28.761" v="536" actId="20577"/>
          <ac:spMkLst>
            <pc:docMk/>
            <pc:sldMk cId="3824990529" sldId="316"/>
            <ac:spMk id="15" creationId="{5B2204D5-21C3-149F-A6C1-C3B6E4CDF16F}"/>
          </ac:spMkLst>
        </pc:spChg>
      </pc:sldChg>
      <pc:sldChg chg="addSp delSp modSp add mod">
        <pc:chgData name="sunkara bhuvanakruthi" userId="3c80df5541a811b9" providerId="LiveId" clId="{76C38D51-07A9-4149-B7D5-8B219FFEED29}" dt="2026-09-24T06:58:20.105" v="1132" actId="2711"/>
        <pc:sldMkLst>
          <pc:docMk/>
          <pc:sldMk cId="1619152200" sldId="317"/>
        </pc:sldMkLst>
        <pc:spChg chg="add mod">
          <ac:chgData name="sunkara bhuvanakruthi" userId="3c80df5541a811b9" providerId="LiveId" clId="{76C38D51-07A9-4149-B7D5-8B219FFEED29}" dt="2026-09-24T06:58:20.105" v="1132" actId="2711"/>
          <ac:spMkLst>
            <pc:docMk/>
            <pc:sldMk cId="1619152200" sldId="317"/>
            <ac:spMk id="2" creationId="{D61960EF-2FD7-C429-3043-FC9C4D323E24}"/>
          </ac:spMkLst>
        </pc:spChg>
      </pc:sldChg>
      <pc:sldChg chg="modSp add mod">
        <pc:chgData name="sunkara bhuvanakruthi" userId="3c80df5541a811b9" providerId="LiveId" clId="{76C38D51-07A9-4149-B7D5-8B219FFEED29}" dt="2026-09-26T04:27:16.584" v="1468" actId="2711"/>
        <pc:sldMkLst>
          <pc:docMk/>
          <pc:sldMk cId="1523701918" sldId="318"/>
        </pc:sldMkLst>
        <pc:spChg chg="mod">
          <ac:chgData name="sunkara bhuvanakruthi" userId="3c80df5541a811b9" providerId="LiveId" clId="{76C38D51-07A9-4149-B7D5-8B219FFEED29}" dt="2026-09-26T04:27:16.584" v="1468" actId="2711"/>
          <ac:spMkLst>
            <pc:docMk/>
            <pc:sldMk cId="1523701918" sldId="318"/>
            <ac:spMk id="2" creationId="{39B078DD-97C5-D999-B2EA-A4BFABFB4C8F}"/>
          </ac:spMkLst>
        </pc:spChg>
        <pc:spChg chg="mod">
          <ac:chgData name="sunkara bhuvanakruthi" userId="3c80df5541a811b9" providerId="LiveId" clId="{76C38D51-07A9-4149-B7D5-8B219FFEED29}" dt="2026-09-24T06:30:20.718" v="597" actId="20577"/>
          <ac:spMkLst>
            <pc:docMk/>
            <pc:sldMk cId="1523701918" sldId="318"/>
            <ac:spMk id="15" creationId="{D63E3F71-2D1F-205A-5383-492453E65ABD}"/>
          </ac:spMkLst>
        </pc:spChg>
      </pc:sldChg>
      <pc:sldChg chg="modSp add mod">
        <pc:chgData name="sunkara bhuvanakruthi" userId="3c80df5541a811b9" providerId="LiveId" clId="{76C38D51-07A9-4149-B7D5-8B219FFEED29}" dt="2026-09-26T04:27:27.666" v="1469" actId="2711"/>
        <pc:sldMkLst>
          <pc:docMk/>
          <pc:sldMk cId="971842821" sldId="319"/>
        </pc:sldMkLst>
        <pc:spChg chg="mod">
          <ac:chgData name="sunkara bhuvanakruthi" userId="3c80df5541a811b9" providerId="LiveId" clId="{76C38D51-07A9-4149-B7D5-8B219FFEED29}" dt="2026-09-26T04:27:27.666" v="1469" actId="2711"/>
          <ac:spMkLst>
            <pc:docMk/>
            <pc:sldMk cId="971842821" sldId="319"/>
            <ac:spMk id="2" creationId="{BDD61A03-E703-B189-5D00-4C9E90C9ADBB}"/>
          </ac:spMkLst>
        </pc:spChg>
      </pc:sldChg>
      <pc:sldChg chg="addSp delSp modSp add mod ord">
        <pc:chgData name="sunkara bhuvanakruthi" userId="3c80df5541a811b9" providerId="LiveId" clId="{76C38D51-07A9-4149-B7D5-8B219FFEED29}" dt="2026-09-24T06:59:11.521" v="1142"/>
        <pc:sldMkLst>
          <pc:docMk/>
          <pc:sldMk cId="3803352992" sldId="320"/>
        </pc:sldMkLst>
        <pc:spChg chg="mod">
          <ac:chgData name="sunkara bhuvanakruthi" userId="3c80df5541a811b9" providerId="LiveId" clId="{76C38D51-07A9-4149-B7D5-8B219FFEED29}" dt="2026-09-24T06:34:31.592" v="666" actId="20577"/>
          <ac:spMkLst>
            <pc:docMk/>
            <pc:sldMk cId="3803352992" sldId="320"/>
            <ac:spMk id="15" creationId="{5B799A76-DB99-F9B9-E0F3-1E3226828E3C}"/>
          </ac:spMkLst>
        </pc:spChg>
        <pc:picChg chg="add mod">
          <ac:chgData name="sunkara bhuvanakruthi" userId="3c80df5541a811b9" providerId="LiveId" clId="{76C38D51-07A9-4149-B7D5-8B219FFEED29}" dt="2026-09-24T06:36:29.928" v="672" actId="14100"/>
          <ac:picMkLst>
            <pc:docMk/>
            <pc:sldMk cId="3803352992" sldId="320"/>
            <ac:picMk id="9" creationId="{9DE1FEE5-ACE1-EE5D-94CD-FC26AFC03DAE}"/>
          </ac:picMkLst>
        </pc:picChg>
      </pc:sldChg>
      <pc:sldChg chg="modSp add mod ord">
        <pc:chgData name="sunkara bhuvanakruthi" userId="3c80df5541a811b9" providerId="LiveId" clId="{76C38D51-07A9-4149-B7D5-8B219FFEED29}" dt="2026-09-24T06:43:12.884" v="884" actId="1076"/>
        <pc:sldMkLst>
          <pc:docMk/>
          <pc:sldMk cId="837695477" sldId="321"/>
        </pc:sldMkLst>
        <pc:spChg chg="mod">
          <ac:chgData name="sunkara bhuvanakruthi" userId="3c80df5541a811b9" providerId="LiveId" clId="{76C38D51-07A9-4149-B7D5-8B219FFEED29}" dt="2026-09-24T06:42:53.086" v="881" actId="948"/>
          <ac:spMkLst>
            <pc:docMk/>
            <pc:sldMk cId="837695477" sldId="321"/>
            <ac:spMk id="2" creationId="{8F545CF5-EBAA-D36D-9AEE-E6595230D745}"/>
          </ac:spMkLst>
        </pc:spChg>
        <pc:spChg chg="mod">
          <ac:chgData name="sunkara bhuvanakruthi" userId="3c80df5541a811b9" providerId="LiveId" clId="{76C38D51-07A9-4149-B7D5-8B219FFEED29}" dt="2026-09-24T06:43:12.884" v="884" actId="1076"/>
          <ac:spMkLst>
            <pc:docMk/>
            <pc:sldMk cId="837695477" sldId="321"/>
            <ac:spMk id="15" creationId="{98B883F8-1251-3EC6-B461-7E6DAD0F9EF1}"/>
          </ac:spMkLst>
        </pc:spChg>
        <pc:grpChg chg="mod">
          <ac:chgData name="sunkara bhuvanakruthi" userId="3c80df5541a811b9" providerId="LiveId" clId="{76C38D51-07A9-4149-B7D5-8B219FFEED29}" dt="2026-09-24T06:43:05.165" v="883" actId="1076"/>
          <ac:grpSpMkLst>
            <pc:docMk/>
            <pc:sldMk cId="837695477" sldId="321"/>
            <ac:grpSpMk id="4" creationId="{06CA663E-05F1-9623-0ED5-C3B004188E26}"/>
          </ac:grpSpMkLst>
        </pc:grpChg>
      </pc:sldChg>
      <pc:sldChg chg="modSp add mod">
        <pc:chgData name="sunkara bhuvanakruthi" userId="3c80df5541a811b9" providerId="LiveId" clId="{76C38D51-07A9-4149-B7D5-8B219FFEED29}" dt="2026-09-24T06:54:15.233" v="1098" actId="2711"/>
        <pc:sldMkLst>
          <pc:docMk/>
          <pc:sldMk cId="4275690273" sldId="322"/>
        </pc:sldMkLst>
        <pc:spChg chg="mod">
          <ac:chgData name="sunkara bhuvanakruthi" userId="3c80df5541a811b9" providerId="LiveId" clId="{76C38D51-07A9-4149-B7D5-8B219FFEED29}" dt="2026-09-24T06:54:15.233" v="1098" actId="2711"/>
          <ac:spMkLst>
            <pc:docMk/>
            <pc:sldMk cId="4275690273" sldId="322"/>
            <ac:spMk id="2" creationId="{16829AB1-FC82-FB28-9440-941DE3FC253C}"/>
          </ac:spMkLst>
        </pc:spChg>
        <pc:spChg chg="mod">
          <ac:chgData name="sunkara bhuvanakruthi" userId="3c80df5541a811b9" providerId="LiveId" clId="{76C38D51-07A9-4149-B7D5-8B219FFEED29}" dt="2026-09-24T06:47:17.189" v="1052" actId="20577"/>
          <ac:spMkLst>
            <pc:docMk/>
            <pc:sldMk cId="4275690273" sldId="322"/>
            <ac:spMk id="15" creationId="{5FD11744-5ED4-D9DF-A852-4DB09BD38DE4}"/>
          </ac:spMkLst>
        </pc:spChg>
      </pc:sldChg>
      <pc:sldChg chg="modSp add mod">
        <pc:chgData name="sunkara bhuvanakruthi" userId="3c80df5541a811b9" providerId="LiveId" clId="{76C38D51-07A9-4149-B7D5-8B219FFEED29}" dt="2026-09-24T06:54:06.198" v="1097" actId="255"/>
        <pc:sldMkLst>
          <pc:docMk/>
          <pc:sldMk cId="588303434" sldId="323"/>
        </pc:sldMkLst>
        <pc:spChg chg="mod">
          <ac:chgData name="sunkara bhuvanakruthi" userId="3c80df5541a811b9" providerId="LiveId" clId="{76C38D51-07A9-4149-B7D5-8B219FFEED29}" dt="2026-09-24T06:54:06.198" v="1097" actId="255"/>
          <ac:spMkLst>
            <pc:docMk/>
            <pc:sldMk cId="588303434" sldId="323"/>
            <ac:spMk id="2" creationId="{92F02736-3E7A-A09F-30B4-CB7B68B3E637}"/>
          </ac:spMkLst>
        </pc:spChg>
        <pc:spChg chg="mod">
          <ac:chgData name="sunkara bhuvanakruthi" userId="3c80df5541a811b9" providerId="LiveId" clId="{76C38D51-07A9-4149-B7D5-8B219FFEED29}" dt="2026-09-24T06:48:57.925" v="1085" actId="20577"/>
          <ac:spMkLst>
            <pc:docMk/>
            <pc:sldMk cId="588303434" sldId="323"/>
            <ac:spMk id="15" creationId="{4A148028-3748-DC09-E9B5-85FCAE68950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01-10-2026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7</a:t>
            </a:fld>
            <a:endParaRPr lang="en-IN"/>
          </a:p>
        </p:txBody>
      </p:sp>
    </p:spTree>
    <p:extLst>
      <p:ext uri="{BB962C8B-B14F-4D97-AF65-F5344CB8AC3E}">
        <p14:creationId xmlns:p14="http://schemas.microsoft.com/office/powerpoint/2010/main" val="3289766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r>
              <a:rPr lang="en-US"/>
              <a:t>Click to edit Master title style</a:t>
            </a:r>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r>
              <a:rPr lang="en-US"/>
              <a:t>Click to edit Master subtitle style</a:t>
            </a:r>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r>
              <a:rPr lang="en-US"/>
              <a:t>Click to edit Master title style</a:t>
            </a:r>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pPr lvl="0"/>
            <a:r>
              <a:rPr lang="en-US"/>
              <a:t>Click to edit Master text styles</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r>
              <a:rPr lang="en-US"/>
              <a:t>Click to edit Master title style</a:t>
            </a:r>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pPr lvl="0"/>
            <a:r>
              <a:rPr lang="en-US"/>
              <a:t>Click to edit Master text styles</a:t>
            </a: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pPr lvl="0"/>
            <a:r>
              <a:rPr lang="en-US"/>
              <a:t>Click to edit Master text styles</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r>
              <a:rPr lang="en-US"/>
              <a:t>Click to edit Master title style</a:t>
            </a:r>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6.jp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6.jp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6.jp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6.jp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6.jp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6.jp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6.jp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mailto:rahul@university.edu" TargetMode="Externa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hyperlink" Target="mailto:amrutha@university.edu" TargetMode="External"/><Relationship Id="rId5" Type="http://schemas.openxmlformats.org/officeDocument/2006/relationships/image" Target="../media/image6.jp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057195" y="1149896"/>
            <a:ext cx="7560839" cy="1520416"/>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         DATABASE MANAGEMENT SYSTEM</a:t>
            </a:r>
            <a:br>
              <a:rPr lang="en-IN" sz="2200" spc="-10" dirty="0">
                <a:latin typeface="Times New Roman" panose="02020603050405020304" pitchFamily="18" charset="0"/>
                <a:cs typeface="Times New Roman" panose="02020603050405020304" pitchFamily="18" charset="0"/>
              </a:rPr>
            </a:br>
            <a:br>
              <a:rPr lang="en-IN" sz="2200" spc="-10" dirty="0">
                <a:latin typeface="Times New Roman" panose="02020603050405020304" pitchFamily="18" charset="0"/>
                <a:cs typeface="Times New Roman" panose="02020603050405020304" pitchFamily="18" charset="0"/>
              </a:rPr>
            </a:b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1057195" y="1892984"/>
            <a:ext cx="8292485" cy="6187591"/>
          </a:xfrm>
          <a:prstGeom prst="rect">
            <a:avLst/>
          </a:prstGeom>
        </p:spPr>
        <p:txBody>
          <a:bodyPr vert="horz" wrap="square" lIns="0" tIns="16510" rIns="0" bIns="0" rtlCol="0">
            <a:spAutoFit/>
          </a:bodyPr>
          <a:lstStyle/>
          <a:p>
            <a:pPr algn="ctr">
              <a:lnSpc>
                <a:spcPct val="100000"/>
              </a:lnSpc>
              <a:spcBef>
                <a:spcPts val="130"/>
              </a:spcBef>
            </a:pPr>
            <a:endParaRPr lang="en-IN" sz="2400" dirty="0"/>
          </a:p>
          <a:p>
            <a:pPr algn="ctr">
              <a:lnSpc>
                <a:spcPct val="100000"/>
              </a:lnSpc>
              <a:spcBef>
                <a:spcPts val="130"/>
              </a:spcBef>
            </a:pPr>
            <a:r>
              <a:rPr lang="en-IN" sz="2800" dirty="0">
                <a:latin typeface="Times New Roman" panose="02020603050405020304" pitchFamily="18" charset="0"/>
                <a:cs typeface="Times New Roman" panose="02020603050405020304" pitchFamily="18" charset="0"/>
              </a:rPr>
              <a:t>University Academy Management</a:t>
            </a:r>
            <a:endParaRPr lang="en-IN" sz="2000" dirty="0">
              <a:latin typeface="Times New Roman" panose="02020603050405020304" pitchFamily="18" charset="0"/>
              <a:cs typeface="Times New Roman" panose="02020603050405020304" pitchFamily="18" charset="0"/>
            </a:endParaRPr>
          </a:p>
          <a:p>
            <a:pPr algn="ctr">
              <a:lnSpc>
                <a:spcPct val="100000"/>
              </a:lnSpc>
              <a:spcBef>
                <a:spcPts val="130"/>
              </a:spcBef>
            </a:pPr>
            <a:endParaRPr lang="en-US" sz="2200"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US" sz="2200" spc="-25" dirty="0">
              <a:solidFill>
                <a:srgbClr val="FF0000"/>
              </a:solidFill>
              <a:latin typeface="Times New Roman" panose="02020603050405020304" pitchFamily="18" charset="0"/>
              <a:cs typeface="Times New Roman" panose="02020603050405020304" pitchFamily="18" charset="0"/>
            </a:endParaRPr>
          </a:p>
          <a:p>
            <a:pPr algn="just">
              <a:spcBef>
                <a:spcPts val="130"/>
              </a:spcBef>
            </a:pPr>
            <a:endParaRPr lang="en-IN" sz="2200" spc="-25" dirty="0">
              <a:solidFill>
                <a:srgbClr val="FF0000"/>
              </a:solidFill>
              <a:latin typeface="Times New Roman" panose="02020603050405020304" pitchFamily="18" charset="0"/>
              <a:cs typeface="Times New Roman" panose="02020603050405020304" pitchFamily="18" charset="0"/>
            </a:endParaRPr>
          </a:p>
          <a:p>
            <a:pPr algn="ctr">
              <a:spcBef>
                <a:spcPts val="130"/>
              </a:spcBef>
            </a:pPr>
            <a:r>
              <a:rPr lang="en-IN" sz="2200" spc="-10" dirty="0">
                <a:solidFill>
                  <a:srgbClr val="17375E"/>
                </a:solidFill>
                <a:latin typeface="Times New Roman" panose="02020603050405020304" pitchFamily="18" charset="0"/>
                <a:cs typeface="Times New Roman" panose="02020603050405020304" pitchFamily="18" charset="0"/>
              </a:rPr>
              <a:t> L. Amrutha (26B21AI063) </a:t>
            </a:r>
          </a:p>
          <a:p>
            <a:pPr algn="ctr">
              <a:spcBef>
                <a:spcPts val="130"/>
              </a:spcBef>
            </a:pPr>
            <a:r>
              <a:rPr lang="en-IN" sz="2200" spc="-10" dirty="0">
                <a:solidFill>
                  <a:srgbClr val="17375E"/>
                </a:solidFill>
                <a:latin typeface="Times New Roman" panose="02020603050405020304" pitchFamily="18" charset="0"/>
                <a:cs typeface="Times New Roman" panose="02020603050405020304" pitchFamily="18" charset="0"/>
              </a:rPr>
              <a:t>                  B. Chandini Sowjanya (26B21AI015)</a:t>
            </a:r>
          </a:p>
          <a:p>
            <a:pPr algn="ctr">
              <a:spcBef>
                <a:spcPts val="130"/>
              </a:spcBef>
            </a:pPr>
            <a:r>
              <a:rPr lang="en-IN" sz="2200" spc="-10" dirty="0">
                <a:solidFill>
                  <a:srgbClr val="17375E"/>
                </a:solidFill>
                <a:latin typeface="Times New Roman" panose="02020603050405020304" pitchFamily="18" charset="0"/>
                <a:cs typeface="Times New Roman" panose="02020603050405020304" pitchFamily="18" charset="0"/>
              </a:rPr>
              <a:t>            S. Bhuvana Kruthi (26B21AI106)</a:t>
            </a:r>
          </a:p>
          <a:p>
            <a:pPr algn="ctr">
              <a:spcBef>
                <a:spcPts val="130"/>
              </a:spcBef>
            </a:pPr>
            <a:r>
              <a:rPr lang="en-IN" sz="2200" spc="-10" dirty="0">
                <a:solidFill>
                  <a:srgbClr val="17375E"/>
                </a:solidFill>
                <a:latin typeface="Times New Roman" panose="02020603050405020304" pitchFamily="18" charset="0"/>
                <a:cs typeface="Times New Roman" panose="02020603050405020304" pitchFamily="18" charset="0"/>
              </a:rPr>
              <a:t>         K. Geetha Reddy (26B21AI107)</a:t>
            </a:r>
          </a:p>
          <a:p>
            <a:pPr algn="ctr">
              <a:spcBef>
                <a:spcPts val="130"/>
              </a:spcBef>
            </a:pPr>
            <a:endParaRPr lang="en-IN" sz="2200" spc="-10" dirty="0">
              <a:solidFill>
                <a:srgbClr val="17375E"/>
              </a:solidFill>
              <a:latin typeface="Times New Roman" panose="02020603050405020304" pitchFamily="18" charset="0"/>
              <a:cs typeface="Times New Roman" panose="02020603050405020304" pitchFamily="18" charset="0"/>
            </a:endParaRPr>
          </a:p>
          <a:p>
            <a:pPr marL="3810" algn="ctr">
              <a:lnSpc>
                <a:spcPct val="100000"/>
              </a:lnSpc>
              <a:spcBef>
                <a:spcPts val="750"/>
              </a:spcBef>
            </a:pPr>
            <a:r>
              <a:rPr lang="en-US" sz="2000" spc="-10" dirty="0">
                <a:solidFill>
                  <a:schemeClr val="tx2"/>
                </a:solidFill>
                <a:latin typeface="Times New Roman" panose="02020603050405020304" pitchFamily="18" charset="0"/>
                <a:cs typeface="Times New Roman" panose="02020603050405020304" pitchFamily="18" charset="0"/>
              </a:rPr>
              <a:t>Project Guided By:</a:t>
            </a:r>
          </a:p>
          <a:p>
            <a:pPr marL="3810" algn="just">
              <a:lnSpc>
                <a:spcPct val="100000"/>
              </a:lnSpc>
              <a:spcBef>
                <a:spcPts val="750"/>
              </a:spcBef>
            </a:pPr>
            <a:r>
              <a:rPr lang="en-US" sz="2000" spc="-10" dirty="0">
                <a:solidFill>
                  <a:schemeClr val="tx2"/>
                </a:solidFill>
                <a:latin typeface="Times New Roman" panose="02020603050405020304" pitchFamily="18" charset="0"/>
                <a:cs typeface="Times New Roman" panose="02020603050405020304" pitchFamily="18" charset="0"/>
              </a:rPr>
              <a:t>                                    Ms. M. Pravallika MCA, </a:t>
            </a:r>
            <a:r>
              <a:rPr lang="en-US" sz="2000" spc="-10" dirty="0" err="1">
                <a:solidFill>
                  <a:schemeClr val="tx2"/>
                </a:solidFill>
                <a:latin typeface="Times New Roman" panose="02020603050405020304" pitchFamily="18" charset="0"/>
                <a:cs typeface="Times New Roman" panose="02020603050405020304" pitchFamily="18" charset="0"/>
              </a:rPr>
              <a:t>M.Tech</a:t>
            </a:r>
            <a:endParaRPr lang="en-US" sz="2000" spc="-10" dirty="0">
              <a:solidFill>
                <a:schemeClr val="tx2"/>
              </a:solidFill>
              <a:latin typeface="Times New Roman" panose="02020603050405020304" pitchFamily="18" charset="0"/>
              <a:cs typeface="Times New Roman" panose="02020603050405020304" pitchFamily="18" charset="0"/>
            </a:endParaRPr>
          </a:p>
          <a:p>
            <a:pPr marL="3810" algn="just">
              <a:lnSpc>
                <a:spcPct val="100000"/>
              </a:lnSpc>
              <a:spcBef>
                <a:spcPts val="750"/>
              </a:spcBef>
            </a:pPr>
            <a:r>
              <a:rPr lang="en-US" sz="2000" spc="-10" dirty="0">
                <a:solidFill>
                  <a:schemeClr val="tx2"/>
                </a:solidFill>
                <a:latin typeface="Times New Roman" panose="02020603050405020304" pitchFamily="18" charset="0"/>
                <a:cs typeface="Times New Roman" panose="02020603050405020304" pitchFamily="18" charset="0"/>
              </a:rPr>
              <a:t>                                             Assistant professor(AIML)</a:t>
            </a:r>
            <a:endParaRPr lang="en-IN" sz="2000" spc="-10" dirty="0">
              <a:solidFill>
                <a:schemeClr val="tx2"/>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lang="en-US" sz="2200" dirty="0">
                <a:solidFill>
                  <a:srgbClr val="943735"/>
                </a:solidFill>
                <a:latin typeface="Times New Roman" panose="02020603050405020304" pitchFamily="18" charset="0"/>
                <a:cs typeface="Times New Roman" panose="02020603050405020304" pitchFamily="18" charset="0"/>
              </a:rPr>
              <a:t> of </a:t>
            </a:r>
          </a:p>
          <a:p>
            <a:pPr marL="1270" algn="ctr">
              <a:lnSpc>
                <a:spcPct val="100000"/>
              </a:lnSpc>
              <a:spcBef>
                <a:spcPts val="994"/>
              </a:spcBef>
            </a:pPr>
            <a:r>
              <a:rPr lang="en-IN" sz="2200" dirty="0">
                <a:solidFill>
                  <a:srgbClr val="943735"/>
                </a:solidFill>
                <a:latin typeface="Times New Roman" panose="02020603050405020304" pitchFamily="18" charset="0"/>
                <a:cs typeface="Times New Roman" panose="02020603050405020304" pitchFamily="18" charset="0"/>
              </a:rPr>
              <a:t>Artificial Intelligence and Machine Learning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8772"/>
    </mc:Choice>
    <mc:Fallback xmlns="">
      <p:transition spd="slow" advTm="877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0" name="object 9"/>
          <p:cNvSpPr txBox="1">
            <a:spLocks/>
          </p:cNvSpPr>
          <p:nvPr/>
        </p:nvSpPr>
        <p:spPr>
          <a:xfrm>
            <a:off x="3604543" y="286092"/>
            <a:ext cx="2853690" cy="386003"/>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400" b="1" dirty="0">
                <a:solidFill>
                  <a:schemeClr val="bg1"/>
                </a:solidFill>
                <a:latin typeface="Times New Roman" panose="02020603050405020304" pitchFamily="18" charset="0"/>
                <a:cs typeface="Times New Roman" panose="02020603050405020304" pitchFamily="18" charset="0"/>
              </a:rPr>
              <a:t>Contents</a:t>
            </a:r>
            <a:endParaRPr lang="en-IN" sz="2200" b="1" dirty="0">
              <a:solidFill>
                <a:schemeClr val="bg1"/>
              </a:solidFill>
              <a:latin typeface="Times New Roman" panose="02020603050405020304" pitchFamily="18" charset="0"/>
              <a:cs typeface="Times New Roman" panose="02020603050405020304" pitchFamily="18" charset="0"/>
            </a:endParaRPr>
          </a:p>
        </p:txBody>
      </p:sp>
      <p:sp>
        <p:nvSpPr>
          <p:cNvPr id="11" name="Content Placeholder 10">
            <a:extLst>
              <a:ext uri="{FF2B5EF4-FFF2-40B4-BE49-F238E27FC236}">
                <a16:creationId xmlns:a16="http://schemas.microsoft.com/office/drawing/2014/main" id="{AF04BDFD-DA4B-5FA0-31BA-B155788B3C80}"/>
              </a:ext>
            </a:extLst>
          </p:cNvPr>
          <p:cNvSpPr>
            <a:spLocks noGrp="1"/>
          </p:cNvSpPr>
          <p:nvPr>
            <p:ph sz="half" idx="2"/>
          </p:nvPr>
        </p:nvSpPr>
        <p:spPr>
          <a:xfrm>
            <a:off x="996752" y="2116485"/>
            <a:ext cx="4375404" cy="3539430"/>
          </a:xfrm>
        </p:spPr>
        <p:txBody>
          <a:bodyPr/>
          <a:lstStyle/>
          <a:p>
            <a:pPr marL="469900" indent="-457200" algn="just">
              <a:lnSpc>
                <a:spcPct val="150000"/>
              </a:lnSpc>
              <a:buAutoNum type="arabicPeriod"/>
              <a:tabLst>
                <a:tab pos="389890" algn="l"/>
              </a:tabLst>
            </a:pPr>
            <a:r>
              <a:rPr lang="en-US" sz="2000" b="0" dirty="0">
                <a:latin typeface="Times New Roman" panose="02020603050405020304" pitchFamily="18" charset="0"/>
                <a:cs typeface="Times New Roman" panose="02020603050405020304" pitchFamily="18" charset="0"/>
              </a:rPr>
              <a:t>Abstract</a:t>
            </a:r>
          </a:p>
          <a:p>
            <a:pPr marL="469900" indent="-457200" algn="just">
              <a:lnSpc>
                <a:spcPct val="150000"/>
              </a:lnSpc>
              <a:buAutoNum type="arabicPeriod"/>
              <a:tabLst>
                <a:tab pos="389890" algn="l"/>
              </a:tabLst>
            </a:pPr>
            <a:r>
              <a:rPr lang="en-US" sz="2000" b="0" dirty="0">
                <a:latin typeface="Times New Roman" panose="02020603050405020304" pitchFamily="18" charset="0"/>
                <a:cs typeface="Times New Roman" panose="02020603050405020304" pitchFamily="18" charset="0"/>
              </a:rPr>
              <a:t>Introduction </a:t>
            </a:r>
          </a:p>
          <a:p>
            <a:pPr marL="469900" indent="-457200" algn="just">
              <a:lnSpc>
                <a:spcPct val="150000"/>
              </a:lnSpc>
              <a:buAutoNum type="arabicPeriod"/>
              <a:tabLst>
                <a:tab pos="389890" algn="l"/>
              </a:tabLst>
            </a:pPr>
            <a:r>
              <a:rPr lang="en-US" sz="2000" b="0" dirty="0">
                <a:latin typeface="Times New Roman" panose="02020603050405020304" pitchFamily="18" charset="0"/>
                <a:cs typeface="Times New Roman" panose="02020603050405020304" pitchFamily="18" charset="0"/>
              </a:rPr>
              <a:t> Problem Statement</a:t>
            </a:r>
          </a:p>
          <a:p>
            <a:pPr marL="469900" indent="-457200" algn="just">
              <a:lnSpc>
                <a:spcPct val="150000"/>
              </a:lnSpc>
              <a:buAutoNum type="arabicPeriod"/>
              <a:tabLst>
                <a:tab pos="389890" algn="l"/>
              </a:tabLst>
            </a:pPr>
            <a:r>
              <a:rPr lang="en-US" sz="2000" b="0" dirty="0">
                <a:latin typeface="Times New Roman" panose="02020603050405020304" pitchFamily="18" charset="0"/>
                <a:cs typeface="Times New Roman" panose="02020603050405020304" pitchFamily="18" charset="0"/>
              </a:rPr>
              <a:t>Objectives</a:t>
            </a:r>
          </a:p>
          <a:p>
            <a:pPr marL="469900" indent="-457200" algn="just">
              <a:lnSpc>
                <a:spcPct val="150000"/>
              </a:lnSpc>
              <a:buAutoNum type="arabicPeriod"/>
              <a:tabLst>
                <a:tab pos="389890" algn="l"/>
              </a:tabLst>
            </a:pPr>
            <a:r>
              <a:rPr lang="en-US" sz="2000" b="0" dirty="0">
                <a:latin typeface="Times New Roman" panose="02020603050405020304" pitchFamily="18" charset="0"/>
                <a:cs typeface="Times New Roman" panose="02020603050405020304" pitchFamily="18" charset="0"/>
              </a:rPr>
              <a:t>Entities</a:t>
            </a:r>
          </a:p>
          <a:p>
            <a:pPr marL="469900" indent="-457200" algn="just">
              <a:lnSpc>
                <a:spcPct val="150000"/>
              </a:lnSpc>
              <a:buAutoNum type="arabicPeriod"/>
              <a:tabLst>
                <a:tab pos="389890" algn="l"/>
              </a:tabLst>
            </a:pPr>
            <a:r>
              <a:rPr lang="en-US" sz="2000" b="0" dirty="0">
                <a:latin typeface="Times New Roman" panose="02020603050405020304" pitchFamily="18" charset="0"/>
                <a:cs typeface="Times New Roman" panose="02020603050405020304" pitchFamily="18" charset="0"/>
              </a:rPr>
              <a:t>Attributes</a:t>
            </a:r>
          </a:p>
          <a:p>
            <a:pPr marL="469900" indent="-457200" algn="just">
              <a:lnSpc>
                <a:spcPct val="150000"/>
              </a:lnSpc>
              <a:buAutoNum type="arabicPeriod"/>
              <a:tabLst>
                <a:tab pos="389890" algn="l"/>
              </a:tabLst>
            </a:pPr>
            <a:r>
              <a:rPr lang="en-US" sz="2000" b="0" dirty="0">
                <a:latin typeface="Times New Roman" panose="02020603050405020304" pitchFamily="18" charset="0"/>
                <a:cs typeface="Times New Roman" panose="02020603050405020304" pitchFamily="18" charset="0"/>
              </a:rPr>
              <a:t>ER-Diagram</a:t>
            </a:r>
          </a:p>
          <a:p>
            <a:endParaRPr lang="en-IN" sz="2000" b="0" dirty="0"/>
          </a:p>
        </p:txBody>
      </p:sp>
      <p:sp>
        <p:nvSpPr>
          <p:cNvPr id="12" name="Content Placeholder 11">
            <a:extLst>
              <a:ext uri="{FF2B5EF4-FFF2-40B4-BE49-F238E27FC236}">
                <a16:creationId xmlns:a16="http://schemas.microsoft.com/office/drawing/2014/main" id="{01803D88-0A8A-802E-7717-9E7CDF9B7BBB}"/>
              </a:ext>
            </a:extLst>
          </p:cNvPr>
          <p:cNvSpPr>
            <a:spLocks noGrp="1"/>
          </p:cNvSpPr>
          <p:nvPr>
            <p:ph sz="half" idx="3"/>
          </p:nvPr>
        </p:nvSpPr>
        <p:spPr>
          <a:xfrm>
            <a:off x="5821288" y="1941984"/>
            <a:ext cx="4375404" cy="4462760"/>
          </a:xfrm>
        </p:spPr>
        <p:txBody>
          <a:bodyPr/>
          <a:lstStyle/>
          <a:p>
            <a:pPr marL="469900" indent="-457200" algn="just">
              <a:lnSpc>
                <a:spcPct val="150000"/>
              </a:lnSpc>
              <a:buFont typeface="+mj-lt"/>
              <a:buAutoNum type="arabicPeriod" startAt="8"/>
              <a:tabLst>
                <a:tab pos="389890" algn="l"/>
              </a:tabLst>
            </a:pPr>
            <a:r>
              <a:rPr lang="en-US" sz="2000" b="0" dirty="0">
                <a:latin typeface="Times New Roman" panose="02020603050405020304" pitchFamily="18" charset="0"/>
                <a:cs typeface="Times New Roman" panose="02020603050405020304" pitchFamily="18" charset="0"/>
              </a:rPr>
              <a:t>8. Normalization</a:t>
            </a:r>
          </a:p>
          <a:p>
            <a:pPr marL="469900" indent="-457200" algn="just">
              <a:lnSpc>
                <a:spcPct val="150000"/>
              </a:lnSpc>
              <a:buFont typeface="+mj-lt"/>
              <a:buAutoNum type="arabicPeriod" startAt="8"/>
              <a:tabLst>
                <a:tab pos="389890" algn="l"/>
              </a:tabLst>
            </a:pPr>
            <a:r>
              <a:rPr lang="en-US" sz="2000" b="0" dirty="0">
                <a:latin typeface="Times New Roman" panose="02020603050405020304" pitchFamily="18" charset="0"/>
                <a:cs typeface="Times New Roman" panose="02020603050405020304" pitchFamily="18" charset="0"/>
              </a:rPr>
              <a:t>Joins and Views</a:t>
            </a:r>
          </a:p>
          <a:p>
            <a:pPr marL="469900" indent="-457200" algn="just">
              <a:lnSpc>
                <a:spcPct val="150000"/>
              </a:lnSpc>
              <a:buFont typeface="+mj-lt"/>
              <a:buAutoNum type="arabicPeriod" startAt="8"/>
              <a:tabLst>
                <a:tab pos="389890" algn="l"/>
              </a:tabLst>
            </a:pPr>
            <a:r>
              <a:rPr lang="en-US" sz="2000" b="0" dirty="0">
                <a:latin typeface="Times New Roman" panose="02020603050405020304" pitchFamily="18" charset="0"/>
                <a:cs typeface="Times New Roman" panose="02020603050405020304" pitchFamily="18" charset="0"/>
              </a:rPr>
              <a:t>Acid properties</a:t>
            </a:r>
          </a:p>
          <a:p>
            <a:pPr marL="469900" indent="-457200" algn="just">
              <a:lnSpc>
                <a:spcPct val="150000"/>
              </a:lnSpc>
              <a:buFont typeface="+mj-lt"/>
              <a:buAutoNum type="arabicPeriod" startAt="8"/>
              <a:tabLst>
                <a:tab pos="389890" algn="l"/>
              </a:tabLst>
            </a:pPr>
            <a:r>
              <a:rPr lang="en-US" sz="2000" b="0" dirty="0">
                <a:latin typeface="Times New Roman" panose="02020603050405020304" pitchFamily="18" charset="0"/>
                <a:cs typeface="Times New Roman" panose="02020603050405020304" pitchFamily="18" charset="0"/>
              </a:rPr>
              <a:t>DDL Commands</a:t>
            </a:r>
          </a:p>
          <a:p>
            <a:pPr marL="469900" indent="-457200" algn="just">
              <a:lnSpc>
                <a:spcPct val="150000"/>
              </a:lnSpc>
              <a:buFont typeface="+mj-lt"/>
              <a:buAutoNum type="arabicPeriod" startAt="8"/>
              <a:tabLst>
                <a:tab pos="389890" algn="l"/>
              </a:tabLst>
            </a:pPr>
            <a:r>
              <a:rPr lang="en-US" sz="2000" b="0" dirty="0">
                <a:latin typeface="Times New Roman" panose="02020603050405020304" pitchFamily="18" charset="0"/>
                <a:cs typeface="Times New Roman" panose="02020603050405020304" pitchFamily="18" charset="0"/>
              </a:rPr>
              <a:t>DML Commands</a:t>
            </a:r>
          </a:p>
          <a:p>
            <a:pPr marL="469900" indent="-457200" algn="just">
              <a:lnSpc>
                <a:spcPct val="150000"/>
              </a:lnSpc>
              <a:buFont typeface="+mj-lt"/>
              <a:buAutoNum type="arabicPeriod" startAt="8"/>
              <a:tabLst>
                <a:tab pos="389890" algn="l"/>
              </a:tabLst>
            </a:pPr>
            <a:r>
              <a:rPr lang="en-US" sz="2000" b="0" dirty="0">
                <a:latin typeface="Times New Roman" panose="02020603050405020304" pitchFamily="18" charset="0"/>
                <a:cs typeface="Times New Roman" panose="02020603050405020304" pitchFamily="18" charset="0"/>
              </a:rPr>
              <a:t>DQL Commands</a:t>
            </a:r>
          </a:p>
          <a:p>
            <a:pPr marL="469900" indent="-457200" algn="just">
              <a:lnSpc>
                <a:spcPct val="150000"/>
              </a:lnSpc>
              <a:buFont typeface="+mj-lt"/>
              <a:buAutoNum type="arabicPeriod" startAt="8"/>
              <a:tabLst>
                <a:tab pos="389890" algn="l"/>
              </a:tabLst>
            </a:pPr>
            <a:r>
              <a:rPr lang="en-US" sz="2000" b="0" dirty="0">
                <a:latin typeface="Times New Roman" panose="02020603050405020304" pitchFamily="18" charset="0"/>
                <a:cs typeface="Times New Roman" panose="02020603050405020304" pitchFamily="18" charset="0"/>
              </a:rPr>
              <a:t>Future Scope</a:t>
            </a:r>
          </a:p>
          <a:p>
            <a:pPr marL="469900" indent="-457200" algn="just">
              <a:lnSpc>
                <a:spcPct val="150000"/>
              </a:lnSpc>
              <a:buFont typeface="+mj-lt"/>
              <a:buAutoNum type="arabicPeriod" startAt="8"/>
              <a:tabLst>
                <a:tab pos="389890" algn="l"/>
              </a:tabLst>
            </a:pPr>
            <a:r>
              <a:rPr lang="en-US" sz="2000" b="0" dirty="0">
                <a:latin typeface="Times New Roman" panose="02020603050405020304" pitchFamily="18" charset="0"/>
                <a:cs typeface="Times New Roman" panose="02020603050405020304" pitchFamily="18" charset="0"/>
              </a:rPr>
              <a:t>Conclusion</a:t>
            </a:r>
          </a:p>
          <a:p>
            <a:pPr marL="469900" indent="-457200" algn="just">
              <a:lnSpc>
                <a:spcPct val="150000"/>
              </a:lnSpc>
              <a:buFont typeface="+mj-lt"/>
              <a:buAutoNum type="arabicPeriod" startAt="8"/>
              <a:tabLst>
                <a:tab pos="389890" algn="l"/>
              </a:tabLst>
            </a:pPr>
            <a:endParaRPr lang="en-US" sz="2000" b="0" dirty="0">
              <a:latin typeface="Times New Roman" panose="02020603050405020304" pitchFamily="18" charset="0"/>
              <a:cs typeface="Times New Roman" panose="02020603050405020304" pitchFamily="18" charset="0"/>
            </a:endParaRPr>
          </a:p>
          <a:p>
            <a:pPr marL="457200" indent="-457200">
              <a:buFont typeface="+mj-lt"/>
              <a:buAutoNum type="arabicPeriod" startAt="8"/>
            </a:pPr>
            <a:endParaRPr lang="en-IN" sz="2000" b="0" dirty="0"/>
          </a:p>
        </p:txBody>
      </p:sp>
    </p:spTree>
  </p:cSld>
  <p:clrMapOvr>
    <a:masterClrMapping/>
  </p:clrMapOvr>
  <mc:AlternateContent xmlns:mc="http://schemas.openxmlformats.org/markup-compatibility/2006" xmlns:p14="http://schemas.microsoft.com/office/powerpoint/2010/main">
    <mc:Choice Requires="p14">
      <p:transition spd="slow" p14:dur="2000" advTm="1208"/>
    </mc:Choice>
    <mc:Fallback xmlns="">
      <p:transition spd="slow" advTm="1208"/>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493425" y="299669"/>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8" name="TextBox 7">
            <a:extLst>
              <a:ext uri="{FF2B5EF4-FFF2-40B4-BE49-F238E27FC236}">
                <a16:creationId xmlns:a16="http://schemas.microsoft.com/office/drawing/2014/main" id="{0EDDF5B5-FF1C-5E71-45DA-0A0AC6C4C3D2}"/>
              </a:ext>
            </a:extLst>
          </p:cNvPr>
          <p:cNvSpPr txBox="1"/>
          <p:nvPr/>
        </p:nvSpPr>
        <p:spPr>
          <a:xfrm>
            <a:off x="779885" y="2013992"/>
            <a:ext cx="184731" cy="369332"/>
          </a:xfrm>
          <a:prstGeom prst="rect">
            <a:avLst/>
          </a:prstGeom>
          <a:noFill/>
        </p:spPr>
        <p:txBody>
          <a:bodyPr wrap="none" rtlCol="0">
            <a:spAutoFit/>
          </a:bodyPr>
          <a:lstStyle/>
          <a:p>
            <a:endParaRPr lang="en-IN" dirty="0"/>
          </a:p>
        </p:txBody>
      </p:sp>
      <p:sp>
        <p:nvSpPr>
          <p:cNvPr id="12" name="TextBox 11">
            <a:extLst>
              <a:ext uri="{FF2B5EF4-FFF2-40B4-BE49-F238E27FC236}">
                <a16:creationId xmlns:a16="http://schemas.microsoft.com/office/drawing/2014/main" id="{F2719788-9116-B17D-9055-E65C667F6EEC}"/>
              </a:ext>
            </a:extLst>
          </p:cNvPr>
          <p:cNvSpPr txBox="1"/>
          <p:nvPr/>
        </p:nvSpPr>
        <p:spPr>
          <a:xfrm>
            <a:off x="1338146" y="4159405"/>
            <a:ext cx="184731" cy="369332"/>
          </a:xfrm>
          <a:prstGeom prst="rect">
            <a:avLst/>
          </a:prstGeom>
          <a:noFill/>
        </p:spPr>
        <p:txBody>
          <a:bodyPr wrap="none" rtlCol="0">
            <a:spAutoFit/>
          </a:bodyPr>
          <a:lstStyle/>
          <a:p>
            <a:endParaRPr lang="en-IN"/>
          </a:p>
        </p:txBody>
      </p:sp>
      <p:sp>
        <p:nvSpPr>
          <p:cNvPr id="13" name="TextBox 12">
            <a:extLst>
              <a:ext uri="{FF2B5EF4-FFF2-40B4-BE49-F238E27FC236}">
                <a16:creationId xmlns:a16="http://schemas.microsoft.com/office/drawing/2014/main" id="{2288CE78-BF72-A269-7F07-03119BF0BF1F}"/>
              </a:ext>
            </a:extLst>
          </p:cNvPr>
          <p:cNvSpPr txBox="1"/>
          <p:nvPr/>
        </p:nvSpPr>
        <p:spPr>
          <a:xfrm>
            <a:off x="1204332" y="1895707"/>
            <a:ext cx="184731" cy="369332"/>
          </a:xfrm>
          <a:prstGeom prst="rect">
            <a:avLst/>
          </a:prstGeom>
          <a:noFill/>
        </p:spPr>
        <p:txBody>
          <a:bodyPr wrap="none" rtlCol="0">
            <a:spAutoFit/>
          </a:bodyPr>
          <a:lstStyle/>
          <a:p>
            <a:endParaRPr lang="en-IN"/>
          </a:p>
        </p:txBody>
      </p:sp>
      <p:sp>
        <p:nvSpPr>
          <p:cNvPr id="14" name="TextBox 13">
            <a:extLst>
              <a:ext uri="{FF2B5EF4-FFF2-40B4-BE49-F238E27FC236}">
                <a16:creationId xmlns:a16="http://schemas.microsoft.com/office/drawing/2014/main" id="{05D53E23-3BFC-79D5-97CC-C85884E96311}"/>
              </a:ext>
            </a:extLst>
          </p:cNvPr>
          <p:cNvSpPr txBox="1"/>
          <p:nvPr/>
        </p:nvSpPr>
        <p:spPr>
          <a:xfrm>
            <a:off x="892098" y="1494263"/>
            <a:ext cx="184731" cy="369332"/>
          </a:xfrm>
          <a:prstGeom prst="rect">
            <a:avLst/>
          </a:prstGeom>
          <a:noFill/>
        </p:spPr>
        <p:txBody>
          <a:bodyPr wrap="none" rtlCol="0">
            <a:spAutoFit/>
          </a:bodyPr>
          <a:lstStyle/>
          <a:p>
            <a:endParaRPr lang="en-IN" dirty="0"/>
          </a:p>
        </p:txBody>
      </p:sp>
      <p:sp>
        <p:nvSpPr>
          <p:cNvPr id="2" name="TextBox 1">
            <a:extLst>
              <a:ext uri="{FF2B5EF4-FFF2-40B4-BE49-F238E27FC236}">
                <a16:creationId xmlns:a16="http://schemas.microsoft.com/office/drawing/2014/main" id="{EE071A4C-A6B6-3060-D821-4209584ABE97}"/>
              </a:ext>
            </a:extLst>
          </p:cNvPr>
          <p:cNvSpPr txBox="1"/>
          <p:nvPr/>
        </p:nvSpPr>
        <p:spPr>
          <a:xfrm>
            <a:off x="1059015" y="1678929"/>
            <a:ext cx="7940369" cy="4730590"/>
          </a:xfrm>
          <a:prstGeom prst="rect">
            <a:avLst/>
          </a:prstGeom>
          <a:noFill/>
        </p:spPr>
        <p:txBody>
          <a:bodyPr wrap="square" rtlCol="0">
            <a:spAutoFit/>
          </a:bodyPr>
          <a:lstStyle/>
          <a:p>
            <a:pPr algn="just">
              <a:lnSpc>
                <a:spcPct val="150000"/>
              </a:lnSpc>
              <a:spcBef>
                <a:spcPts val="600"/>
              </a:spcBef>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University Management System</a:t>
            </a:r>
            <a:r>
              <a:rPr lang="en-IN" sz="2000" dirty="0">
                <a:latin typeface="Times New Roman" panose="02020603050405020304" pitchFamily="18" charset="0"/>
                <a:cs typeface="Times New Roman" panose="02020603050405020304" pitchFamily="18" charset="0"/>
              </a:rPr>
              <a:t> is a database application developed using </a:t>
            </a:r>
            <a:r>
              <a:rPr lang="en-IN" sz="2000" b="1" dirty="0">
                <a:latin typeface="Times New Roman" panose="02020603050405020304" pitchFamily="18" charset="0"/>
                <a:cs typeface="Times New Roman" panose="02020603050405020304" pitchFamily="18" charset="0"/>
              </a:rPr>
              <a:t>MySQL Workbench</a:t>
            </a:r>
            <a:r>
              <a:rPr lang="en-IN" sz="2000" dirty="0">
                <a:latin typeface="Times New Roman" panose="02020603050405020304" pitchFamily="18" charset="0"/>
                <a:cs typeface="Times New Roman" panose="02020603050405020304" pitchFamily="18" charset="0"/>
              </a:rPr>
              <a:t> to manage academic and administrative activities efficiently. It stores and maintains student, faculty, department, course, attendance, examination, result, and placement information in a centralized database. The system reduces manual work, minimizes data redundancy, and enables quick data retrieval. It also includes </a:t>
            </a:r>
            <a:r>
              <a:rPr lang="en-IN" sz="2000" b="1" dirty="0">
                <a:latin typeface="Times New Roman" panose="02020603050405020304" pitchFamily="18" charset="0"/>
                <a:cs typeface="Times New Roman" panose="02020603050405020304" pitchFamily="18" charset="0"/>
              </a:rPr>
              <a:t>Academic Risk Detection</a:t>
            </a:r>
            <a:r>
              <a:rPr lang="en-IN" sz="2000" dirty="0">
                <a:latin typeface="Times New Roman" panose="02020603050405020304" pitchFamily="18" charset="0"/>
                <a:cs typeface="Times New Roman" panose="02020603050405020304" pitchFamily="18" charset="0"/>
              </a:rPr>
              <a:t> to identify students needing academic support and </a:t>
            </a:r>
            <a:r>
              <a:rPr lang="en-IN" sz="2000" b="1" dirty="0">
                <a:latin typeface="Times New Roman" panose="02020603050405020304" pitchFamily="18" charset="0"/>
                <a:cs typeface="Times New Roman" panose="02020603050405020304" pitchFamily="18" charset="0"/>
              </a:rPr>
              <a:t>Placement Eligibility Analysis</a:t>
            </a:r>
            <a:r>
              <a:rPr lang="en-IN" sz="2000" dirty="0">
                <a:latin typeface="Times New Roman" panose="02020603050405020304" pitchFamily="18" charset="0"/>
                <a:cs typeface="Times New Roman" panose="02020603050405020304" pitchFamily="18" charset="0"/>
              </a:rPr>
              <a:t> to determine placement eligibility based on academic performance.</a:t>
            </a:r>
          </a:p>
          <a:p>
            <a:pPr algn="just">
              <a:lnSpc>
                <a:spcPct val="150000"/>
              </a:lnSpc>
              <a:spcBef>
                <a:spcPts val="600"/>
              </a:spcBef>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005"/>
    </mc:Choice>
    <mc:Fallback xmlns="">
      <p:transition spd="slow" advTm="100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a:extLst>
              <a:ext uri="{FF2B5EF4-FFF2-40B4-BE49-F238E27FC236}">
                <a16:creationId xmlns:a16="http://schemas.microsoft.com/office/drawing/2014/main" id="{A932079A-B15B-178D-8EB6-4E812EB4BA60}"/>
              </a:ext>
            </a:extLst>
          </p:cNvPr>
          <p:cNvGrpSpPr/>
          <p:nvPr/>
        </p:nvGrpSpPr>
        <p:grpSpPr>
          <a:xfrm>
            <a:off x="2652936" y="272768"/>
            <a:ext cx="5103904" cy="1198311"/>
            <a:chOff x="2648188" y="47148"/>
            <a:chExt cx="5103904" cy="1198311"/>
          </a:xfrm>
        </p:grpSpPr>
        <p:pic>
          <p:nvPicPr>
            <p:cNvPr id="4" name="object 4">
              <a:extLst>
                <a:ext uri="{FF2B5EF4-FFF2-40B4-BE49-F238E27FC236}">
                  <a16:creationId xmlns:a16="http://schemas.microsoft.com/office/drawing/2014/main" id="{51D8161E-58CC-E911-5B60-4A9405E19373}"/>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B0BAB2C5-935C-CCE7-E0E8-0C278E23E3CB}"/>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D8B224A4-0D08-BB89-99AB-E6B334BB27B6}"/>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6BF75883-D7E9-5918-034A-B33CA583C31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8" name="TextBox 7">
            <a:extLst>
              <a:ext uri="{FF2B5EF4-FFF2-40B4-BE49-F238E27FC236}">
                <a16:creationId xmlns:a16="http://schemas.microsoft.com/office/drawing/2014/main" id="{7B4C5FDD-11B8-D4B1-EFD8-D9E46E0C0599}"/>
              </a:ext>
            </a:extLst>
          </p:cNvPr>
          <p:cNvSpPr txBox="1"/>
          <p:nvPr/>
        </p:nvSpPr>
        <p:spPr>
          <a:xfrm>
            <a:off x="4154892" y="469169"/>
            <a:ext cx="2232248" cy="461665"/>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Introduction</a:t>
            </a:r>
            <a:endParaRPr lang="en-IN" sz="2400" b="1" dirty="0">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556BAC1-9042-3A7A-B2E4-25482DD666B5}"/>
              </a:ext>
            </a:extLst>
          </p:cNvPr>
          <p:cNvSpPr txBox="1"/>
          <p:nvPr/>
        </p:nvSpPr>
        <p:spPr>
          <a:xfrm>
            <a:off x="492696" y="1581944"/>
            <a:ext cx="9073008" cy="4653646"/>
          </a:xfrm>
          <a:prstGeom prst="rect">
            <a:avLst/>
          </a:prstGeom>
          <a:noFill/>
        </p:spPr>
        <p:txBody>
          <a:bodyPr wrap="square" rtlCol="0">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University Management System</a:t>
            </a:r>
            <a:r>
              <a:rPr lang="en-IN" sz="2000" dirty="0">
                <a:latin typeface="Times New Roman" panose="02020603050405020304" pitchFamily="18" charset="0"/>
                <a:cs typeface="Times New Roman" panose="02020603050405020304" pitchFamily="18" charset="0"/>
              </a:rPr>
              <a:t> is a centralized database application developed using </a:t>
            </a:r>
            <a:r>
              <a:rPr lang="en-IN" sz="2000" b="1" dirty="0">
                <a:latin typeface="Times New Roman" panose="02020603050405020304" pitchFamily="18" charset="0"/>
                <a:cs typeface="Times New Roman" panose="02020603050405020304" pitchFamily="18" charset="0"/>
              </a:rPr>
              <a:t>MySQL Workbench</a:t>
            </a:r>
            <a:r>
              <a:rPr lang="en-IN" sz="2000" dirty="0">
                <a:latin typeface="Times New Roman" panose="02020603050405020304" pitchFamily="18" charset="0"/>
                <a:cs typeface="Times New Roman" panose="02020603050405020304" pitchFamily="18" charset="0"/>
              </a:rPr>
              <a:t> to efficiently manage the academic and administrative activities of a university. It stores and organizes information related to students, faculty, departments, courses, attendance, examinations, and results in a structured and secure manner.</a:t>
            </a:r>
          </a:p>
          <a:p>
            <a:pPr algn="just">
              <a:lnSpc>
                <a:spcPct val="150000"/>
              </a:lnSpc>
            </a:pPr>
            <a:r>
              <a:rPr lang="en-IN" sz="2000" dirty="0">
                <a:latin typeface="Times New Roman" panose="02020603050405020304" pitchFamily="18" charset="0"/>
                <a:cs typeface="Times New Roman" panose="02020603050405020304" pitchFamily="18" charset="0"/>
              </a:rPr>
              <a:t>The system reduces manual record maintenance, eliminates data redundancy, and enables faster retrieval of information through a relational database. In addition to managing academic records, the proposed system introduces analytical features such as </a:t>
            </a:r>
            <a:r>
              <a:rPr lang="en-IN" sz="2000" b="1" dirty="0">
                <a:latin typeface="Times New Roman" panose="02020603050405020304" pitchFamily="18" charset="0"/>
                <a:cs typeface="Times New Roman" panose="02020603050405020304" pitchFamily="18" charset="0"/>
              </a:rPr>
              <a:t>Academic Risk Detection</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Placement Eligibility Analysis</a:t>
            </a:r>
            <a:r>
              <a:rPr lang="en-IN" sz="2000" dirty="0">
                <a:latin typeface="Times New Roman" panose="02020603050405020304" pitchFamily="18" charset="0"/>
                <a:cs typeface="Times New Roman" panose="02020603050405020304" pitchFamily="18" charset="0"/>
              </a:rPr>
              <a:t>, helping the university make timely and informed academic decisions.</a:t>
            </a:r>
          </a:p>
        </p:txBody>
      </p:sp>
    </p:spTree>
    <p:extLst>
      <p:ext uri="{BB962C8B-B14F-4D97-AF65-F5344CB8AC3E}">
        <p14:creationId xmlns:p14="http://schemas.microsoft.com/office/powerpoint/2010/main" val="3056443832"/>
      </p:ext>
    </p:extLst>
  </p:cSld>
  <p:clrMapOvr>
    <a:masterClrMapping/>
  </p:clrMapOvr>
  <mc:AlternateContent xmlns:mc="http://schemas.openxmlformats.org/markup-compatibility/2006" xmlns:p14="http://schemas.microsoft.com/office/powerpoint/2010/main">
    <mc:Choice Requires="p14">
      <p:transition spd="slow" p14:dur="2000" advTm="664"/>
    </mc:Choice>
    <mc:Fallback xmlns="">
      <p:transition spd="slow" advTm="66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3D105-752F-F6BC-E82A-31174A2AD20C}"/>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2B02B738-0C10-B2E4-3FBC-9E4A166526AB}"/>
              </a:ext>
            </a:extLst>
          </p:cNvPr>
          <p:cNvGrpSpPr/>
          <p:nvPr/>
        </p:nvGrpSpPr>
        <p:grpSpPr>
          <a:xfrm>
            <a:off x="2477248" y="196751"/>
            <a:ext cx="5103904" cy="1198311"/>
            <a:chOff x="2648188" y="47148"/>
            <a:chExt cx="5103904" cy="1198311"/>
          </a:xfrm>
        </p:grpSpPr>
        <p:pic>
          <p:nvPicPr>
            <p:cNvPr id="5" name="object 4">
              <a:extLst>
                <a:ext uri="{FF2B5EF4-FFF2-40B4-BE49-F238E27FC236}">
                  <a16:creationId xmlns:a16="http://schemas.microsoft.com/office/drawing/2014/main" id="{5C885B57-53A0-3491-E7B6-0351BD35E208}"/>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58461FAC-72F2-60AB-202B-A9A3791612FB}"/>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9527545C-8F32-992F-919D-92EB9BF31E66}"/>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CCD87EAE-5A9D-4F88-4CA6-467D3FABF43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A2887D2C-2E02-6A70-73C6-B8FAF11F0DB0}"/>
              </a:ext>
            </a:extLst>
          </p:cNvPr>
          <p:cNvSpPr txBox="1"/>
          <p:nvPr/>
        </p:nvSpPr>
        <p:spPr>
          <a:xfrm>
            <a:off x="3575448" y="387389"/>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Problem Statement</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35FFB648-8082-F0A7-D51A-D63CD49EDB3A}"/>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BE67B7F0-9F4E-807D-6945-52E549721A2F}"/>
              </a:ext>
            </a:extLst>
          </p:cNvPr>
          <p:cNvSpPr txBox="1"/>
          <p:nvPr/>
        </p:nvSpPr>
        <p:spPr>
          <a:xfrm>
            <a:off x="420688" y="1464378"/>
            <a:ext cx="9391364" cy="6027612"/>
          </a:xfrm>
          <a:prstGeom prst="rect">
            <a:avLst/>
          </a:prstGeom>
          <a:noFill/>
        </p:spPr>
        <p:txBody>
          <a:bodyPr wrap="square" rtlCol="0">
            <a:spAutoFit/>
          </a:bodyPr>
          <a:lstStyle/>
          <a:p>
            <a:pPr marL="342900" lvl="0" indent="-342900" algn="just">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Manual record management is time-consuming and error-prone. </a:t>
            </a:r>
          </a:p>
          <a:p>
            <a:pPr marL="342900" lvl="0" indent="-342900" algn="just">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Academic information is often stored in multiple disconnected systems. </a:t>
            </a:r>
          </a:p>
          <a:p>
            <a:pPr marL="342900" lvl="0" indent="-342900" algn="just">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Existing systems mainly store data without providing meaningful analysis. </a:t>
            </a:r>
          </a:p>
          <a:p>
            <a:pPr marL="342900" lvl="0" indent="-342900" algn="just">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Identifying academically weak students and placement-eligible students requires manual effort. </a:t>
            </a:r>
          </a:p>
          <a:p>
            <a:pPr marL="342900" lvl="0" indent="-342900" algn="just">
              <a:lnSpc>
                <a:spcPct val="150000"/>
              </a:lnSpc>
              <a:spcBef>
                <a:spcPts val="60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 centralized database with analytical reporting is needed to improve academic management. </a:t>
            </a:r>
          </a:p>
          <a:p>
            <a:pPr algn="just">
              <a:lnSpc>
                <a:spcPct val="150000"/>
              </a:lnSpc>
              <a:spcBef>
                <a:spcPts val="600"/>
              </a:spcBef>
            </a:pPr>
            <a:endParaRPr lang="en-US" sz="2400" b="1" dirty="0">
              <a:latin typeface="Times New Roman" panose="02020603050405020304" pitchFamily="18" charset="0"/>
              <a:cs typeface="Times New Roman" panose="02020603050405020304" pitchFamily="18" charset="0"/>
            </a:endParaRPr>
          </a:p>
          <a:p>
            <a:pPr marL="342900" indent="-342900" algn="just">
              <a:lnSpc>
                <a:spcPct val="150000"/>
              </a:lnSpc>
              <a:spcBef>
                <a:spcPts val="600"/>
              </a:spcBef>
              <a:buFont typeface="Arial" panose="020B0604020202020204" pitchFamily="34" charset="0"/>
              <a:buChar char="•"/>
            </a:pPr>
            <a:endParaRPr lang="en-IN" sz="2400" b="1" dirty="0">
              <a:latin typeface="Times New Roman" panose="02020603050405020304" pitchFamily="18" charset="0"/>
              <a:cs typeface="Times New Roman" panose="02020603050405020304" pitchFamily="18" charset="0"/>
            </a:endParaRPr>
          </a:p>
        </p:txBody>
      </p:sp>
      <p:sp>
        <p:nvSpPr>
          <p:cNvPr id="9" name="Rectangle 2">
            <a:extLst>
              <a:ext uri="{FF2B5EF4-FFF2-40B4-BE49-F238E27FC236}">
                <a16:creationId xmlns:a16="http://schemas.microsoft.com/office/drawing/2014/main" id="{3BB2E957-0BD7-3627-2D28-3D4F6B9E9E40}"/>
              </a:ext>
            </a:extLst>
          </p:cNvPr>
          <p:cNvSpPr>
            <a:spLocks noChangeArrowheads="1"/>
          </p:cNvSpPr>
          <p:nvPr/>
        </p:nvSpPr>
        <p:spPr bwMode="auto">
          <a:xfrm>
            <a:off x="1167738" y="3405973"/>
            <a:ext cx="7722923" cy="775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5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panose="020B0604020202020204" pitchFamily="34" charset="0"/>
              </a:rPr>
              <a:t>  </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9901173"/>
      </p:ext>
    </p:extLst>
  </p:cSld>
  <p:clrMapOvr>
    <a:masterClrMapping/>
  </p:clrMapOvr>
  <mc:AlternateContent xmlns:mc="http://schemas.openxmlformats.org/markup-compatibility/2006" xmlns:p14="http://schemas.microsoft.com/office/powerpoint/2010/main">
    <mc:Choice Requires="p14">
      <p:transition spd="slow" p14:dur="2000" advTm="1857"/>
    </mc:Choice>
    <mc:Fallback xmlns="">
      <p:transition spd="slow" advTm="185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3E4E3-1170-EDD9-83BE-BA289E23DEED}"/>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2627F602-40B3-1D0F-7401-F4EC1D18358F}"/>
              </a:ext>
            </a:extLst>
          </p:cNvPr>
          <p:cNvGrpSpPr/>
          <p:nvPr/>
        </p:nvGrpSpPr>
        <p:grpSpPr>
          <a:xfrm>
            <a:off x="2477248" y="141784"/>
            <a:ext cx="5103904" cy="1198311"/>
            <a:chOff x="2648188" y="47148"/>
            <a:chExt cx="5103904" cy="1198311"/>
          </a:xfrm>
        </p:grpSpPr>
        <p:pic>
          <p:nvPicPr>
            <p:cNvPr id="5" name="object 4">
              <a:extLst>
                <a:ext uri="{FF2B5EF4-FFF2-40B4-BE49-F238E27FC236}">
                  <a16:creationId xmlns:a16="http://schemas.microsoft.com/office/drawing/2014/main" id="{CED3E446-6816-2335-DD30-DA16876AB4C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978FFF70-79DE-5231-71E3-FDD3505892FA}"/>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E2E44C9B-9F2D-C042-25B1-14E9B8E8EF9C}"/>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BEBDC1AC-8786-DCB3-AE3D-7C60E4881085}"/>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EBA9C86F-30E3-F53F-DB03-16F3C710E30F}"/>
              </a:ext>
            </a:extLst>
          </p:cNvPr>
          <p:cNvSpPr txBox="1"/>
          <p:nvPr/>
        </p:nvSpPr>
        <p:spPr>
          <a:xfrm>
            <a:off x="3805064" y="352412"/>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   Objectives</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17A22ADC-684C-05C6-816C-4D3D080143FA}"/>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9143780E-E0B3-F535-4335-6E3A764D00EF}"/>
              </a:ext>
            </a:extLst>
          </p:cNvPr>
          <p:cNvSpPr txBox="1"/>
          <p:nvPr/>
        </p:nvSpPr>
        <p:spPr>
          <a:xfrm>
            <a:off x="1465397" y="1797968"/>
            <a:ext cx="7633693" cy="4191981"/>
          </a:xfrm>
          <a:prstGeom prst="rect">
            <a:avLst/>
          </a:prstGeom>
          <a:noFill/>
        </p:spPr>
        <p:txBody>
          <a:bodyPr wrap="square" rtlCol="0">
            <a:spAutoFit/>
          </a:bodyPr>
          <a:lstStyle/>
          <a:p>
            <a:pPr marL="342900" lvl="0" indent="-342900" algn="just">
              <a:lnSpc>
                <a:spcPct val="150000"/>
              </a:lnSpc>
              <a:spcBef>
                <a:spcPts val="6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Develop a centralized database for university academic management. </a:t>
            </a:r>
          </a:p>
          <a:p>
            <a:pPr marL="342900" lvl="0" indent="-342900" algn="just">
              <a:lnSpc>
                <a:spcPct val="150000"/>
              </a:lnSpc>
              <a:spcBef>
                <a:spcPts val="6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Reduce manual work and eliminate duplicate records. </a:t>
            </a:r>
          </a:p>
          <a:p>
            <a:pPr marL="342900" lvl="0" indent="-342900" algn="just">
              <a:lnSpc>
                <a:spcPct val="150000"/>
              </a:lnSpc>
              <a:spcBef>
                <a:spcPts val="6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Ensure secure storage and quick retrieval of academic information. </a:t>
            </a:r>
          </a:p>
          <a:p>
            <a:pPr marL="342900" lvl="0" indent="-342900" algn="just">
              <a:lnSpc>
                <a:spcPct val="150000"/>
              </a:lnSpc>
              <a:spcBef>
                <a:spcPts val="6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Improve academic administration through structured data management. </a:t>
            </a:r>
          </a:p>
          <a:p>
            <a:pPr marL="342900" lvl="0" indent="-342900" algn="just">
              <a:lnSpc>
                <a:spcPct val="150000"/>
              </a:lnSpc>
              <a:spcBef>
                <a:spcPts val="6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Identify academically at-risk students automatically. </a:t>
            </a:r>
          </a:p>
          <a:p>
            <a:pPr marL="342900" lvl="0" indent="-342900" algn="just">
              <a:lnSpc>
                <a:spcPct val="150000"/>
              </a:lnSpc>
              <a:spcBef>
                <a:spcPts val="600"/>
              </a:spcBef>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Generate placement eligibility reports based on academic criteria.</a:t>
            </a:r>
          </a:p>
          <a:p>
            <a:pPr marL="342900" indent="-342900" algn="just">
              <a:lnSpc>
                <a:spcPct val="150000"/>
              </a:lnSpc>
              <a:spcBef>
                <a:spcPts val="600"/>
              </a:spcBef>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1636657"/>
      </p:ext>
    </p:extLst>
  </p:cSld>
  <p:clrMapOvr>
    <a:masterClrMapping/>
  </p:clrMapOvr>
  <mc:AlternateContent xmlns:mc="http://schemas.openxmlformats.org/markup-compatibility/2006" xmlns:p14="http://schemas.microsoft.com/office/powerpoint/2010/main">
    <mc:Choice Requires="p14">
      <p:transition spd="slow" p14:dur="2000" advTm="2624"/>
    </mc:Choice>
    <mc:Fallback xmlns="">
      <p:transition spd="slow" advTm="262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87AC7-BDDA-7701-A2D9-B5BD3BB4ABC1}"/>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689CE5C9-2B2D-BBFF-A87D-7E2D89E8AE53}"/>
              </a:ext>
            </a:extLst>
          </p:cNvPr>
          <p:cNvGrpSpPr/>
          <p:nvPr/>
        </p:nvGrpSpPr>
        <p:grpSpPr>
          <a:xfrm>
            <a:off x="2724944" y="204311"/>
            <a:ext cx="5103904" cy="1198311"/>
            <a:chOff x="2648188" y="47148"/>
            <a:chExt cx="5103904" cy="1198311"/>
          </a:xfrm>
        </p:grpSpPr>
        <p:pic>
          <p:nvPicPr>
            <p:cNvPr id="5" name="object 4">
              <a:extLst>
                <a:ext uri="{FF2B5EF4-FFF2-40B4-BE49-F238E27FC236}">
                  <a16:creationId xmlns:a16="http://schemas.microsoft.com/office/drawing/2014/main" id="{31D6BFC4-501D-205D-9565-88217713EF36}"/>
                </a:ext>
              </a:extLst>
            </p:cNvPr>
            <p:cNvPicPr/>
            <p:nvPr/>
          </p:nvPicPr>
          <p:blipFill>
            <a:blip r:embed="rId3"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A6389F09-26DE-6372-6A39-DD1A199B5463}"/>
                </a:ext>
              </a:extLst>
            </p:cNvPr>
            <p:cNvPicPr/>
            <p:nvPr/>
          </p:nvPicPr>
          <p:blipFill>
            <a:blip r:embed="rId4"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0F4A24A8-DFB8-1229-F874-8EBC1A68CBD2}"/>
                </a:ext>
              </a:extLst>
            </p:cNvPr>
            <p:cNvPicPr/>
            <p:nvPr/>
          </p:nvPicPr>
          <p:blipFill>
            <a:blip r:embed="rId5"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6D1C8C56-EE6F-4841-ACC9-4D951020E65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99EBA8FA-A2E9-1387-C46E-52C52B0048B3}"/>
              </a:ext>
            </a:extLst>
          </p:cNvPr>
          <p:cNvSpPr txBox="1"/>
          <p:nvPr/>
        </p:nvSpPr>
        <p:spPr>
          <a:xfrm>
            <a:off x="4453136" y="401738"/>
            <a:ext cx="5029200" cy="461665"/>
          </a:xfrm>
          <a:prstGeom prst="rect">
            <a:avLst/>
          </a:prstGeom>
          <a:noFill/>
        </p:spPr>
        <p:txBody>
          <a:bodyPr wrap="square">
            <a:spAutoFit/>
          </a:bodyPr>
          <a:lstStyle/>
          <a:p>
            <a:r>
              <a:rPr lang="en-IN" sz="2400" b="1" dirty="0">
                <a:solidFill>
                  <a:schemeClr val="bg1"/>
                </a:solidFill>
                <a:latin typeface="Times New Roman" panose="02020603050405020304" pitchFamily="18" charset="0"/>
                <a:cs typeface="Times New Roman" panose="02020603050405020304" pitchFamily="18" charset="0"/>
              </a:rPr>
              <a:t>Entities</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AB2948ED-8829-2284-E87F-7A2B8EE77AEE}"/>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C10949FD-981D-33C4-D33D-D0C0069D71E1}"/>
              </a:ext>
            </a:extLst>
          </p:cNvPr>
          <p:cNvSpPr txBox="1"/>
          <p:nvPr/>
        </p:nvSpPr>
        <p:spPr>
          <a:xfrm>
            <a:off x="1525907" y="1364823"/>
            <a:ext cx="3672408" cy="5627503"/>
          </a:xfrm>
          <a:prstGeom prst="rect">
            <a:avLst/>
          </a:prstGeom>
          <a:noFill/>
        </p:spPr>
        <p:txBody>
          <a:bodyPr wrap="square" rtlCol="0">
            <a:spAutoFit/>
          </a:bodyPr>
          <a:lstStyle/>
          <a:p>
            <a:pPr marL="342900" indent="-342900" algn="just">
              <a:lnSpc>
                <a:spcPct val="150000"/>
              </a:lnSpc>
              <a:spcBef>
                <a:spcPts val="600"/>
              </a:spcBef>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Student</a:t>
            </a:r>
          </a:p>
          <a:p>
            <a:pPr marL="342900" indent="-342900" algn="just">
              <a:lnSpc>
                <a:spcPct val="150000"/>
              </a:lnSpc>
              <a:spcBef>
                <a:spcPts val="600"/>
              </a:spcBef>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Faculty</a:t>
            </a:r>
          </a:p>
          <a:p>
            <a:pPr marL="342900" indent="-342900" algn="just">
              <a:lnSpc>
                <a:spcPct val="150000"/>
              </a:lnSpc>
              <a:spcBef>
                <a:spcPts val="600"/>
              </a:spcBef>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Department</a:t>
            </a:r>
          </a:p>
          <a:p>
            <a:pPr marL="342900" indent="-342900" algn="just">
              <a:lnSpc>
                <a:spcPct val="150000"/>
              </a:lnSpc>
              <a:spcBef>
                <a:spcPts val="600"/>
              </a:spcBef>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Course</a:t>
            </a:r>
          </a:p>
          <a:p>
            <a:pPr marL="342900" indent="-342900" algn="just">
              <a:lnSpc>
                <a:spcPct val="150000"/>
              </a:lnSpc>
              <a:spcBef>
                <a:spcPts val="600"/>
              </a:spcBef>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Enrolment</a:t>
            </a:r>
          </a:p>
          <a:p>
            <a:pPr marL="342900" indent="-342900" algn="just">
              <a:lnSpc>
                <a:spcPct val="150000"/>
              </a:lnSpc>
              <a:spcBef>
                <a:spcPts val="600"/>
              </a:spcBef>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Attendance</a:t>
            </a:r>
          </a:p>
          <a:p>
            <a:pPr marL="342900" indent="-342900" algn="just">
              <a:lnSpc>
                <a:spcPct val="150000"/>
              </a:lnSpc>
              <a:spcBef>
                <a:spcPts val="600"/>
              </a:spcBef>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Examination</a:t>
            </a:r>
          </a:p>
          <a:p>
            <a:pPr marL="342900" indent="-342900" algn="just">
              <a:lnSpc>
                <a:spcPct val="150000"/>
              </a:lnSpc>
              <a:spcBef>
                <a:spcPts val="600"/>
              </a:spcBef>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Result</a:t>
            </a:r>
          </a:p>
          <a:p>
            <a:pPr marL="342900" indent="-342900" algn="just">
              <a:lnSpc>
                <a:spcPct val="150000"/>
              </a:lnSpc>
              <a:spcBef>
                <a:spcPts val="600"/>
              </a:spcBef>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Placement</a:t>
            </a:r>
          </a:p>
        </p:txBody>
      </p:sp>
    </p:spTree>
    <p:extLst>
      <p:ext uri="{BB962C8B-B14F-4D97-AF65-F5344CB8AC3E}">
        <p14:creationId xmlns:p14="http://schemas.microsoft.com/office/powerpoint/2010/main" val="2620546127"/>
      </p:ext>
    </p:extLst>
  </p:cSld>
  <p:clrMapOvr>
    <a:masterClrMapping/>
  </p:clrMapOvr>
  <mc:AlternateContent xmlns:mc="http://schemas.openxmlformats.org/markup-compatibility/2006" xmlns:p14="http://schemas.microsoft.com/office/powerpoint/2010/main">
    <mc:Choice Requires="p14">
      <p:transition spd="slow" p14:dur="2000" advTm="808"/>
    </mc:Choice>
    <mc:Fallback xmlns="">
      <p:transition spd="slow" advTm="80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a:extLst>
              <a:ext uri="{FF2B5EF4-FFF2-40B4-BE49-F238E27FC236}">
                <a16:creationId xmlns:a16="http://schemas.microsoft.com/office/drawing/2014/main" id="{ACE0B2A7-B604-1025-40C0-6A549DD551FE}"/>
              </a:ext>
            </a:extLst>
          </p:cNvPr>
          <p:cNvGrpSpPr/>
          <p:nvPr/>
        </p:nvGrpSpPr>
        <p:grpSpPr>
          <a:xfrm>
            <a:off x="2657268" y="176193"/>
            <a:ext cx="5103904" cy="1198311"/>
            <a:chOff x="2648188" y="47148"/>
            <a:chExt cx="5103904" cy="1198311"/>
          </a:xfrm>
        </p:grpSpPr>
        <p:pic>
          <p:nvPicPr>
            <p:cNvPr id="4" name="object 4">
              <a:extLst>
                <a:ext uri="{FF2B5EF4-FFF2-40B4-BE49-F238E27FC236}">
                  <a16:creationId xmlns:a16="http://schemas.microsoft.com/office/drawing/2014/main" id="{C66B5CB7-C42C-986B-699C-6D26396DB643}"/>
                </a:ext>
              </a:extLst>
            </p:cNvPr>
            <p:cNvPicPr/>
            <p:nvPr/>
          </p:nvPicPr>
          <p:blipFill>
            <a:blip r:embed="rId2" cstate="print"/>
            <a:stretch>
              <a:fillRect/>
            </a:stretch>
          </p:blipFill>
          <p:spPr>
            <a:xfrm>
              <a:off x="2648188" y="47148"/>
              <a:ext cx="5103904" cy="1198311"/>
            </a:xfrm>
            <a:prstGeom prst="rect">
              <a:avLst/>
            </a:prstGeom>
          </p:spPr>
        </p:pic>
        <p:pic>
          <p:nvPicPr>
            <p:cNvPr id="5" name="object 5">
              <a:extLst>
                <a:ext uri="{FF2B5EF4-FFF2-40B4-BE49-F238E27FC236}">
                  <a16:creationId xmlns:a16="http://schemas.microsoft.com/office/drawing/2014/main" id="{55FF265C-7885-EA83-0EEE-FB4D04766DA8}"/>
                </a:ext>
              </a:extLst>
            </p:cNvPr>
            <p:cNvPicPr/>
            <p:nvPr/>
          </p:nvPicPr>
          <p:blipFill>
            <a:blip r:embed="rId3" cstate="print"/>
            <a:stretch>
              <a:fillRect/>
            </a:stretch>
          </p:blipFill>
          <p:spPr>
            <a:xfrm>
              <a:off x="2703195" y="86439"/>
              <a:ext cx="4997767" cy="1092279"/>
            </a:xfrm>
            <a:prstGeom prst="rect">
              <a:avLst/>
            </a:prstGeom>
          </p:spPr>
        </p:pic>
        <p:pic>
          <p:nvPicPr>
            <p:cNvPr id="6" name="object 6">
              <a:extLst>
                <a:ext uri="{FF2B5EF4-FFF2-40B4-BE49-F238E27FC236}">
                  <a16:creationId xmlns:a16="http://schemas.microsoft.com/office/drawing/2014/main" id="{F900B8E8-9B58-B765-FC19-79379F96CDEE}"/>
                </a:ext>
              </a:extLst>
            </p:cNvPr>
            <p:cNvPicPr/>
            <p:nvPr/>
          </p:nvPicPr>
          <p:blipFill>
            <a:blip r:embed="rId4" cstate="print"/>
            <a:stretch>
              <a:fillRect/>
            </a:stretch>
          </p:blipFill>
          <p:spPr>
            <a:xfrm>
              <a:off x="2828925" y="243549"/>
              <a:ext cx="4585268" cy="522565"/>
            </a:xfrm>
            <a:prstGeom prst="rect">
              <a:avLst/>
            </a:prstGeom>
          </p:spPr>
        </p:pic>
        <p:sp>
          <p:nvSpPr>
            <p:cNvPr id="7" name="object 7">
              <a:extLst>
                <a:ext uri="{FF2B5EF4-FFF2-40B4-BE49-F238E27FC236}">
                  <a16:creationId xmlns:a16="http://schemas.microsoft.com/office/drawing/2014/main" id="{F97DF1A6-4AD9-FEBE-A6A6-2F63A8E955D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8" name="TextBox 7">
            <a:extLst>
              <a:ext uri="{FF2B5EF4-FFF2-40B4-BE49-F238E27FC236}">
                <a16:creationId xmlns:a16="http://schemas.microsoft.com/office/drawing/2014/main" id="{63FFDC08-B375-4EDA-B4AE-9BD046F6B4CA}"/>
              </a:ext>
            </a:extLst>
          </p:cNvPr>
          <p:cNvSpPr txBox="1"/>
          <p:nvPr/>
        </p:nvSpPr>
        <p:spPr>
          <a:xfrm>
            <a:off x="4145594" y="377359"/>
            <a:ext cx="3600400" cy="461665"/>
          </a:xfrm>
          <a:prstGeom prst="rect">
            <a:avLst/>
          </a:prstGeom>
          <a:noFill/>
        </p:spPr>
        <p:txBody>
          <a:bodyPr wrap="square" rtlCol="0">
            <a:spAutoFit/>
          </a:bodyPr>
          <a:lstStyle/>
          <a:p>
            <a:r>
              <a:rPr lang="en-IN" sz="2400" b="1" dirty="0">
                <a:solidFill>
                  <a:schemeClr val="bg1"/>
                </a:solidFill>
                <a:latin typeface="Times New Roman" panose="02020603050405020304" pitchFamily="18" charset="0"/>
                <a:cs typeface="Times New Roman" panose="02020603050405020304" pitchFamily="18" charset="0"/>
              </a:rPr>
              <a:t>Attributes</a:t>
            </a:r>
          </a:p>
        </p:txBody>
      </p:sp>
      <p:pic>
        <p:nvPicPr>
          <p:cNvPr id="2" name="object 3">
            <a:extLst>
              <a:ext uri="{FF2B5EF4-FFF2-40B4-BE49-F238E27FC236}">
                <a16:creationId xmlns:a16="http://schemas.microsoft.com/office/drawing/2014/main" id="{E3A20E79-BB3F-7E95-FEFE-7CC0FB49939C}"/>
              </a:ext>
            </a:extLst>
          </p:cNvPr>
          <p:cNvPicPr/>
          <p:nvPr/>
        </p:nvPicPr>
        <p:blipFill>
          <a:blip r:embed="rId5" cstate="print"/>
          <a:stretch>
            <a:fillRect/>
          </a:stretch>
        </p:blipFill>
        <p:spPr>
          <a:xfrm>
            <a:off x="290750" y="204311"/>
            <a:ext cx="1163002" cy="424338"/>
          </a:xfrm>
          <a:prstGeom prst="rect">
            <a:avLst/>
          </a:prstGeom>
        </p:spPr>
      </p:pic>
      <p:sp>
        <p:nvSpPr>
          <p:cNvPr id="20" name="TextBox 19">
            <a:extLst>
              <a:ext uri="{FF2B5EF4-FFF2-40B4-BE49-F238E27FC236}">
                <a16:creationId xmlns:a16="http://schemas.microsoft.com/office/drawing/2014/main" id="{228DFEF5-2044-EC93-8FBB-CF02B5044539}"/>
              </a:ext>
            </a:extLst>
          </p:cNvPr>
          <p:cNvSpPr txBox="1"/>
          <p:nvPr/>
        </p:nvSpPr>
        <p:spPr>
          <a:xfrm>
            <a:off x="1115122" y="1851102"/>
            <a:ext cx="184731" cy="369332"/>
          </a:xfrm>
          <a:prstGeom prst="rect">
            <a:avLst/>
          </a:prstGeom>
          <a:noFill/>
        </p:spPr>
        <p:txBody>
          <a:bodyPr wrap="none" rtlCol="0">
            <a:spAutoFit/>
          </a:bodyPr>
          <a:lstStyle/>
          <a:p>
            <a:endParaRPr lang="en-IN" dirty="0"/>
          </a:p>
        </p:txBody>
      </p:sp>
      <p:sp>
        <p:nvSpPr>
          <p:cNvPr id="9" name="TextBox 8">
            <a:extLst>
              <a:ext uri="{FF2B5EF4-FFF2-40B4-BE49-F238E27FC236}">
                <a16:creationId xmlns:a16="http://schemas.microsoft.com/office/drawing/2014/main" id="{9F0F9521-A29A-B847-A671-7801BE567A76}"/>
              </a:ext>
            </a:extLst>
          </p:cNvPr>
          <p:cNvSpPr txBox="1"/>
          <p:nvPr/>
        </p:nvSpPr>
        <p:spPr>
          <a:xfrm>
            <a:off x="1014761" y="1672683"/>
            <a:ext cx="8622951" cy="5742316"/>
          </a:xfrm>
          <a:prstGeom prst="rect">
            <a:avLst/>
          </a:prstGeom>
          <a:noFill/>
        </p:spPr>
        <p:txBody>
          <a:bodyPr wrap="square" rtlCol="0">
            <a:spAutoFit/>
          </a:bodyPr>
          <a:lstStyle/>
          <a:p>
            <a:endParaRPr lang="en-IN" dirty="0"/>
          </a:p>
        </p:txBody>
      </p:sp>
      <p:graphicFrame>
        <p:nvGraphicFramePr>
          <p:cNvPr id="21" name="Table 20">
            <a:extLst>
              <a:ext uri="{FF2B5EF4-FFF2-40B4-BE49-F238E27FC236}">
                <a16:creationId xmlns:a16="http://schemas.microsoft.com/office/drawing/2014/main" id="{8118ED51-498F-98CB-3C45-BBE161066FF2}"/>
              </a:ext>
            </a:extLst>
          </p:cNvPr>
          <p:cNvGraphicFramePr>
            <a:graphicFrameLocks noGrp="1"/>
          </p:cNvGraphicFramePr>
          <p:nvPr>
            <p:extLst>
              <p:ext uri="{D42A27DB-BD31-4B8C-83A1-F6EECF244321}">
                <p14:modId xmlns:p14="http://schemas.microsoft.com/office/powerpoint/2010/main" val="1411254357"/>
              </p:ext>
            </p:extLst>
          </p:nvPr>
        </p:nvGraphicFramePr>
        <p:xfrm>
          <a:off x="1089267" y="1680263"/>
          <a:ext cx="8416012" cy="5240416"/>
        </p:xfrm>
        <a:graphic>
          <a:graphicData uri="http://schemas.openxmlformats.org/drawingml/2006/table">
            <a:tbl>
              <a:tblPr/>
              <a:tblGrid>
                <a:gridCol w="4208006">
                  <a:extLst>
                    <a:ext uri="{9D8B030D-6E8A-4147-A177-3AD203B41FA5}">
                      <a16:colId xmlns:a16="http://schemas.microsoft.com/office/drawing/2014/main" val="2760760873"/>
                    </a:ext>
                  </a:extLst>
                </a:gridCol>
                <a:gridCol w="4208006">
                  <a:extLst>
                    <a:ext uri="{9D8B030D-6E8A-4147-A177-3AD203B41FA5}">
                      <a16:colId xmlns:a16="http://schemas.microsoft.com/office/drawing/2014/main" val="863806381"/>
                    </a:ext>
                  </a:extLst>
                </a:gridCol>
              </a:tblGrid>
              <a:tr h="497304">
                <a:tc>
                  <a:txBody>
                    <a:bodyPr/>
                    <a:lstStyle/>
                    <a:p>
                      <a:pPr marL="285750" indent="-285750">
                        <a:buFont typeface="Wingdings" panose="05000000000000000000" pitchFamily="2" charset="2"/>
                        <a:buChar char="Ø"/>
                      </a:pPr>
                      <a:r>
                        <a:rPr lang="en-IN" sz="1800" b="1" dirty="0">
                          <a:latin typeface="Times New Roman" panose="02020603050405020304" pitchFamily="18" charset="0"/>
                          <a:cs typeface="Times New Roman" panose="02020603050405020304" pitchFamily="18" charset="0"/>
                        </a:rPr>
                        <a:t>Entity</a:t>
                      </a:r>
                      <a:endParaRPr lang="en-IN" sz="1800" dirty="0">
                        <a:latin typeface="Times New Roman" panose="02020603050405020304" pitchFamily="18" charset="0"/>
                        <a:cs typeface="Times New Roman" panose="02020603050405020304" pitchFamily="18" charset="0"/>
                      </a:endParaRPr>
                    </a:p>
                  </a:txBody>
                  <a:tcPr marL="82352" marR="82352" marT="41176" marB="41176" anchor="ctr">
                    <a:lnL>
                      <a:noFill/>
                    </a:lnL>
                    <a:lnR>
                      <a:noFill/>
                    </a:lnR>
                    <a:lnT>
                      <a:noFill/>
                    </a:lnT>
                    <a:lnB>
                      <a:noFill/>
                    </a:lnB>
                    <a:noFill/>
                  </a:tcPr>
                </a:tc>
                <a:tc>
                  <a:txBody>
                    <a:bodyPr/>
                    <a:lstStyle/>
                    <a:p>
                      <a:pPr marL="285750" indent="-285750">
                        <a:buFont typeface="Wingdings" panose="05000000000000000000" pitchFamily="2" charset="2"/>
                        <a:buChar char="Ø"/>
                      </a:pPr>
                      <a:r>
                        <a:rPr lang="en-IN" sz="1800" b="1">
                          <a:latin typeface="Times New Roman" panose="02020603050405020304" pitchFamily="18" charset="0"/>
                          <a:cs typeface="Times New Roman" panose="02020603050405020304" pitchFamily="18" charset="0"/>
                        </a:rPr>
                        <a:t>Key Attributes</a:t>
                      </a:r>
                      <a:endParaRPr lang="en-IN" sz="1800">
                        <a:latin typeface="Times New Roman" panose="02020603050405020304" pitchFamily="18" charset="0"/>
                        <a:cs typeface="Times New Roman" panose="02020603050405020304" pitchFamily="18" charset="0"/>
                      </a:endParaRPr>
                    </a:p>
                  </a:txBody>
                  <a:tcPr marL="82352" marR="82352" marT="41176" marB="41176" anchor="ctr">
                    <a:lnL>
                      <a:noFill/>
                    </a:lnL>
                    <a:lnR>
                      <a:noFill/>
                    </a:lnR>
                    <a:lnT>
                      <a:noFill/>
                    </a:lnT>
                    <a:lnB>
                      <a:noFill/>
                    </a:lnB>
                    <a:noFill/>
                  </a:tcPr>
                </a:tc>
                <a:extLst>
                  <a:ext uri="{0D108BD9-81ED-4DB2-BD59-A6C34878D82A}">
                    <a16:rowId xmlns:a16="http://schemas.microsoft.com/office/drawing/2014/main" val="2307063085"/>
                  </a:ext>
                </a:extLst>
              </a:tr>
              <a:tr h="497304">
                <a:tc>
                  <a:txBody>
                    <a:bodyPr/>
                    <a:lstStyle/>
                    <a:p>
                      <a:pPr marL="28575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Student</a:t>
                      </a:r>
                    </a:p>
                  </a:txBody>
                  <a:tcPr marL="82352" marR="82352" marT="41176" marB="41176" anchor="ctr">
                    <a:lnL>
                      <a:noFill/>
                    </a:lnL>
                    <a:lnR>
                      <a:noFill/>
                    </a:lnR>
                    <a:lnT>
                      <a:noFill/>
                    </a:lnT>
                    <a:lnB>
                      <a:noFill/>
                    </a:lnB>
                    <a:noFill/>
                  </a:tcPr>
                </a:tc>
                <a:tc>
                  <a:txBody>
                    <a:bodyPr/>
                    <a:lstStyle/>
                    <a:p>
                      <a:pPr marL="285750" indent="-285750">
                        <a:buFont typeface="Wingdings" panose="05000000000000000000" pitchFamily="2" charset="2"/>
                        <a:buChar char="Ø"/>
                      </a:pPr>
                      <a:r>
                        <a:rPr lang="en-IN" sz="1800">
                          <a:latin typeface="Times New Roman" panose="02020603050405020304" pitchFamily="18" charset="0"/>
                          <a:cs typeface="Times New Roman" panose="02020603050405020304" pitchFamily="18" charset="0"/>
                        </a:rPr>
                        <a:t>Student ID, Name, Email, Department</a:t>
                      </a:r>
                    </a:p>
                  </a:txBody>
                  <a:tcPr marL="82352" marR="82352" marT="41176" marB="41176" anchor="ctr">
                    <a:lnL>
                      <a:noFill/>
                    </a:lnL>
                    <a:lnR>
                      <a:noFill/>
                    </a:lnR>
                    <a:lnT>
                      <a:noFill/>
                    </a:lnT>
                    <a:lnB>
                      <a:noFill/>
                    </a:lnB>
                    <a:noFill/>
                  </a:tcPr>
                </a:tc>
                <a:extLst>
                  <a:ext uri="{0D108BD9-81ED-4DB2-BD59-A6C34878D82A}">
                    <a16:rowId xmlns:a16="http://schemas.microsoft.com/office/drawing/2014/main" val="404398140"/>
                  </a:ext>
                </a:extLst>
              </a:tr>
              <a:tr h="497304">
                <a:tc>
                  <a:txBody>
                    <a:bodyPr/>
                    <a:lstStyle/>
                    <a:p>
                      <a:pPr marL="285750" indent="-285750">
                        <a:buFont typeface="Wingdings" panose="05000000000000000000" pitchFamily="2" charset="2"/>
                        <a:buChar char="Ø"/>
                      </a:pPr>
                      <a:r>
                        <a:rPr lang="en-IN" sz="1800">
                          <a:latin typeface="Times New Roman" panose="02020603050405020304" pitchFamily="18" charset="0"/>
                          <a:cs typeface="Times New Roman" panose="02020603050405020304" pitchFamily="18" charset="0"/>
                        </a:rPr>
                        <a:t>Faculty</a:t>
                      </a:r>
                    </a:p>
                  </a:txBody>
                  <a:tcPr marL="82352" marR="82352" marT="41176" marB="41176" anchor="ctr">
                    <a:lnL>
                      <a:noFill/>
                    </a:lnL>
                    <a:lnR>
                      <a:noFill/>
                    </a:lnR>
                    <a:lnT>
                      <a:noFill/>
                    </a:lnT>
                    <a:lnB>
                      <a:noFill/>
                    </a:lnB>
                    <a:noFill/>
                  </a:tcPr>
                </a:tc>
                <a:tc>
                  <a:txBody>
                    <a:bodyPr/>
                    <a:lstStyle/>
                    <a:p>
                      <a:pPr marL="285750" indent="-285750">
                        <a:buFont typeface="Wingdings" panose="05000000000000000000" pitchFamily="2" charset="2"/>
                        <a:buChar char="Ø"/>
                      </a:pPr>
                      <a:r>
                        <a:rPr lang="en-IN" sz="1800">
                          <a:latin typeface="Times New Roman" panose="02020603050405020304" pitchFamily="18" charset="0"/>
                          <a:cs typeface="Times New Roman" panose="02020603050405020304" pitchFamily="18" charset="0"/>
                        </a:rPr>
                        <a:t>Faculty ID, Name, Qualification, Department</a:t>
                      </a:r>
                    </a:p>
                  </a:txBody>
                  <a:tcPr marL="82352" marR="82352" marT="41176" marB="41176" anchor="ctr">
                    <a:lnL>
                      <a:noFill/>
                    </a:lnL>
                    <a:lnR>
                      <a:noFill/>
                    </a:lnR>
                    <a:lnT>
                      <a:noFill/>
                    </a:lnT>
                    <a:lnB>
                      <a:noFill/>
                    </a:lnB>
                    <a:noFill/>
                  </a:tcPr>
                </a:tc>
                <a:extLst>
                  <a:ext uri="{0D108BD9-81ED-4DB2-BD59-A6C34878D82A}">
                    <a16:rowId xmlns:a16="http://schemas.microsoft.com/office/drawing/2014/main" val="409929851"/>
                  </a:ext>
                </a:extLst>
              </a:tr>
              <a:tr h="497304">
                <a:tc>
                  <a:txBody>
                    <a:bodyPr/>
                    <a:lstStyle/>
                    <a:p>
                      <a:pPr marL="285750" indent="-285750">
                        <a:buFont typeface="Wingdings" panose="05000000000000000000" pitchFamily="2" charset="2"/>
                        <a:buChar char="Ø"/>
                      </a:pPr>
                      <a:r>
                        <a:rPr lang="en-IN" sz="1800">
                          <a:latin typeface="Times New Roman" panose="02020603050405020304" pitchFamily="18" charset="0"/>
                          <a:cs typeface="Times New Roman" panose="02020603050405020304" pitchFamily="18" charset="0"/>
                        </a:rPr>
                        <a:t>Department</a:t>
                      </a:r>
                    </a:p>
                  </a:txBody>
                  <a:tcPr marL="82352" marR="82352" marT="41176" marB="41176" anchor="ctr">
                    <a:lnL>
                      <a:noFill/>
                    </a:lnL>
                    <a:lnR>
                      <a:noFill/>
                    </a:lnR>
                    <a:lnT>
                      <a:noFill/>
                    </a:lnT>
                    <a:lnB>
                      <a:noFill/>
                    </a:lnB>
                    <a:noFill/>
                  </a:tcPr>
                </a:tc>
                <a:tc>
                  <a:txBody>
                    <a:bodyPr/>
                    <a:lstStyle/>
                    <a:p>
                      <a:pPr marL="285750" indent="-285750">
                        <a:buFont typeface="Wingdings" panose="05000000000000000000" pitchFamily="2" charset="2"/>
                        <a:buChar char="Ø"/>
                      </a:pPr>
                      <a:r>
                        <a:rPr lang="en-IN" sz="1800">
                          <a:latin typeface="Times New Roman" panose="02020603050405020304" pitchFamily="18" charset="0"/>
                          <a:cs typeface="Times New Roman" panose="02020603050405020304" pitchFamily="18" charset="0"/>
                        </a:rPr>
                        <a:t>Department ID, Department Name, HOD</a:t>
                      </a:r>
                    </a:p>
                  </a:txBody>
                  <a:tcPr marL="82352" marR="82352" marT="41176" marB="41176" anchor="ctr">
                    <a:lnL>
                      <a:noFill/>
                    </a:lnL>
                    <a:lnR>
                      <a:noFill/>
                    </a:lnR>
                    <a:lnT>
                      <a:noFill/>
                    </a:lnT>
                    <a:lnB>
                      <a:noFill/>
                    </a:lnB>
                    <a:noFill/>
                  </a:tcPr>
                </a:tc>
                <a:extLst>
                  <a:ext uri="{0D108BD9-81ED-4DB2-BD59-A6C34878D82A}">
                    <a16:rowId xmlns:a16="http://schemas.microsoft.com/office/drawing/2014/main" val="2479964315"/>
                  </a:ext>
                </a:extLst>
              </a:tr>
              <a:tr h="497304">
                <a:tc>
                  <a:txBody>
                    <a:bodyPr/>
                    <a:lstStyle/>
                    <a:p>
                      <a:pPr marL="285750" indent="-285750">
                        <a:buFont typeface="Wingdings" panose="05000000000000000000" pitchFamily="2" charset="2"/>
                        <a:buChar char="Ø"/>
                      </a:pPr>
                      <a:r>
                        <a:rPr lang="en-IN" sz="1800">
                          <a:latin typeface="Times New Roman" panose="02020603050405020304" pitchFamily="18" charset="0"/>
                          <a:cs typeface="Times New Roman" panose="02020603050405020304" pitchFamily="18" charset="0"/>
                        </a:rPr>
                        <a:t>Course</a:t>
                      </a:r>
                    </a:p>
                  </a:txBody>
                  <a:tcPr marL="82352" marR="82352" marT="41176" marB="41176" anchor="ctr">
                    <a:lnL>
                      <a:noFill/>
                    </a:lnL>
                    <a:lnR>
                      <a:noFill/>
                    </a:lnR>
                    <a:lnT>
                      <a:noFill/>
                    </a:lnT>
                    <a:lnB>
                      <a:noFill/>
                    </a:lnB>
                    <a:noFill/>
                  </a:tcPr>
                </a:tc>
                <a:tc>
                  <a:txBody>
                    <a:bodyPr/>
                    <a:lstStyle/>
                    <a:p>
                      <a:pPr marL="285750" indent="-285750">
                        <a:buFont typeface="Wingdings" panose="05000000000000000000" pitchFamily="2" charset="2"/>
                        <a:buChar char="Ø"/>
                      </a:pPr>
                      <a:r>
                        <a:rPr lang="en-IN" sz="1800">
                          <a:latin typeface="Times New Roman" panose="02020603050405020304" pitchFamily="18" charset="0"/>
                          <a:cs typeface="Times New Roman" panose="02020603050405020304" pitchFamily="18" charset="0"/>
                        </a:rPr>
                        <a:t>Course ID, Course Name, Credits</a:t>
                      </a:r>
                    </a:p>
                  </a:txBody>
                  <a:tcPr marL="82352" marR="82352" marT="41176" marB="41176" anchor="ctr">
                    <a:lnL>
                      <a:noFill/>
                    </a:lnL>
                    <a:lnR>
                      <a:noFill/>
                    </a:lnR>
                    <a:lnT>
                      <a:noFill/>
                    </a:lnT>
                    <a:lnB>
                      <a:noFill/>
                    </a:lnB>
                    <a:noFill/>
                  </a:tcPr>
                </a:tc>
                <a:extLst>
                  <a:ext uri="{0D108BD9-81ED-4DB2-BD59-A6C34878D82A}">
                    <a16:rowId xmlns:a16="http://schemas.microsoft.com/office/drawing/2014/main" val="3390844899"/>
                  </a:ext>
                </a:extLst>
              </a:tr>
              <a:tr h="497304">
                <a:tc>
                  <a:txBody>
                    <a:bodyPr/>
                    <a:lstStyle/>
                    <a:p>
                      <a:pPr marL="285750" indent="-285750">
                        <a:buFont typeface="Wingdings" panose="05000000000000000000" pitchFamily="2" charset="2"/>
                        <a:buChar char="Ø"/>
                      </a:pPr>
                      <a:r>
                        <a:rPr lang="en-IN" sz="1800">
                          <a:latin typeface="Times New Roman" panose="02020603050405020304" pitchFamily="18" charset="0"/>
                          <a:cs typeface="Times New Roman" panose="02020603050405020304" pitchFamily="18" charset="0"/>
                        </a:rPr>
                        <a:t>Enrollment</a:t>
                      </a:r>
                    </a:p>
                  </a:txBody>
                  <a:tcPr marL="82352" marR="82352" marT="41176" marB="41176" anchor="ctr">
                    <a:lnL>
                      <a:noFill/>
                    </a:lnL>
                    <a:lnR>
                      <a:noFill/>
                    </a:lnR>
                    <a:lnT>
                      <a:noFill/>
                    </a:lnT>
                    <a:lnB>
                      <a:noFill/>
                    </a:lnB>
                    <a:noFill/>
                  </a:tcPr>
                </a:tc>
                <a:tc>
                  <a:txBody>
                    <a:bodyPr/>
                    <a:lstStyle/>
                    <a:p>
                      <a:pPr marL="285750" indent="-285750">
                        <a:buFont typeface="Wingdings" panose="05000000000000000000" pitchFamily="2" charset="2"/>
                        <a:buChar char="Ø"/>
                      </a:pPr>
                      <a:r>
                        <a:rPr lang="en-IN" sz="1800">
                          <a:latin typeface="Times New Roman" panose="02020603050405020304" pitchFamily="18" charset="0"/>
                          <a:cs typeface="Times New Roman" panose="02020603050405020304" pitchFamily="18" charset="0"/>
                        </a:rPr>
                        <a:t>Enrollment ID, Student ID, Course ID</a:t>
                      </a:r>
                    </a:p>
                  </a:txBody>
                  <a:tcPr marL="82352" marR="82352" marT="41176" marB="41176" anchor="ctr">
                    <a:lnL>
                      <a:noFill/>
                    </a:lnL>
                    <a:lnR>
                      <a:noFill/>
                    </a:lnR>
                    <a:lnT>
                      <a:noFill/>
                    </a:lnT>
                    <a:lnB>
                      <a:noFill/>
                    </a:lnB>
                    <a:noFill/>
                  </a:tcPr>
                </a:tc>
                <a:extLst>
                  <a:ext uri="{0D108BD9-81ED-4DB2-BD59-A6C34878D82A}">
                    <a16:rowId xmlns:a16="http://schemas.microsoft.com/office/drawing/2014/main" val="65770808"/>
                  </a:ext>
                </a:extLst>
              </a:tr>
              <a:tr h="497304">
                <a:tc>
                  <a:txBody>
                    <a:bodyPr/>
                    <a:lstStyle/>
                    <a:p>
                      <a:pPr marL="285750" indent="-285750">
                        <a:buFont typeface="Wingdings" panose="05000000000000000000" pitchFamily="2" charset="2"/>
                        <a:buChar char="Ø"/>
                      </a:pPr>
                      <a:r>
                        <a:rPr lang="en-IN" sz="1800">
                          <a:latin typeface="Times New Roman" panose="02020603050405020304" pitchFamily="18" charset="0"/>
                          <a:cs typeface="Times New Roman" panose="02020603050405020304" pitchFamily="18" charset="0"/>
                        </a:rPr>
                        <a:t>Attendance</a:t>
                      </a:r>
                    </a:p>
                  </a:txBody>
                  <a:tcPr marL="82352" marR="82352" marT="41176" marB="41176" anchor="ctr">
                    <a:lnL>
                      <a:noFill/>
                    </a:lnL>
                    <a:lnR>
                      <a:noFill/>
                    </a:lnR>
                    <a:lnT>
                      <a:noFill/>
                    </a:lnT>
                    <a:lnB>
                      <a:noFill/>
                    </a:lnB>
                    <a:noFill/>
                  </a:tcPr>
                </a:tc>
                <a:tc>
                  <a:txBody>
                    <a:bodyPr/>
                    <a:lstStyle/>
                    <a:p>
                      <a:pPr marL="285750" indent="-285750">
                        <a:buFont typeface="Wingdings" panose="05000000000000000000" pitchFamily="2" charset="2"/>
                        <a:buChar char="Ø"/>
                      </a:pPr>
                      <a:r>
                        <a:rPr lang="en-IN" sz="1800">
                          <a:latin typeface="Times New Roman" panose="02020603050405020304" pitchFamily="18" charset="0"/>
                          <a:cs typeface="Times New Roman" panose="02020603050405020304" pitchFamily="18" charset="0"/>
                        </a:rPr>
                        <a:t>Attendance ID, Student ID, Status</a:t>
                      </a:r>
                    </a:p>
                  </a:txBody>
                  <a:tcPr marL="82352" marR="82352" marT="41176" marB="41176" anchor="ctr">
                    <a:lnL>
                      <a:noFill/>
                    </a:lnL>
                    <a:lnR>
                      <a:noFill/>
                    </a:lnR>
                    <a:lnT>
                      <a:noFill/>
                    </a:lnT>
                    <a:lnB>
                      <a:noFill/>
                    </a:lnB>
                    <a:noFill/>
                  </a:tcPr>
                </a:tc>
                <a:extLst>
                  <a:ext uri="{0D108BD9-81ED-4DB2-BD59-A6C34878D82A}">
                    <a16:rowId xmlns:a16="http://schemas.microsoft.com/office/drawing/2014/main" val="3306377235"/>
                  </a:ext>
                </a:extLst>
              </a:tr>
              <a:tr h="497304">
                <a:tc>
                  <a:txBody>
                    <a:bodyPr/>
                    <a:lstStyle/>
                    <a:p>
                      <a:pPr marL="285750" indent="-285750">
                        <a:buFont typeface="Wingdings" panose="05000000000000000000" pitchFamily="2" charset="2"/>
                        <a:buChar char="Ø"/>
                      </a:pPr>
                      <a:r>
                        <a:rPr lang="en-IN" sz="1800">
                          <a:latin typeface="Times New Roman" panose="02020603050405020304" pitchFamily="18" charset="0"/>
                          <a:cs typeface="Times New Roman" panose="02020603050405020304" pitchFamily="18" charset="0"/>
                        </a:rPr>
                        <a:t>Examination</a:t>
                      </a:r>
                    </a:p>
                  </a:txBody>
                  <a:tcPr marL="82352" marR="82352" marT="41176" marB="41176" anchor="ctr">
                    <a:lnL>
                      <a:noFill/>
                    </a:lnL>
                    <a:lnR>
                      <a:noFill/>
                    </a:lnR>
                    <a:lnT>
                      <a:noFill/>
                    </a:lnT>
                    <a:lnB>
                      <a:noFill/>
                    </a:lnB>
                    <a:noFill/>
                  </a:tcPr>
                </a:tc>
                <a:tc>
                  <a:txBody>
                    <a:bodyPr/>
                    <a:lstStyle/>
                    <a:p>
                      <a:pPr marL="285750" indent="-285750">
                        <a:buFont typeface="Wingdings" panose="05000000000000000000" pitchFamily="2" charset="2"/>
                        <a:buChar char="Ø"/>
                      </a:pPr>
                      <a:r>
                        <a:rPr lang="en-IN" sz="1800">
                          <a:latin typeface="Times New Roman" panose="02020603050405020304" pitchFamily="18" charset="0"/>
                          <a:cs typeface="Times New Roman" panose="02020603050405020304" pitchFamily="18" charset="0"/>
                        </a:rPr>
                        <a:t>Exam ID, Exam Name, Date</a:t>
                      </a:r>
                    </a:p>
                  </a:txBody>
                  <a:tcPr marL="82352" marR="82352" marT="41176" marB="41176" anchor="ctr">
                    <a:lnL>
                      <a:noFill/>
                    </a:lnL>
                    <a:lnR>
                      <a:noFill/>
                    </a:lnR>
                    <a:lnT>
                      <a:noFill/>
                    </a:lnT>
                    <a:lnB>
                      <a:noFill/>
                    </a:lnB>
                    <a:noFill/>
                  </a:tcPr>
                </a:tc>
                <a:extLst>
                  <a:ext uri="{0D108BD9-81ED-4DB2-BD59-A6C34878D82A}">
                    <a16:rowId xmlns:a16="http://schemas.microsoft.com/office/drawing/2014/main" val="3865876211"/>
                  </a:ext>
                </a:extLst>
              </a:tr>
              <a:tr h="497304">
                <a:tc>
                  <a:txBody>
                    <a:bodyPr/>
                    <a:lstStyle/>
                    <a:p>
                      <a:pPr marL="285750" indent="-285750">
                        <a:buFont typeface="Wingdings" panose="05000000000000000000" pitchFamily="2" charset="2"/>
                        <a:buChar char="Ø"/>
                      </a:pPr>
                      <a:r>
                        <a:rPr lang="en-IN" sz="1800">
                          <a:latin typeface="Times New Roman" panose="02020603050405020304" pitchFamily="18" charset="0"/>
                          <a:cs typeface="Times New Roman" panose="02020603050405020304" pitchFamily="18" charset="0"/>
                        </a:rPr>
                        <a:t>Result</a:t>
                      </a:r>
                    </a:p>
                  </a:txBody>
                  <a:tcPr marL="82352" marR="82352" marT="41176" marB="41176" anchor="ctr">
                    <a:lnL>
                      <a:noFill/>
                    </a:lnL>
                    <a:lnR>
                      <a:noFill/>
                    </a:lnR>
                    <a:lnT>
                      <a:noFill/>
                    </a:lnT>
                    <a:lnB>
                      <a:noFill/>
                    </a:lnB>
                    <a:noFill/>
                  </a:tcPr>
                </a:tc>
                <a:tc>
                  <a:txBody>
                    <a:bodyPr/>
                    <a:lstStyle/>
                    <a:p>
                      <a:pPr marL="285750" indent="-285750">
                        <a:buFont typeface="Wingdings" panose="05000000000000000000" pitchFamily="2" charset="2"/>
                        <a:buChar char="Ø"/>
                      </a:pPr>
                      <a:r>
                        <a:rPr lang="en-IN" sz="1800">
                          <a:latin typeface="Times New Roman" panose="02020603050405020304" pitchFamily="18" charset="0"/>
                          <a:cs typeface="Times New Roman" panose="02020603050405020304" pitchFamily="18" charset="0"/>
                        </a:rPr>
                        <a:t>Result ID, Marks, Grade</a:t>
                      </a:r>
                    </a:p>
                  </a:txBody>
                  <a:tcPr marL="82352" marR="82352" marT="41176" marB="41176" anchor="ctr">
                    <a:lnL>
                      <a:noFill/>
                    </a:lnL>
                    <a:lnR>
                      <a:noFill/>
                    </a:lnR>
                    <a:lnT>
                      <a:noFill/>
                    </a:lnT>
                    <a:lnB>
                      <a:noFill/>
                    </a:lnB>
                    <a:noFill/>
                  </a:tcPr>
                </a:tc>
                <a:extLst>
                  <a:ext uri="{0D108BD9-81ED-4DB2-BD59-A6C34878D82A}">
                    <a16:rowId xmlns:a16="http://schemas.microsoft.com/office/drawing/2014/main" val="1248490280"/>
                  </a:ext>
                </a:extLst>
              </a:tr>
              <a:tr h="497304">
                <a:tc>
                  <a:txBody>
                    <a:bodyPr/>
                    <a:lstStyle/>
                    <a:p>
                      <a:pPr marL="285750" indent="-285750">
                        <a:buFont typeface="Wingdings" panose="05000000000000000000" pitchFamily="2" charset="2"/>
                        <a:buChar char="Ø"/>
                      </a:pPr>
                      <a:r>
                        <a:rPr lang="en-IN" sz="1800">
                          <a:latin typeface="Times New Roman" panose="02020603050405020304" pitchFamily="18" charset="0"/>
                          <a:cs typeface="Times New Roman" panose="02020603050405020304" pitchFamily="18" charset="0"/>
                        </a:rPr>
                        <a:t>Placement</a:t>
                      </a:r>
                    </a:p>
                  </a:txBody>
                  <a:tcPr marL="82352" marR="82352" marT="41176" marB="41176" anchor="ctr">
                    <a:lnL>
                      <a:noFill/>
                    </a:lnL>
                    <a:lnR>
                      <a:noFill/>
                    </a:lnR>
                    <a:lnT>
                      <a:noFill/>
                    </a:lnT>
                    <a:lnB>
                      <a:noFill/>
                    </a:lnB>
                    <a:noFill/>
                  </a:tcPr>
                </a:tc>
                <a:tc>
                  <a:txBody>
                    <a:bodyPr/>
                    <a:lstStyle/>
                    <a:p>
                      <a:pPr marL="285750" indent="-285750">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rPr>
                        <a:t>Placement ID, Company, Status</a:t>
                      </a:r>
                    </a:p>
                  </a:txBody>
                  <a:tcPr marL="82352" marR="82352" marT="41176" marB="41176" anchor="ctr">
                    <a:lnL>
                      <a:noFill/>
                    </a:lnL>
                    <a:lnR>
                      <a:noFill/>
                    </a:lnR>
                    <a:lnT>
                      <a:noFill/>
                    </a:lnT>
                    <a:lnB>
                      <a:noFill/>
                    </a:lnB>
                    <a:noFill/>
                  </a:tcPr>
                </a:tc>
                <a:extLst>
                  <a:ext uri="{0D108BD9-81ED-4DB2-BD59-A6C34878D82A}">
                    <a16:rowId xmlns:a16="http://schemas.microsoft.com/office/drawing/2014/main" val="2374609912"/>
                  </a:ext>
                </a:extLst>
              </a:tr>
            </a:tbl>
          </a:graphicData>
        </a:graphic>
      </p:graphicFrame>
    </p:spTree>
    <p:extLst>
      <p:ext uri="{BB962C8B-B14F-4D97-AF65-F5344CB8AC3E}">
        <p14:creationId xmlns:p14="http://schemas.microsoft.com/office/powerpoint/2010/main" val="2915814474"/>
      </p:ext>
    </p:extLst>
  </p:cSld>
  <p:clrMapOvr>
    <a:masterClrMapping/>
  </p:clrMapOvr>
  <mc:AlternateContent xmlns:mc="http://schemas.openxmlformats.org/markup-compatibility/2006" xmlns:p14="http://schemas.microsoft.com/office/powerpoint/2010/main">
    <mc:Choice Requires="p14">
      <p:transition spd="slow" p14:dur="2000" advTm="626"/>
    </mc:Choice>
    <mc:Fallback xmlns="">
      <p:transition spd="slow" advTm="626"/>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70952-ADF6-E3E6-E123-6EB400F0C387}"/>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CD48A14E-5EEF-7587-6292-526D3ED448DA}"/>
              </a:ext>
            </a:extLst>
          </p:cNvPr>
          <p:cNvGrpSpPr/>
          <p:nvPr/>
        </p:nvGrpSpPr>
        <p:grpSpPr>
          <a:xfrm>
            <a:off x="2477248" y="141784"/>
            <a:ext cx="5103904" cy="1198311"/>
            <a:chOff x="2648188" y="47148"/>
            <a:chExt cx="5103904" cy="1198311"/>
          </a:xfrm>
        </p:grpSpPr>
        <p:pic>
          <p:nvPicPr>
            <p:cNvPr id="5" name="object 4">
              <a:extLst>
                <a:ext uri="{FF2B5EF4-FFF2-40B4-BE49-F238E27FC236}">
                  <a16:creationId xmlns:a16="http://schemas.microsoft.com/office/drawing/2014/main" id="{3E383CE4-6066-B198-A96C-7CE5B5D675F0}"/>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4002C138-B4F9-4729-53F6-21B925BF7BD4}"/>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9769634F-2A65-60BB-7DC9-CC53ACC6A69F}"/>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622E031F-02DF-9420-0BFC-545A04D9292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5B799A76-DB99-F9B9-E0F3-1E3226828E3C}"/>
              </a:ext>
            </a:extLst>
          </p:cNvPr>
          <p:cNvSpPr txBox="1"/>
          <p:nvPr/>
        </p:nvSpPr>
        <p:spPr>
          <a:xfrm>
            <a:off x="3805064" y="352412"/>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ER DIAGRAM</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0A8E220A-B62C-CA26-1748-6BAECE62BF19}"/>
              </a:ext>
            </a:extLst>
          </p:cNvPr>
          <p:cNvPicPr/>
          <p:nvPr/>
        </p:nvPicPr>
        <p:blipFill>
          <a:blip r:embed="rId5" cstate="print"/>
          <a:stretch>
            <a:fillRect/>
          </a:stretch>
        </p:blipFill>
        <p:spPr>
          <a:xfrm>
            <a:off x="290750" y="204311"/>
            <a:ext cx="1163002" cy="424338"/>
          </a:xfrm>
          <a:prstGeom prst="rect">
            <a:avLst/>
          </a:prstGeom>
        </p:spPr>
      </p:pic>
      <p:pic>
        <p:nvPicPr>
          <p:cNvPr id="9" name="Picture 8">
            <a:extLst>
              <a:ext uri="{FF2B5EF4-FFF2-40B4-BE49-F238E27FC236}">
                <a16:creationId xmlns:a16="http://schemas.microsoft.com/office/drawing/2014/main" id="{9DE1FEE5-ACE1-EE5D-94CD-FC26AFC03DA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1143000"/>
            <a:ext cx="10058400" cy="5486400"/>
          </a:xfrm>
          <a:prstGeom prst="rect">
            <a:avLst/>
          </a:prstGeom>
        </p:spPr>
      </p:pic>
    </p:spTree>
    <p:extLst>
      <p:ext uri="{BB962C8B-B14F-4D97-AF65-F5344CB8AC3E}">
        <p14:creationId xmlns:p14="http://schemas.microsoft.com/office/powerpoint/2010/main" val="3803352992"/>
      </p:ext>
    </p:extLst>
  </p:cSld>
  <p:clrMapOvr>
    <a:masterClrMapping/>
  </p:clrMapOvr>
  <mc:AlternateContent xmlns:mc="http://schemas.openxmlformats.org/markup-compatibility/2006" xmlns:p14="http://schemas.microsoft.com/office/powerpoint/2010/main">
    <mc:Choice Requires="p14">
      <p:transition spd="slow" p14:dur="2000" advTm="2624"/>
    </mc:Choice>
    <mc:Fallback xmlns="">
      <p:transition spd="slow" advTm="262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58533-61EB-4992-3179-E315124B844B}"/>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1273AB72-B8A7-CC50-E110-F5CC3876ED75}"/>
              </a:ext>
            </a:extLst>
          </p:cNvPr>
          <p:cNvGrpSpPr/>
          <p:nvPr/>
        </p:nvGrpSpPr>
        <p:grpSpPr>
          <a:xfrm>
            <a:off x="2477248" y="141784"/>
            <a:ext cx="5103904" cy="1198311"/>
            <a:chOff x="2648188" y="47148"/>
            <a:chExt cx="5103904" cy="1198311"/>
          </a:xfrm>
        </p:grpSpPr>
        <p:pic>
          <p:nvPicPr>
            <p:cNvPr id="5" name="object 4">
              <a:extLst>
                <a:ext uri="{FF2B5EF4-FFF2-40B4-BE49-F238E27FC236}">
                  <a16:creationId xmlns:a16="http://schemas.microsoft.com/office/drawing/2014/main" id="{DF28BA62-45C0-AD8F-5E4F-93EC72993646}"/>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A8CE8CE6-BF6D-C60E-29D6-C69E2A9E1B3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2FB76AF4-B917-C4CE-0EF5-D7FFFE9E36F7}"/>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127703CD-22E1-23B7-E571-CAD727D940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924F4555-0EFB-EB68-2C40-6BB247753B1F}"/>
              </a:ext>
            </a:extLst>
          </p:cNvPr>
          <p:cNvSpPr txBox="1"/>
          <p:nvPr/>
        </p:nvSpPr>
        <p:spPr>
          <a:xfrm>
            <a:off x="3805064" y="352412"/>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DDL COMMANDS</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C6E216A0-FADD-7794-46AD-4FF55062A100}"/>
              </a:ext>
            </a:extLst>
          </p:cNvPr>
          <p:cNvPicPr/>
          <p:nvPr/>
        </p:nvPicPr>
        <p:blipFill>
          <a:blip r:embed="rId5" cstate="print"/>
          <a:stretch>
            <a:fillRect/>
          </a:stretch>
        </p:blipFill>
        <p:spPr>
          <a:xfrm>
            <a:off x="290750" y="204311"/>
            <a:ext cx="1163002" cy="424338"/>
          </a:xfrm>
          <a:prstGeom prst="rect">
            <a:avLst/>
          </a:prstGeom>
        </p:spPr>
      </p:pic>
      <p:sp>
        <p:nvSpPr>
          <p:cNvPr id="9" name="Content Placeholder 8">
            <a:extLst>
              <a:ext uri="{FF2B5EF4-FFF2-40B4-BE49-F238E27FC236}">
                <a16:creationId xmlns:a16="http://schemas.microsoft.com/office/drawing/2014/main" id="{79B64E9B-1791-E4E5-58CD-0B769586537C}"/>
              </a:ext>
            </a:extLst>
          </p:cNvPr>
          <p:cNvSpPr>
            <a:spLocks noGrp="1"/>
          </p:cNvSpPr>
          <p:nvPr>
            <p:ph sz="half" idx="2"/>
          </p:nvPr>
        </p:nvSpPr>
        <p:spPr>
          <a:xfrm>
            <a:off x="502920" y="1787652"/>
            <a:ext cx="4375404" cy="4608954"/>
          </a:xfrm>
        </p:spPr>
        <p:txBody>
          <a:bodyPr/>
          <a:lstStyle/>
          <a:p>
            <a:pPr algn="just"/>
            <a:r>
              <a:rPr lang="en-IN" sz="1600" dirty="0">
                <a:latin typeface="Times New Roman" panose="02020603050405020304" pitchFamily="18" charset="0"/>
                <a:cs typeface="Times New Roman" panose="02020603050405020304" pitchFamily="18" charset="0"/>
              </a:rPr>
              <a:t>DDL Commands</a:t>
            </a:r>
          </a:p>
          <a:p>
            <a:pPr algn="just"/>
            <a:r>
              <a:rPr lang="en-IN" sz="1600" b="0" dirty="0">
                <a:latin typeface="Times New Roman" panose="02020603050405020304" pitchFamily="18" charset="0"/>
                <a:cs typeface="Times New Roman" panose="02020603050405020304" pitchFamily="18" charset="0"/>
              </a:rPr>
              <a:t>DDL is used to create, change, and remove database structures.</a:t>
            </a:r>
          </a:p>
          <a:p>
            <a:pPr algn="just"/>
            <a:r>
              <a:rPr lang="en-IN" sz="1600" dirty="0">
                <a:latin typeface="Times New Roman" panose="02020603050405020304" pitchFamily="18" charset="0"/>
                <a:cs typeface="Times New Roman" panose="02020603050405020304" pitchFamily="18" charset="0"/>
              </a:rPr>
              <a:t>1. CREATE DATABASE</a:t>
            </a:r>
          </a:p>
          <a:p>
            <a:pPr marL="342900" indent="-342900" algn="just">
              <a:lnSpc>
                <a:spcPct val="150000"/>
              </a:lnSpc>
              <a:spcBef>
                <a:spcPts val="600"/>
              </a:spcBef>
              <a:buFont typeface="Arial" panose="020B0604020202020204" pitchFamily="34" charset="0"/>
              <a:buChar char="•"/>
            </a:pPr>
            <a:r>
              <a:rPr lang="en-IN" sz="1600" b="0" dirty="0">
                <a:latin typeface="Times New Roman" panose="02020603050405020304" pitchFamily="18" charset="0"/>
                <a:cs typeface="Times New Roman" panose="02020603050405020304" pitchFamily="18" charset="0"/>
              </a:rPr>
              <a:t>CREATE DATABASE </a:t>
            </a:r>
            <a:r>
              <a:rPr lang="en-IN" sz="1600" b="0" dirty="0" err="1">
                <a:latin typeface="Times New Roman" panose="02020603050405020304" pitchFamily="18" charset="0"/>
                <a:cs typeface="Times New Roman" panose="02020603050405020304" pitchFamily="18" charset="0"/>
              </a:rPr>
              <a:t>smart_university</a:t>
            </a:r>
            <a:r>
              <a:rPr lang="en-IN" sz="1600" b="0" dirty="0">
                <a:latin typeface="Times New Roman" panose="02020603050405020304" pitchFamily="18" charset="0"/>
                <a:cs typeface="Times New Roman" panose="02020603050405020304" pitchFamily="18" charset="0"/>
              </a:rPr>
              <a:t>;</a:t>
            </a:r>
          </a:p>
          <a:p>
            <a:pPr marL="342900" indent="-342900" algn="just">
              <a:lnSpc>
                <a:spcPct val="150000"/>
              </a:lnSpc>
              <a:spcBef>
                <a:spcPts val="600"/>
              </a:spcBef>
              <a:buFont typeface="Arial" panose="020B0604020202020204" pitchFamily="34" charset="0"/>
              <a:buChar char="•"/>
            </a:pPr>
            <a:r>
              <a:rPr lang="en-IN" sz="1600" b="0" dirty="0">
                <a:latin typeface="Times New Roman" panose="02020603050405020304" pitchFamily="18" charset="0"/>
                <a:cs typeface="Times New Roman" panose="02020603050405020304" pitchFamily="18" charset="0"/>
              </a:rPr>
              <a:t>USE </a:t>
            </a:r>
            <a:r>
              <a:rPr lang="en-IN" sz="1600" b="0" dirty="0" err="1">
                <a:latin typeface="Times New Roman" panose="02020603050405020304" pitchFamily="18" charset="0"/>
                <a:cs typeface="Times New Roman" panose="02020603050405020304" pitchFamily="18" charset="0"/>
              </a:rPr>
              <a:t>smart_university</a:t>
            </a:r>
            <a:r>
              <a:rPr lang="en-IN" sz="1600" b="0" dirty="0">
                <a:latin typeface="Times New Roman" panose="02020603050405020304" pitchFamily="18" charset="0"/>
                <a:cs typeface="Times New Roman" panose="02020603050405020304" pitchFamily="18" charset="0"/>
              </a:rPr>
              <a:t>;</a:t>
            </a:r>
          </a:p>
          <a:p>
            <a:pPr algn="just">
              <a:lnSpc>
                <a:spcPct val="100000"/>
              </a:lnSpc>
              <a:spcBef>
                <a:spcPts val="600"/>
              </a:spcBef>
            </a:pPr>
            <a:r>
              <a:rPr lang="en-IN" sz="1600" dirty="0">
                <a:latin typeface="Times New Roman" panose="02020603050405020304" pitchFamily="18" charset="0"/>
                <a:cs typeface="Times New Roman" panose="02020603050405020304" pitchFamily="18" charset="0"/>
              </a:rPr>
              <a:t>2. CREATE TABLE</a:t>
            </a: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CREATE TABLE department (</a:t>
            </a: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    </a:t>
            </a:r>
            <a:r>
              <a:rPr lang="en-US" sz="1600" b="0" dirty="0" err="1">
                <a:latin typeface="Times New Roman" panose="02020603050405020304" pitchFamily="18" charset="0"/>
                <a:cs typeface="Times New Roman" panose="02020603050405020304" pitchFamily="18" charset="0"/>
              </a:rPr>
              <a:t>department_id</a:t>
            </a:r>
            <a:r>
              <a:rPr lang="en-US" sz="1600" b="0" dirty="0">
                <a:latin typeface="Times New Roman" panose="02020603050405020304" pitchFamily="18" charset="0"/>
                <a:cs typeface="Times New Roman" panose="02020603050405020304" pitchFamily="18" charset="0"/>
              </a:rPr>
              <a:t> INT PRIMARY KEY AUTO_INCREMENT,</a:t>
            </a: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    </a:t>
            </a:r>
            <a:r>
              <a:rPr lang="en-US" sz="1600" b="0" dirty="0" err="1">
                <a:latin typeface="Times New Roman" panose="02020603050405020304" pitchFamily="18" charset="0"/>
                <a:cs typeface="Times New Roman" panose="02020603050405020304" pitchFamily="18" charset="0"/>
              </a:rPr>
              <a:t>department_name</a:t>
            </a:r>
            <a:r>
              <a:rPr lang="en-US" sz="1600" b="0" dirty="0">
                <a:latin typeface="Times New Roman" panose="02020603050405020304" pitchFamily="18" charset="0"/>
                <a:cs typeface="Times New Roman" panose="02020603050405020304" pitchFamily="18" charset="0"/>
              </a:rPr>
              <a:t> VARCHAR(100) NOT NULL UNIQUE,</a:t>
            </a: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    </a:t>
            </a:r>
            <a:r>
              <a:rPr lang="en-US" sz="1600" b="0" dirty="0" err="1">
                <a:latin typeface="Times New Roman" panose="02020603050405020304" pitchFamily="18" charset="0"/>
                <a:cs typeface="Times New Roman" panose="02020603050405020304" pitchFamily="18" charset="0"/>
              </a:rPr>
              <a:t>hod_name</a:t>
            </a:r>
            <a:r>
              <a:rPr lang="en-US" sz="1600" b="0" dirty="0">
                <a:latin typeface="Times New Roman" panose="02020603050405020304" pitchFamily="18" charset="0"/>
                <a:cs typeface="Times New Roman" panose="02020603050405020304" pitchFamily="18" charset="0"/>
              </a:rPr>
              <a:t> VARCHAR(100),</a:t>
            </a: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    </a:t>
            </a:r>
            <a:r>
              <a:rPr lang="en-US" sz="1600" b="0" dirty="0" err="1">
                <a:latin typeface="Times New Roman" panose="02020603050405020304" pitchFamily="18" charset="0"/>
                <a:cs typeface="Times New Roman" panose="02020603050405020304" pitchFamily="18" charset="0"/>
              </a:rPr>
              <a:t>office_email</a:t>
            </a:r>
            <a:r>
              <a:rPr lang="en-US" sz="1600" b="0" dirty="0">
                <a:latin typeface="Times New Roman" panose="02020603050405020304" pitchFamily="18" charset="0"/>
                <a:cs typeface="Times New Roman" panose="02020603050405020304" pitchFamily="18" charset="0"/>
              </a:rPr>
              <a:t> VARCHAR(100) UNIQUE);</a:t>
            </a:r>
          </a:p>
          <a:p>
            <a:endParaRPr lang="en-IN" dirty="0"/>
          </a:p>
        </p:txBody>
      </p:sp>
      <p:sp>
        <p:nvSpPr>
          <p:cNvPr id="10" name="Content Placeholder 9">
            <a:extLst>
              <a:ext uri="{FF2B5EF4-FFF2-40B4-BE49-F238E27FC236}">
                <a16:creationId xmlns:a16="http://schemas.microsoft.com/office/drawing/2014/main" id="{1CF03745-B2BA-53FE-FC82-1A06B314354E}"/>
              </a:ext>
            </a:extLst>
          </p:cNvPr>
          <p:cNvSpPr>
            <a:spLocks noGrp="1"/>
          </p:cNvSpPr>
          <p:nvPr>
            <p:ph sz="half" idx="3"/>
          </p:nvPr>
        </p:nvSpPr>
        <p:spPr>
          <a:xfrm>
            <a:off x="5180076" y="1787652"/>
            <a:ext cx="4375404" cy="4770537"/>
          </a:xfrm>
        </p:spPr>
        <p:txBody>
          <a:bodyPr/>
          <a:lstStyle/>
          <a:p>
            <a:pPr algn="just">
              <a:lnSpc>
                <a:spcPct val="100000"/>
              </a:lnSpc>
              <a:spcBef>
                <a:spcPts val="600"/>
              </a:spcBef>
            </a:pPr>
            <a:r>
              <a:rPr lang="en-IN" sz="1600" b="0" dirty="0">
                <a:latin typeface="Times New Roman" panose="02020603050405020304" pitchFamily="18" charset="0"/>
                <a:cs typeface="Times New Roman" panose="02020603050405020304" pitchFamily="18" charset="0"/>
              </a:rPr>
              <a:t>Student table:</a:t>
            </a: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CREATE TABLE student (</a:t>
            </a: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    </a:t>
            </a:r>
            <a:r>
              <a:rPr lang="en-US" sz="1600" b="0" dirty="0" err="1">
                <a:latin typeface="Times New Roman" panose="02020603050405020304" pitchFamily="18" charset="0"/>
                <a:cs typeface="Times New Roman" panose="02020603050405020304" pitchFamily="18" charset="0"/>
              </a:rPr>
              <a:t>student_id</a:t>
            </a:r>
            <a:r>
              <a:rPr lang="en-US" sz="1600" b="0" dirty="0">
                <a:latin typeface="Times New Roman" panose="02020603050405020304" pitchFamily="18" charset="0"/>
                <a:cs typeface="Times New Roman" panose="02020603050405020304" pitchFamily="18" charset="0"/>
              </a:rPr>
              <a:t> INT PRIMARY KEY,</a:t>
            </a: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    </a:t>
            </a:r>
            <a:r>
              <a:rPr lang="en-US" sz="1600" b="0" dirty="0" err="1">
                <a:latin typeface="Times New Roman" panose="02020603050405020304" pitchFamily="18" charset="0"/>
                <a:cs typeface="Times New Roman" panose="02020603050405020304" pitchFamily="18" charset="0"/>
              </a:rPr>
              <a:t>student_name</a:t>
            </a:r>
            <a:r>
              <a:rPr lang="en-US" sz="1600" b="0" dirty="0">
                <a:latin typeface="Times New Roman" panose="02020603050405020304" pitchFamily="18" charset="0"/>
                <a:cs typeface="Times New Roman" panose="02020603050405020304" pitchFamily="18" charset="0"/>
              </a:rPr>
              <a:t> VARCHAR(100) NOT NULL,</a:t>
            </a: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    gender VARCHAR(10),</a:t>
            </a: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    </a:t>
            </a:r>
            <a:r>
              <a:rPr lang="en-US" sz="1600" b="0" dirty="0" err="1">
                <a:latin typeface="Times New Roman" panose="02020603050405020304" pitchFamily="18" charset="0"/>
                <a:cs typeface="Times New Roman" panose="02020603050405020304" pitchFamily="18" charset="0"/>
              </a:rPr>
              <a:t>date_of_birth</a:t>
            </a:r>
            <a:r>
              <a:rPr lang="en-US" sz="1600" b="0" dirty="0">
                <a:latin typeface="Times New Roman" panose="02020603050405020304" pitchFamily="18" charset="0"/>
                <a:cs typeface="Times New Roman" panose="02020603050405020304" pitchFamily="18" charset="0"/>
              </a:rPr>
              <a:t> DATE,</a:t>
            </a: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    phone VARCHAR(15) UNIQUE,</a:t>
            </a: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    email VARCHAR(100) UNIQUE,</a:t>
            </a: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    </a:t>
            </a:r>
            <a:r>
              <a:rPr lang="en-US" sz="1600" b="0" dirty="0" err="1">
                <a:latin typeface="Times New Roman" panose="02020603050405020304" pitchFamily="18" charset="0"/>
                <a:cs typeface="Times New Roman" panose="02020603050405020304" pitchFamily="18" charset="0"/>
              </a:rPr>
              <a:t>department_id</a:t>
            </a:r>
            <a:r>
              <a:rPr lang="en-US" sz="1600" b="0" dirty="0">
                <a:latin typeface="Times New Roman" panose="02020603050405020304" pitchFamily="18" charset="0"/>
                <a:cs typeface="Times New Roman" panose="02020603050405020304" pitchFamily="18" charset="0"/>
              </a:rPr>
              <a:t> INT NOT NULL,</a:t>
            </a: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    </a:t>
            </a:r>
            <a:r>
              <a:rPr lang="en-US" sz="1600" b="0" dirty="0" err="1">
                <a:latin typeface="Times New Roman" panose="02020603050405020304" pitchFamily="18" charset="0"/>
                <a:cs typeface="Times New Roman" panose="02020603050405020304" pitchFamily="18" charset="0"/>
              </a:rPr>
              <a:t>admission_year</a:t>
            </a:r>
            <a:r>
              <a:rPr lang="en-US" sz="1600" b="0" dirty="0">
                <a:latin typeface="Times New Roman" panose="02020603050405020304" pitchFamily="18" charset="0"/>
                <a:cs typeface="Times New Roman" panose="02020603050405020304" pitchFamily="18" charset="0"/>
              </a:rPr>
              <a:t> YEAR NOT NULL,</a:t>
            </a: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    </a:t>
            </a:r>
            <a:r>
              <a:rPr lang="en-US" sz="1600" b="0" dirty="0" err="1">
                <a:latin typeface="Times New Roman" panose="02020603050405020304" pitchFamily="18" charset="0"/>
                <a:cs typeface="Times New Roman" panose="02020603050405020304" pitchFamily="18" charset="0"/>
              </a:rPr>
              <a:t>current_semester</a:t>
            </a:r>
            <a:r>
              <a:rPr lang="en-US" sz="1600" b="0" dirty="0">
                <a:latin typeface="Times New Roman" panose="02020603050405020304" pitchFamily="18" charset="0"/>
                <a:cs typeface="Times New Roman" panose="02020603050405020304" pitchFamily="18" charset="0"/>
              </a:rPr>
              <a:t> INT NOT NULL,</a:t>
            </a:r>
          </a:p>
          <a:p>
            <a:pPr algn="just">
              <a:lnSpc>
                <a:spcPct val="100000"/>
              </a:lnSpc>
              <a:spcBef>
                <a:spcPts val="600"/>
              </a:spcBef>
            </a:pPr>
            <a:endParaRPr lang="en-US" sz="1600" b="0" dirty="0">
              <a:latin typeface="Times New Roman" panose="02020603050405020304" pitchFamily="18" charset="0"/>
              <a:cs typeface="Times New Roman" panose="02020603050405020304" pitchFamily="18" charset="0"/>
            </a:endParaRP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    FOREIGN KEY (</a:t>
            </a:r>
            <a:r>
              <a:rPr lang="en-US" sz="1600" b="0" dirty="0" err="1">
                <a:latin typeface="Times New Roman" panose="02020603050405020304" pitchFamily="18" charset="0"/>
                <a:cs typeface="Times New Roman" panose="02020603050405020304" pitchFamily="18" charset="0"/>
              </a:rPr>
              <a:t>department_id</a:t>
            </a:r>
            <a:r>
              <a:rPr lang="en-US" sz="1600" b="0" dirty="0">
                <a:latin typeface="Times New Roman" panose="02020603050405020304" pitchFamily="18" charset="0"/>
                <a:cs typeface="Times New Roman" panose="02020603050405020304" pitchFamily="18" charset="0"/>
              </a:rPr>
              <a:t>)</a:t>
            </a: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    REFERENCES department(</a:t>
            </a:r>
            <a:r>
              <a:rPr lang="en-US" sz="1600" b="0" dirty="0" err="1">
                <a:latin typeface="Times New Roman" panose="02020603050405020304" pitchFamily="18" charset="0"/>
                <a:cs typeface="Times New Roman" panose="02020603050405020304" pitchFamily="18" charset="0"/>
              </a:rPr>
              <a:t>department_id</a:t>
            </a:r>
            <a:r>
              <a:rPr lang="en-US" sz="1600" b="0" dirty="0">
                <a:latin typeface="Times New Roman" panose="02020603050405020304" pitchFamily="18" charset="0"/>
                <a:cs typeface="Times New Roman" panose="02020603050405020304" pitchFamily="18" charset="0"/>
              </a:rPr>
              <a:t>)</a:t>
            </a:r>
          </a:p>
          <a:p>
            <a:pPr algn="just">
              <a:lnSpc>
                <a:spcPct val="100000"/>
              </a:lnSpc>
              <a:spcBef>
                <a:spcPts val="600"/>
              </a:spcBef>
            </a:pPr>
            <a:r>
              <a:rPr lang="en-US" sz="1600" b="0" dirty="0">
                <a:latin typeface="Times New Roman" panose="02020603050405020304" pitchFamily="18" charset="0"/>
                <a:cs typeface="Times New Roman" panose="02020603050405020304" pitchFamily="18" charset="0"/>
              </a:rPr>
              <a:t>);</a:t>
            </a:r>
            <a:endParaRPr lang="en-IN" sz="1600" b="0" dirty="0"/>
          </a:p>
        </p:txBody>
      </p:sp>
    </p:spTree>
    <p:extLst>
      <p:ext uri="{BB962C8B-B14F-4D97-AF65-F5344CB8AC3E}">
        <p14:creationId xmlns:p14="http://schemas.microsoft.com/office/powerpoint/2010/main" val="822926580"/>
      </p:ext>
    </p:extLst>
  </p:cSld>
  <p:clrMapOvr>
    <a:masterClrMapping/>
  </p:clrMapOvr>
  <mc:AlternateContent xmlns:mc="http://schemas.openxmlformats.org/markup-compatibility/2006" xmlns:p14="http://schemas.microsoft.com/office/powerpoint/2010/main">
    <mc:Choice Requires="p14">
      <p:transition spd="slow" p14:dur="2000" advTm="2624"/>
    </mc:Choice>
    <mc:Fallback xmlns="">
      <p:transition spd="slow" advTm="262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1D78D-AC22-7489-EA2D-923B609460C5}"/>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8B567446-BA1A-7BF8-3C1E-5D65C26FB3E0}"/>
              </a:ext>
            </a:extLst>
          </p:cNvPr>
          <p:cNvGrpSpPr/>
          <p:nvPr/>
        </p:nvGrpSpPr>
        <p:grpSpPr>
          <a:xfrm>
            <a:off x="2477248" y="141784"/>
            <a:ext cx="5103904" cy="1198311"/>
            <a:chOff x="2648188" y="47148"/>
            <a:chExt cx="5103904" cy="1198311"/>
          </a:xfrm>
        </p:grpSpPr>
        <p:pic>
          <p:nvPicPr>
            <p:cNvPr id="5" name="object 4">
              <a:extLst>
                <a:ext uri="{FF2B5EF4-FFF2-40B4-BE49-F238E27FC236}">
                  <a16:creationId xmlns:a16="http://schemas.microsoft.com/office/drawing/2014/main" id="{16C86A95-6B4E-2267-9E33-99FAC41D027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2CF2D6A5-B3B2-4583-8DE8-26834F38DA87}"/>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6F3FCF3F-44F4-1A1E-D7E3-97DF4B3D31C4}"/>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77BA619A-8069-7013-9315-03F34ABE8C0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56EC4CE3-075B-09BF-C011-2C807E35A3B2}"/>
              </a:ext>
            </a:extLst>
          </p:cNvPr>
          <p:cNvSpPr txBox="1"/>
          <p:nvPr/>
        </p:nvSpPr>
        <p:spPr>
          <a:xfrm>
            <a:off x="3805064" y="352412"/>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DDL COMMANDS</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C1F1A0AE-B967-3035-0E56-B4288AFF9EBB}"/>
              </a:ext>
            </a:extLst>
          </p:cNvPr>
          <p:cNvPicPr/>
          <p:nvPr/>
        </p:nvPicPr>
        <p:blipFill>
          <a:blip r:embed="rId5" cstate="print"/>
          <a:stretch>
            <a:fillRect/>
          </a:stretch>
        </p:blipFill>
        <p:spPr>
          <a:xfrm>
            <a:off x="290750" y="204311"/>
            <a:ext cx="1163002" cy="424338"/>
          </a:xfrm>
          <a:prstGeom prst="rect">
            <a:avLst/>
          </a:prstGeom>
        </p:spPr>
      </p:pic>
      <p:sp>
        <p:nvSpPr>
          <p:cNvPr id="9" name="Content Placeholder 8">
            <a:extLst>
              <a:ext uri="{FF2B5EF4-FFF2-40B4-BE49-F238E27FC236}">
                <a16:creationId xmlns:a16="http://schemas.microsoft.com/office/drawing/2014/main" id="{6CCE74E1-F835-4ABA-6EC5-599968D29024}"/>
              </a:ext>
            </a:extLst>
          </p:cNvPr>
          <p:cNvSpPr>
            <a:spLocks noGrp="1"/>
          </p:cNvSpPr>
          <p:nvPr>
            <p:ph sz="half" idx="2"/>
          </p:nvPr>
        </p:nvSpPr>
        <p:spPr>
          <a:xfrm>
            <a:off x="502920" y="1787652"/>
            <a:ext cx="4375404" cy="4678204"/>
          </a:xfrm>
        </p:spPr>
        <p:txBody>
          <a:bodyPr/>
          <a:lstStyle/>
          <a:p>
            <a:r>
              <a:rPr lang="en-IN" sz="1600" b="0" dirty="0">
                <a:latin typeface="Times New Roman" panose="02020603050405020304" pitchFamily="18" charset="0"/>
                <a:cs typeface="Times New Roman" panose="02020603050405020304" pitchFamily="18" charset="0"/>
              </a:rPr>
              <a:t>3</a:t>
            </a:r>
            <a:r>
              <a:rPr lang="en-IN" sz="1600" dirty="0">
                <a:latin typeface="Times New Roman" panose="02020603050405020304" pitchFamily="18" charset="0"/>
                <a:cs typeface="Times New Roman" panose="02020603050405020304" pitchFamily="18" charset="0"/>
              </a:rPr>
              <a:t>. ALTER TABLE</a:t>
            </a:r>
          </a:p>
          <a:p>
            <a:r>
              <a:rPr lang="en-IN" sz="1600" b="0" dirty="0">
                <a:latin typeface="Times New Roman" panose="02020603050405020304" pitchFamily="18" charset="0"/>
                <a:cs typeface="Times New Roman" panose="02020603050405020304" pitchFamily="18" charset="0"/>
              </a:rPr>
              <a:t>Used to modify an existing table</a:t>
            </a:r>
          </a:p>
          <a:p>
            <a:r>
              <a:rPr lang="en-IN" sz="1600" b="0" dirty="0">
                <a:latin typeface="Times New Roman" panose="02020603050405020304" pitchFamily="18" charset="0"/>
                <a:cs typeface="Times New Roman" panose="02020603050405020304" pitchFamily="18" charset="0"/>
              </a:rPr>
              <a:t>Add a column:</a:t>
            </a:r>
          </a:p>
          <a:p>
            <a:pPr rtl="0"/>
            <a:r>
              <a:rPr lang="en-IN" sz="1600" b="0" dirty="0">
                <a:latin typeface="Times New Roman" panose="02020603050405020304" pitchFamily="18" charset="0"/>
                <a:cs typeface="Times New Roman" panose="02020603050405020304" pitchFamily="18" charset="0"/>
              </a:rPr>
              <a:t>ALTER TABLE student</a:t>
            </a:r>
          </a:p>
          <a:p>
            <a:pPr rtl="0"/>
            <a:r>
              <a:rPr lang="en-IN" sz="1600" b="0" dirty="0">
                <a:latin typeface="Times New Roman" panose="02020603050405020304" pitchFamily="18" charset="0"/>
                <a:cs typeface="Times New Roman" panose="02020603050405020304" pitchFamily="18" charset="0"/>
              </a:rPr>
              <a:t>ADD address VARCHAR(200);</a:t>
            </a:r>
          </a:p>
          <a:p>
            <a:endParaRPr lang="en-IN" sz="1600" b="0" dirty="0">
              <a:latin typeface="Times New Roman" panose="02020603050405020304" pitchFamily="18" charset="0"/>
              <a:cs typeface="Times New Roman" panose="02020603050405020304" pitchFamily="18" charset="0"/>
            </a:endParaRPr>
          </a:p>
          <a:p>
            <a:r>
              <a:rPr lang="en-IN" sz="1600" b="0" dirty="0">
                <a:latin typeface="Times New Roman" panose="02020603050405020304" pitchFamily="18" charset="0"/>
                <a:cs typeface="Times New Roman" panose="02020603050405020304" pitchFamily="18" charset="0"/>
              </a:rPr>
              <a:t>Modify a column:</a:t>
            </a:r>
          </a:p>
          <a:p>
            <a:pPr rtl="0"/>
            <a:r>
              <a:rPr lang="en-IN" sz="1600" b="0" dirty="0">
                <a:latin typeface="Times New Roman" panose="02020603050405020304" pitchFamily="18" charset="0"/>
                <a:cs typeface="Times New Roman" panose="02020603050405020304" pitchFamily="18" charset="0"/>
              </a:rPr>
              <a:t>ALTER TABLE student</a:t>
            </a:r>
          </a:p>
          <a:p>
            <a:pPr rtl="0"/>
            <a:r>
              <a:rPr lang="en-IN" sz="1600" b="0" dirty="0">
                <a:latin typeface="Times New Roman" panose="02020603050405020304" pitchFamily="18" charset="0"/>
                <a:cs typeface="Times New Roman" panose="02020603050405020304" pitchFamily="18" charset="0"/>
              </a:rPr>
              <a:t>MODIFY </a:t>
            </a:r>
            <a:r>
              <a:rPr lang="en-IN" sz="1600" b="0" dirty="0" err="1">
                <a:latin typeface="Times New Roman" panose="02020603050405020304" pitchFamily="18" charset="0"/>
                <a:cs typeface="Times New Roman" panose="02020603050405020304" pitchFamily="18" charset="0"/>
              </a:rPr>
              <a:t>student_name</a:t>
            </a:r>
            <a:r>
              <a:rPr lang="en-IN" sz="1600" b="0" dirty="0">
                <a:latin typeface="Times New Roman" panose="02020603050405020304" pitchFamily="18" charset="0"/>
                <a:cs typeface="Times New Roman" panose="02020603050405020304" pitchFamily="18" charset="0"/>
              </a:rPr>
              <a:t> VARCHAR(150);</a:t>
            </a:r>
          </a:p>
          <a:p>
            <a:endParaRPr lang="en-IN" sz="1600" b="0" dirty="0">
              <a:latin typeface="Times New Roman" panose="02020603050405020304" pitchFamily="18" charset="0"/>
              <a:cs typeface="Times New Roman" panose="02020603050405020304" pitchFamily="18" charset="0"/>
            </a:endParaRPr>
          </a:p>
          <a:p>
            <a:r>
              <a:rPr lang="en-IN" sz="1600" b="0" dirty="0">
                <a:latin typeface="Times New Roman" panose="02020603050405020304" pitchFamily="18" charset="0"/>
                <a:cs typeface="Times New Roman" panose="02020603050405020304" pitchFamily="18" charset="0"/>
              </a:rPr>
              <a:t>Drop a column:</a:t>
            </a:r>
          </a:p>
          <a:p>
            <a:pPr rtl="0"/>
            <a:r>
              <a:rPr lang="en-IN" sz="1600" b="0" dirty="0">
                <a:latin typeface="Times New Roman" panose="02020603050405020304" pitchFamily="18" charset="0"/>
                <a:cs typeface="Times New Roman" panose="02020603050405020304" pitchFamily="18" charset="0"/>
              </a:rPr>
              <a:t>ALTER TABLE student</a:t>
            </a:r>
          </a:p>
          <a:p>
            <a:pPr rtl="0"/>
            <a:r>
              <a:rPr lang="en-IN" sz="1600" b="0" dirty="0">
                <a:latin typeface="Times New Roman" panose="02020603050405020304" pitchFamily="18" charset="0"/>
                <a:cs typeface="Times New Roman" panose="02020603050405020304" pitchFamily="18" charset="0"/>
              </a:rPr>
              <a:t>DROP COLUMN address;</a:t>
            </a:r>
          </a:p>
          <a:p>
            <a:endParaRPr lang="en-IN" sz="1600" b="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4. DROP TABLE</a:t>
            </a:r>
          </a:p>
          <a:p>
            <a:r>
              <a:rPr lang="en-IN" sz="1600" b="0" dirty="0">
                <a:latin typeface="Times New Roman" panose="02020603050405020304" pitchFamily="18" charset="0"/>
                <a:cs typeface="Times New Roman" panose="02020603050405020304" pitchFamily="18" charset="0"/>
              </a:rPr>
              <a:t>Used to permanently remove a table.</a:t>
            </a:r>
          </a:p>
          <a:p>
            <a:pPr rtl="0"/>
            <a:r>
              <a:rPr lang="en-IN" sz="1600" b="0" dirty="0">
                <a:latin typeface="Times New Roman" panose="02020603050405020304" pitchFamily="18" charset="0"/>
                <a:cs typeface="Times New Roman" panose="02020603050405020304" pitchFamily="18" charset="0"/>
              </a:rPr>
              <a:t>DROP TABLE student;</a:t>
            </a:r>
          </a:p>
          <a:p>
            <a:pPr rtl="0"/>
            <a:r>
              <a:rPr lang="en-IN" sz="1600" b="0" dirty="0">
                <a:latin typeface="Times New Roman" panose="02020603050405020304" pitchFamily="18" charset="0"/>
                <a:cs typeface="Times New Roman" panose="02020603050405020304" pitchFamily="18" charset="0"/>
              </a:rPr>
              <a:t> This removes the table and its data.</a:t>
            </a:r>
          </a:p>
          <a:p>
            <a:endParaRPr lang="en-IN" sz="1600" b="0" dirty="0"/>
          </a:p>
        </p:txBody>
      </p:sp>
      <p:sp>
        <p:nvSpPr>
          <p:cNvPr id="10" name="Content Placeholder 9">
            <a:extLst>
              <a:ext uri="{FF2B5EF4-FFF2-40B4-BE49-F238E27FC236}">
                <a16:creationId xmlns:a16="http://schemas.microsoft.com/office/drawing/2014/main" id="{5ECFFB78-7364-7B99-058E-D4639E9A5590}"/>
              </a:ext>
            </a:extLst>
          </p:cNvPr>
          <p:cNvSpPr>
            <a:spLocks noGrp="1"/>
          </p:cNvSpPr>
          <p:nvPr>
            <p:ph sz="half" idx="3"/>
          </p:nvPr>
        </p:nvSpPr>
        <p:spPr>
          <a:xfrm>
            <a:off x="5180076" y="1787652"/>
            <a:ext cx="4375404" cy="4924425"/>
          </a:xfrm>
        </p:spPr>
        <p:txBody>
          <a:bodyPr/>
          <a:lstStyle/>
          <a:p>
            <a:endParaRPr lang="en-IN" sz="1600" b="0" dirty="0">
              <a:latin typeface="Times New Roman" panose="02020603050405020304" pitchFamily="18" charset="0"/>
              <a:cs typeface="Times New Roman" panose="02020603050405020304" pitchFamily="18" charset="0"/>
            </a:endParaRPr>
          </a:p>
          <a:p>
            <a:endParaRPr lang="en-IN" sz="1600" b="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5. TRUNCATE TABLE</a:t>
            </a:r>
          </a:p>
          <a:p>
            <a:r>
              <a:rPr lang="en-IN" sz="1600" b="0" dirty="0">
                <a:latin typeface="Times New Roman" panose="02020603050405020304" pitchFamily="18" charset="0"/>
                <a:cs typeface="Times New Roman" panose="02020603050405020304" pitchFamily="18" charset="0"/>
              </a:rPr>
              <a:t>Used to remove all records while keeping the table structure.</a:t>
            </a:r>
          </a:p>
          <a:p>
            <a:pPr rtl="0"/>
            <a:r>
              <a:rPr lang="en-IN" sz="1600" b="0" dirty="0">
                <a:latin typeface="Times New Roman" panose="02020603050405020304" pitchFamily="18" charset="0"/>
                <a:cs typeface="Times New Roman" panose="02020603050405020304" pitchFamily="18" charset="0"/>
              </a:rPr>
              <a:t>TRUNCATE TABLE student;</a:t>
            </a:r>
          </a:p>
          <a:p>
            <a:pPr rtl="0"/>
            <a:endParaRPr lang="en-IN" sz="1600" b="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6. CREATE INDEX</a:t>
            </a:r>
          </a:p>
          <a:p>
            <a:r>
              <a:rPr lang="en-IN" sz="1600" b="0" dirty="0">
                <a:latin typeface="Times New Roman" panose="02020603050405020304" pitchFamily="18" charset="0"/>
                <a:cs typeface="Times New Roman" panose="02020603050405020304" pitchFamily="18" charset="0"/>
              </a:rPr>
              <a:t>Your project also uses indexes, which are database-structure objects:</a:t>
            </a:r>
          </a:p>
          <a:p>
            <a:pPr rtl="0"/>
            <a:r>
              <a:rPr lang="en-IN" sz="1600" b="0" dirty="0">
                <a:latin typeface="Times New Roman" panose="02020603050405020304" pitchFamily="18" charset="0"/>
                <a:cs typeface="Times New Roman" panose="02020603050405020304" pitchFamily="18" charset="0"/>
              </a:rPr>
              <a:t>CREATE INDEX </a:t>
            </a:r>
            <a:r>
              <a:rPr lang="en-IN" sz="1600" b="0" dirty="0" err="1">
                <a:latin typeface="Times New Roman" panose="02020603050405020304" pitchFamily="18" charset="0"/>
                <a:cs typeface="Times New Roman" panose="02020603050405020304" pitchFamily="18" charset="0"/>
              </a:rPr>
              <a:t>idx_student_department</a:t>
            </a:r>
            <a:endParaRPr lang="en-IN" sz="1600" b="0" dirty="0">
              <a:latin typeface="Times New Roman" panose="02020603050405020304" pitchFamily="18" charset="0"/>
              <a:cs typeface="Times New Roman" panose="02020603050405020304" pitchFamily="18" charset="0"/>
            </a:endParaRPr>
          </a:p>
          <a:p>
            <a:pPr rtl="0"/>
            <a:r>
              <a:rPr lang="en-IN" sz="1600" b="0" dirty="0">
                <a:latin typeface="Times New Roman" panose="02020603050405020304" pitchFamily="18" charset="0"/>
                <a:cs typeface="Times New Roman" panose="02020603050405020304" pitchFamily="18" charset="0"/>
              </a:rPr>
              <a:t>ON student(</a:t>
            </a:r>
            <a:r>
              <a:rPr lang="en-IN" sz="1600" b="0" dirty="0" err="1">
                <a:latin typeface="Times New Roman" panose="02020603050405020304" pitchFamily="18" charset="0"/>
                <a:cs typeface="Times New Roman" panose="02020603050405020304" pitchFamily="18" charset="0"/>
              </a:rPr>
              <a:t>department_id</a:t>
            </a:r>
            <a:r>
              <a:rPr lang="en-IN" sz="1600" b="0" dirty="0">
                <a:latin typeface="Times New Roman" panose="02020603050405020304" pitchFamily="18" charset="0"/>
                <a:cs typeface="Times New Roman" panose="02020603050405020304" pitchFamily="18" charset="0"/>
              </a:rPr>
              <a:t>);</a:t>
            </a:r>
          </a:p>
          <a:p>
            <a:pPr rtl="0"/>
            <a:endParaRPr lang="en-IN" sz="1600" b="0" dirty="0">
              <a:latin typeface="Times New Roman" panose="02020603050405020304" pitchFamily="18" charset="0"/>
              <a:cs typeface="Times New Roman" panose="02020603050405020304" pitchFamily="18" charset="0"/>
            </a:endParaRPr>
          </a:p>
          <a:p>
            <a:endParaRPr lang="en-IN" sz="1600" b="0" dirty="0">
              <a:latin typeface="Times New Roman" panose="02020603050405020304" pitchFamily="18" charset="0"/>
              <a:cs typeface="Times New Roman" panose="02020603050405020304" pitchFamily="18" charset="0"/>
            </a:endParaRPr>
          </a:p>
          <a:p>
            <a:pPr rtl="0"/>
            <a:endParaRPr lang="en-IN" sz="1600" b="0" dirty="0">
              <a:latin typeface="Times New Roman" panose="02020603050405020304" pitchFamily="18" charset="0"/>
              <a:cs typeface="Times New Roman" panose="02020603050405020304" pitchFamily="18" charset="0"/>
            </a:endParaRPr>
          </a:p>
          <a:p>
            <a:pPr rtl="0"/>
            <a:endParaRPr lang="en-IN" sz="1600" b="0" dirty="0">
              <a:latin typeface="Times New Roman" panose="02020603050405020304" pitchFamily="18" charset="0"/>
              <a:cs typeface="Times New Roman" panose="02020603050405020304" pitchFamily="18" charset="0"/>
            </a:endParaRPr>
          </a:p>
          <a:p>
            <a:pPr rtl="0"/>
            <a:endParaRPr lang="en-IN" sz="1600" b="0" dirty="0">
              <a:latin typeface="Times New Roman" panose="02020603050405020304" pitchFamily="18" charset="0"/>
              <a:cs typeface="Times New Roman" panose="02020603050405020304" pitchFamily="18" charset="0"/>
            </a:endParaRPr>
          </a:p>
          <a:p>
            <a:endParaRPr lang="en-IN" sz="1600" b="0" dirty="0">
              <a:latin typeface="Times New Roman" panose="02020603050405020304" pitchFamily="18" charset="0"/>
              <a:cs typeface="Times New Roman" panose="02020603050405020304" pitchFamily="18" charset="0"/>
            </a:endParaRPr>
          </a:p>
          <a:p>
            <a:endParaRPr lang="en-IN" sz="1600" b="0" dirty="0">
              <a:latin typeface="Times New Roman" panose="02020603050405020304" pitchFamily="18" charset="0"/>
              <a:cs typeface="Times New Roman" panose="02020603050405020304" pitchFamily="18" charset="0"/>
            </a:endParaRPr>
          </a:p>
          <a:p>
            <a:endParaRPr lang="en-IN" sz="1600" b="0" dirty="0"/>
          </a:p>
        </p:txBody>
      </p:sp>
    </p:spTree>
    <p:extLst>
      <p:ext uri="{BB962C8B-B14F-4D97-AF65-F5344CB8AC3E}">
        <p14:creationId xmlns:p14="http://schemas.microsoft.com/office/powerpoint/2010/main" val="3527037601"/>
      </p:ext>
    </p:extLst>
  </p:cSld>
  <p:clrMapOvr>
    <a:masterClrMapping/>
  </p:clrMapOvr>
  <mc:AlternateContent xmlns:mc="http://schemas.openxmlformats.org/markup-compatibility/2006" xmlns:p14="http://schemas.microsoft.com/office/powerpoint/2010/main">
    <mc:Choice Requires="p14">
      <p:transition spd="slow" p14:dur="2000" advTm="2624"/>
    </mc:Choice>
    <mc:Fallback xmlns="">
      <p:transition spd="slow" advTm="262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7B66F-92A9-F7C5-F5C6-ABB344E79FBB}"/>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979246B9-8BA9-671F-4347-155A514A036D}"/>
              </a:ext>
            </a:extLst>
          </p:cNvPr>
          <p:cNvGrpSpPr/>
          <p:nvPr/>
        </p:nvGrpSpPr>
        <p:grpSpPr>
          <a:xfrm>
            <a:off x="2477248" y="141784"/>
            <a:ext cx="5103904" cy="1198311"/>
            <a:chOff x="2648188" y="47148"/>
            <a:chExt cx="5103904" cy="1198311"/>
          </a:xfrm>
        </p:grpSpPr>
        <p:pic>
          <p:nvPicPr>
            <p:cNvPr id="5" name="object 4">
              <a:extLst>
                <a:ext uri="{FF2B5EF4-FFF2-40B4-BE49-F238E27FC236}">
                  <a16:creationId xmlns:a16="http://schemas.microsoft.com/office/drawing/2014/main" id="{DE238320-C8B5-7679-6B3B-CAF99A461F81}"/>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2E8E1F87-CF16-668C-6DBA-A4FF1E2B0515}"/>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0A333D38-2133-2178-2FAB-F78E297CA081}"/>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33497EF0-3154-F206-6AC3-A756447384E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5B2204D5-21C3-149F-A6C1-C3B6E4CDF16F}"/>
              </a:ext>
            </a:extLst>
          </p:cNvPr>
          <p:cNvSpPr txBox="1"/>
          <p:nvPr/>
        </p:nvSpPr>
        <p:spPr>
          <a:xfrm>
            <a:off x="3805064" y="352412"/>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DML COMMANDS </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CDA62375-7F10-64E5-1823-0712E1FE080B}"/>
              </a:ext>
            </a:extLst>
          </p:cNvPr>
          <p:cNvPicPr/>
          <p:nvPr/>
        </p:nvPicPr>
        <p:blipFill>
          <a:blip r:embed="rId5" cstate="print"/>
          <a:stretch>
            <a:fillRect/>
          </a:stretch>
        </p:blipFill>
        <p:spPr>
          <a:xfrm>
            <a:off x="290750" y="204311"/>
            <a:ext cx="1163002" cy="424338"/>
          </a:xfrm>
          <a:prstGeom prst="rect">
            <a:avLst/>
          </a:prstGeom>
        </p:spPr>
      </p:pic>
      <p:sp>
        <p:nvSpPr>
          <p:cNvPr id="10" name="TextBox 9">
            <a:extLst>
              <a:ext uri="{FF2B5EF4-FFF2-40B4-BE49-F238E27FC236}">
                <a16:creationId xmlns:a16="http://schemas.microsoft.com/office/drawing/2014/main" id="{BF6F8755-3C0E-0C4A-3FCC-F6257E2B283D}"/>
              </a:ext>
            </a:extLst>
          </p:cNvPr>
          <p:cNvSpPr txBox="1"/>
          <p:nvPr/>
        </p:nvSpPr>
        <p:spPr>
          <a:xfrm>
            <a:off x="894522" y="1093303"/>
            <a:ext cx="8239134" cy="830997"/>
          </a:xfrm>
          <a:prstGeom prst="rect">
            <a:avLst/>
          </a:prstGeom>
          <a:noFill/>
        </p:spPr>
        <p:txBody>
          <a:bodyPr wrap="square" rtlCol="0">
            <a:spAutoFit/>
          </a:bodyPr>
          <a:lstStyle/>
          <a:p>
            <a:endParaRPr lang="en-IN" sz="1600" dirty="0">
              <a:latin typeface="Times New Roman" panose="02020603050405020304" pitchFamily="18" charset="0"/>
              <a:cs typeface="Times New Roman" panose="02020603050405020304" pitchFamily="18" charset="0"/>
            </a:endParaRPr>
          </a:p>
          <a:p>
            <a:pPr rtl="0"/>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579D5E7-51EB-014E-8E64-13A7A2070B1A}"/>
              </a:ext>
            </a:extLst>
          </p:cNvPr>
          <p:cNvSpPr>
            <a:spLocks noGrp="1"/>
          </p:cNvSpPr>
          <p:nvPr>
            <p:ph sz="half" idx="2"/>
          </p:nvPr>
        </p:nvSpPr>
        <p:spPr>
          <a:xfrm>
            <a:off x="472696" y="1619321"/>
            <a:ext cx="4375404" cy="5909310"/>
          </a:xfrm>
        </p:spPr>
        <p:txBody>
          <a:bodyPr/>
          <a:lstStyle/>
          <a:p>
            <a:r>
              <a:rPr lang="en-IN" sz="1600" dirty="0">
                <a:latin typeface="Times New Roman" panose="02020603050405020304" pitchFamily="18" charset="0"/>
                <a:cs typeface="Times New Roman" panose="02020603050405020304" pitchFamily="18" charset="0"/>
              </a:rPr>
              <a:t>1. INSERT</a:t>
            </a:r>
          </a:p>
          <a:p>
            <a:r>
              <a:rPr lang="en-IN" sz="1600" b="0" dirty="0">
                <a:latin typeface="Times New Roman" panose="02020603050405020304" pitchFamily="18" charset="0"/>
                <a:cs typeface="Times New Roman" panose="02020603050405020304" pitchFamily="18" charset="0"/>
              </a:rPr>
              <a:t>Used to add new records to a table.</a:t>
            </a:r>
          </a:p>
          <a:p>
            <a:r>
              <a:rPr lang="en-IN" sz="1600" b="0" dirty="0">
                <a:latin typeface="Times New Roman" panose="02020603050405020304" pitchFamily="18" charset="0"/>
                <a:cs typeface="Times New Roman" panose="02020603050405020304" pitchFamily="18" charset="0"/>
              </a:rPr>
              <a:t>Insert a department</a:t>
            </a:r>
          </a:p>
          <a:p>
            <a:pPr rtl="0"/>
            <a:r>
              <a:rPr lang="en-IN" sz="1600" b="0" dirty="0">
                <a:latin typeface="Times New Roman" panose="02020603050405020304" pitchFamily="18" charset="0"/>
                <a:cs typeface="Times New Roman" panose="02020603050405020304" pitchFamily="18" charset="0"/>
              </a:rPr>
              <a:t>INSERT INTO department</a:t>
            </a:r>
          </a:p>
          <a:p>
            <a:pPr rtl="0"/>
            <a:r>
              <a:rPr lang="en-IN" sz="1600" b="0" dirty="0">
                <a:latin typeface="Times New Roman" panose="02020603050405020304" pitchFamily="18" charset="0"/>
                <a:cs typeface="Times New Roman" panose="02020603050405020304" pitchFamily="18" charset="0"/>
              </a:rPr>
              <a:t>(</a:t>
            </a:r>
            <a:r>
              <a:rPr lang="en-IN" sz="1600" b="0" dirty="0" err="1">
                <a:latin typeface="Times New Roman" panose="02020603050405020304" pitchFamily="18" charset="0"/>
                <a:cs typeface="Times New Roman" panose="02020603050405020304" pitchFamily="18" charset="0"/>
              </a:rPr>
              <a:t>department_name</a:t>
            </a:r>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hod_name</a:t>
            </a:r>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office_email</a:t>
            </a:r>
            <a:r>
              <a:rPr lang="en-IN" sz="1600" b="0" dirty="0">
                <a:latin typeface="Times New Roman" panose="02020603050405020304" pitchFamily="18" charset="0"/>
                <a:cs typeface="Times New Roman" panose="02020603050405020304" pitchFamily="18" charset="0"/>
              </a:rPr>
              <a:t>)</a:t>
            </a:r>
          </a:p>
          <a:p>
            <a:pPr rtl="0"/>
            <a:r>
              <a:rPr lang="en-IN" sz="1600" b="0" dirty="0">
                <a:latin typeface="Times New Roman" panose="02020603050405020304" pitchFamily="18" charset="0"/>
                <a:cs typeface="Times New Roman" panose="02020603050405020304" pitchFamily="18" charset="0"/>
              </a:rPr>
              <a:t>VALUES</a:t>
            </a:r>
          </a:p>
          <a:p>
            <a:pPr rtl="0"/>
            <a:r>
              <a:rPr lang="en-IN" sz="1600" b="0" dirty="0">
                <a:latin typeface="Times New Roman" panose="02020603050405020304" pitchFamily="18" charset="0"/>
                <a:cs typeface="Times New Roman" panose="02020603050405020304" pitchFamily="18" charset="0"/>
              </a:rPr>
              <a:t>('Artificial Intelligence and Machine Learning',</a:t>
            </a:r>
          </a:p>
          <a:p>
            <a:pPr rtl="0"/>
            <a:r>
              <a:rPr lang="en-IN" sz="1600" b="0" dirty="0">
                <a:latin typeface="Times New Roman" panose="02020603050405020304" pitchFamily="18" charset="0"/>
                <a:cs typeface="Times New Roman" panose="02020603050405020304" pitchFamily="18" charset="0"/>
              </a:rPr>
              <a:t> 'Dr. Rajesh Kumar',</a:t>
            </a:r>
          </a:p>
          <a:p>
            <a:pPr rtl="0"/>
            <a:r>
              <a:rPr lang="en-IN" sz="1600" b="0" dirty="0">
                <a:latin typeface="Times New Roman" panose="02020603050405020304" pitchFamily="18" charset="0"/>
                <a:cs typeface="Times New Roman" panose="02020603050405020304" pitchFamily="18" charset="0"/>
              </a:rPr>
              <a:t> 'aiml@university.edu’);</a:t>
            </a:r>
          </a:p>
          <a:p>
            <a:r>
              <a:rPr lang="en-IN" sz="1600" b="0" dirty="0">
                <a:latin typeface="Times New Roman" panose="02020603050405020304" pitchFamily="18" charset="0"/>
                <a:cs typeface="Times New Roman" panose="02020603050405020304" pitchFamily="18" charset="0"/>
              </a:rPr>
              <a:t>Insert a student</a:t>
            </a:r>
          </a:p>
          <a:p>
            <a:pPr rtl="0"/>
            <a:r>
              <a:rPr lang="en-IN" sz="1600" b="0" dirty="0">
                <a:latin typeface="Times New Roman" panose="02020603050405020304" pitchFamily="18" charset="0"/>
                <a:cs typeface="Times New Roman" panose="02020603050405020304" pitchFamily="18" charset="0"/>
              </a:rPr>
              <a:t>INSERT INTO student</a:t>
            </a:r>
          </a:p>
          <a:p>
            <a:pPr rtl="0"/>
            <a:r>
              <a:rPr lang="en-IN" sz="1600" b="0" dirty="0">
                <a:latin typeface="Times New Roman" panose="02020603050405020304" pitchFamily="18" charset="0"/>
                <a:cs typeface="Times New Roman" panose="02020603050405020304" pitchFamily="18" charset="0"/>
              </a:rPr>
              <a:t>(</a:t>
            </a:r>
            <a:r>
              <a:rPr lang="en-IN" sz="1600" b="0" dirty="0" err="1">
                <a:latin typeface="Times New Roman" panose="02020603050405020304" pitchFamily="18" charset="0"/>
                <a:cs typeface="Times New Roman" panose="02020603050405020304" pitchFamily="18" charset="0"/>
              </a:rPr>
              <a:t>student_id</a:t>
            </a:r>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student_name</a:t>
            </a:r>
            <a:r>
              <a:rPr lang="en-IN" sz="1600" b="0" dirty="0">
                <a:latin typeface="Times New Roman" panose="02020603050405020304" pitchFamily="18" charset="0"/>
                <a:cs typeface="Times New Roman" panose="02020603050405020304" pitchFamily="18" charset="0"/>
              </a:rPr>
              <a:t>, gender, </a:t>
            </a:r>
            <a:r>
              <a:rPr lang="en-IN" sz="1600" b="0" dirty="0" err="1">
                <a:latin typeface="Times New Roman" panose="02020603050405020304" pitchFamily="18" charset="0"/>
                <a:cs typeface="Times New Roman" panose="02020603050405020304" pitchFamily="18" charset="0"/>
              </a:rPr>
              <a:t>date_of_birth</a:t>
            </a:r>
            <a:r>
              <a:rPr lang="en-IN" sz="1600" b="0" dirty="0">
                <a:latin typeface="Times New Roman" panose="02020603050405020304" pitchFamily="18" charset="0"/>
                <a:cs typeface="Times New Roman" panose="02020603050405020304" pitchFamily="18" charset="0"/>
              </a:rPr>
              <a:t>,</a:t>
            </a:r>
          </a:p>
          <a:p>
            <a:pPr rtl="0"/>
            <a:r>
              <a:rPr lang="en-IN" sz="1600" b="0" dirty="0">
                <a:latin typeface="Times New Roman" panose="02020603050405020304" pitchFamily="18" charset="0"/>
                <a:cs typeface="Times New Roman" panose="02020603050405020304" pitchFamily="18" charset="0"/>
              </a:rPr>
              <a:t> phone, email, </a:t>
            </a:r>
            <a:r>
              <a:rPr lang="en-IN" sz="1600" b="0" dirty="0" err="1">
                <a:latin typeface="Times New Roman" panose="02020603050405020304" pitchFamily="18" charset="0"/>
                <a:cs typeface="Times New Roman" panose="02020603050405020304" pitchFamily="18" charset="0"/>
              </a:rPr>
              <a:t>department_id</a:t>
            </a:r>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admission_year</a:t>
            </a:r>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current_semester</a:t>
            </a:r>
            <a:r>
              <a:rPr lang="en-IN" sz="1600" b="0" dirty="0">
                <a:latin typeface="Times New Roman" panose="02020603050405020304" pitchFamily="18" charset="0"/>
                <a:cs typeface="Times New Roman" panose="02020603050405020304" pitchFamily="18" charset="0"/>
              </a:rPr>
              <a:t>)</a:t>
            </a:r>
          </a:p>
          <a:p>
            <a:pPr rtl="0"/>
            <a:r>
              <a:rPr lang="en-IN" sz="1600" b="0" dirty="0">
                <a:latin typeface="Times New Roman" panose="02020603050405020304" pitchFamily="18" charset="0"/>
                <a:cs typeface="Times New Roman" panose="02020603050405020304" pitchFamily="18" charset="0"/>
              </a:rPr>
              <a:t>VALUES</a:t>
            </a:r>
          </a:p>
          <a:p>
            <a:pPr rtl="0"/>
            <a:r>
              <a:rPr lang="en-IN" sz="1600" b="0" dirty="0">
                <a:latin typeface="Times New Roman" panose="02020603050405020304" pitchFamily="18" charset="0"/>
                <a:cs typeface="Times New Roman" panose="02020603050405020304" pitchFamily="18" charset="0"/>
              </a:rPr>
              <a:t>(109, 'Bhuvana', 'Female', '2007-05-10',</a:t>
            </a:r>
          </a:p>
          <a:p>
            <a:pPr rtl="0"/>
            <a:r>
              <a:rPr lang="en-IN" sz="1600" b="0" dirty="0">
                <a:latin typeface="Times New Roman" panose="02020603050405020304" pitchFamily="18" charset="0"/>
                <a:cs typeface="Times New Roman" panose="02020603050405020304" pitchFamily="18" charset="0"/>
              </a:rPr>
              <a:t> '9000000009', 'bhuvana@university.edu', 1, 2025, 3);</a:t>
            </a:r>
          </a:p>
          <a:p>
            <a:r>
              <a:rPr lang="en-IN" sz="1600" dirty="0">
                <a:latin typeface="Times New Roman" panose="02020603050405020304" pitchFamily="18" charset="0"/>
                <a:cs typeface="Times New Roman" panose="02020603050405020304" pitchFamily="18" charset="0"/>
              </a:rPr>
              <a:t>2. UPDATE</a:t>
            </a:r>
          </a:p>
          <a:p>
            <a:r>
              <a:rPr lang="en-IN" sz="1600" b="0" dirty="0">
                <a:latin typeface="Times New Roman" panose="02020603050405020304" pitchFamily="18" charset="0"/>
                <a:cs typeface="Times New Roman" panose="02020603050405020304" pitchFamily="18" charset="0"/>
              </a:rPr>
              <a:t>Used to modify existing records.</a:t>
            </a:r>
          </a:p>
          <a:p>
            <a:r>
              <a:rPr lang="en-IN" sz="1600" b="0" dirty="0">
                <a:latin typeface="Times New Roman" panose="02020603050405020304" pitchFamily="18" charset="0"/>
                <a:cs typeface="Times New Roman" panose="02020603050405020304" pitchFamily="18" charset="0"/>
              </a:rPr>
              <a:t>Update student's semester</a:t>
            </a:r>
          </a:p>
          <a:p>
            <a:pPr rtl="0"/>
            <a:r>
              <a:rPr lang="en-IN" sz="1600" b="0" dirty="0">
                <a:latin typeface="Times New Roman" panose="02020603050405020304" pitchFamily="18" charset="0"/>
                <a:cs typeface="Times New Roman" panose="02020603050405020304" pitchFamily="18" charset="0"/>
              </a:rPr>
              <a:t>UPDATE student</a:t>
            </a:r>
          </a:p>
          <a:p>
            <a:pPr rtl="0"/>
            <a:r>
              <a:rPr lang="en-IN" sz="1600" b="0" dirty="0">
                <a:latin typeface="Times New Roman" panose="02020603050405020304" pitchFamily="18" charset="0"/>
                <a:cs typeface="Times New Roman" panose="02020603050405020304" pitchFamily="18" charset="0"/>
              </a:rPr>
              <a:t>SET </a:t>
            </a:r>
            <a:r>
              <a:rPr lang="en-IN" sz="1600" b="0" dirty="0" err="1">
                <a:latin typeface="Times New Roman" panose="02020603050405020304" pitchFamily="18" charset="0"/>
                <a:cs typeface="Times New Roman" panose="02020603050405020304" pitchFamily="18" charset="0"/>
              </a:rPr>
              <a:t>current_semester</a:t>
            </a:r>
            <a:r>
              <a:rPr lang="en-IN" sz="1600" b="0" dirty="0">
                <a:latin typeface="Times New Roman" panose="02020603050405020304" pitchFamily="18" charset="0"/>
                <a:cs typeface="Times New Roman" panose="02020603050405020304" pitchFamily="18" charset="0"/>
              </a:rPr>
              <a:t> = 4</a:t>
            </a:r>
          </a:p>
          <a:p>
            <a:pPr rtl="0"/>
            <a:endParaRPr lang="en-IN" sz="1600" b="0" dirty="0"/>
          </a:p>
        </p:txBody>
      </p:sp>
      <p:sp>
        <p:nvSpPr>
          <p:cNvPr id="9" name="Content Placeholder 8">
            <a:extLst>
              <a:ext uri="{FF2B5EF4-FFF2-40B4-BE49-F238E27FC236}">
                <a16:creationId xmlns:a16="http://schemas.microsoft.com/office/drawing/2014/main" id="{ACBC8B67-A8A3-9592-2883-0C0348107161}"/>
              </a:ext>
            </a:extLst>
          </p:cNvPr>
          <p:cNvSpPr>
            <a:spLocks noGrp="1"/>
          </p:cNvSpPr>
          <p:nvPr>
            <p:ph sz="half" idx="3"/>
          </p:nvPr>
        </p:nvSpPr>
        <p:spPr>
          <a:xfrm>
            <a:off x="5180078" y="1745606"/>
            <a:ext cx="4375404" cy="6647974"/>
          </a:xfrm>
        </p:spPr>
        <p:txBody>
          <a:bodyPr/>
          <a:lstStyle/>
          <a:p>
            <a:pPr rtl="0"/>
            <a:r>
              <a:rPr lang="en-IN" sz="1600" b="0" dirty="0">
                <a:latin typeface="Times New Roman" panose="02020603050405020304" pitchFamily="18" charset="0"/>
                <a:cs typeface="Times New Roman" panose="02020603050405020304" pitchFamily="18" charset="0"/>
              </a:rPr>
              <a:t>WHERE </a:t>
            </a:r>
            <a:r>
              <a:rPr lang="en-IN" sz="1600" b="0" dirty="0" err="1">
                <a:latin typeface="Times New Roman" panose="02020603050405020304" pitchFamily="18" charset="0"/>
                <a:cs typeface="Times New Roman" panose="02020603050405020304" pitchFamily="18" charset="0"/>
              </a:rPr>
              <a:t>student_id</a:t>
            </a:r>
            <a:r>
              <a:rPr lang="en-IN" sz="1600" b="0" dirty="0">
                <a:latin typeface="Times New Roman" panose="02020603050405020304" pitchFamily="18" charset="0"/>
                <a:cs typeface="Times New Roman" panose="02020603050405020304" pitchFamily="18" charset="0"/>
              </a:rPr>
              <a:t> = 109;</a:t>
            </a:r>
          </a:p>
          <a:p>
            <a:r>
              <a:rPr lang="en-IN" sz="1600" b="0" dirty="0">
                <a:latin typeface="Times New Roman" panose="02020603050405020304" pitchFamily="18" charset="0"/>
                <a:cs typeface="Times New Roman" panose="02020603050405020304" pitchFamily="18" charset="0"/>
              </a:rPr>
              <a:t>Update student's phone number</a:t>
            </a:r>
          </a:p>
          <a:p>
            <a:pPr rtl="0"/>
            <a:r>
              <a:rPr lang="en-IN" sz="1600" b="0" dirty="0">
                <a:latin typeface="Times New Roman" panose="02020603050405020304" pitchFamily="18" charset="0"/>
                <a:cs typeface="Times New Roman" panose="02020603050405020304" pitchFamily="18" charset="0"/>
              </a:rPr>
              <a:t>UPDATE student</a:t>
            </a:r>
          </a:p>
          <a:p>
            <a:pPr rtl="0"/>
            <a:r>
              <a:rPr lang="en-IN" sz="1600" b="0" dirty="0">
                <a:latin typeface="Times New Roman" panose="02020603050405020304" pitchFamily="18" charset="0"/>
                <a:cs typeface="Times New Roman" panose="02020603050405020304" pitchFamily="18" charset="0"/>
              </a:rPr>
              <a:t>SET phone = '9111111111'</a:t>
            </a:r>
          </a:p>
          <a:p>
            <a:pPr rtl="0"/>
            <a:r>
              <a:rPr lang="en-IN" sz="1600" b="0" dirty="0">
                <a:latin typeface="Times New Roman" panose="02020603050405020304" pitchFamily="18" charset="0"/>
                <a:cs typeface="Times New Roman" panose="02020603050405020304" pitchFamily="18" charset="0"/>
              </a:rPr>
              <a:t>WHERE </a:t>
            </a:r>
            <a:r>
              <a:rPr lang="en-IN" sz="1600" b="0" dirty="0" err="1">
                <a:latin typeface="Times New Roman" panose="02020603050405020304" pitchFamily="18" charset="0"/>
                <a:cs typeface="Times New Roman" panose="02020603050405020304" pitchFamily="18" charset="0"/>
              </a:rPr>
              <a:t>student_id</a:t>
            </a:r>
            <a:r>
              <a:rPr lang="en-IN" sz="1600" b="0" dirty="0">
                <a:latin typeface="Times New Roman" panose="02020603050405020304" pitchFamily="18" charset="0"/>
                <a:cs typeface="Times New Roman" panose="02020603050405020304" pitchFamily="18" charset="0"/>
              </a:rPr>
              <a:t> = 109;</a:t>
            </a:r>
          </a:p>
          <a:p>
            <a:r>
              <a:rPr lang="en-IN" sz="1600" b="0" dirty="0">
                <a:latin typeface="Times New Roman" panose="02020603050405020304" pitchFamily="18" charset="0"/>
                <a:cs typeface="Times New Roman" panose="02020603050405020304" pitchFamily="18" charset="0"/>
              </a:rPr>
              <a:t>Update faculty designation</a:t>
            </a:r>
          </a:p>
          <a:p>
            <a:pPr rtl="0"/>
            <a:r>
              <a:rPr lang="en-IN" sz="1600" b="0" dirty="0">
                <a:latin typeface="Times New Roman" panose="02020603050405020304" pitchFamily="18" charset="0"/>
                <a:cs typeface="Times New Roman" panose="02020603050405020304" pitchFamily="18" charset="0"/>
              </a:rPr>
              <a:t>UPDATE faculty</a:t>
            </a:r>
          </a:p>
          <a:p>
            <a:pPr rtl="0"/>
            <a:r>
              <a:rPr lang="en-IN" sz="1600" b="0" dirty="0">
                <a:latin typeface="Times New Roman" panose="02020603050405020304" pitchFamily="18" charset="0"/>
                <a:cs typeface="Times New Roman" panose="02020603050405020304" pitchFamily="18" charset="0"/>
              </a:rPr>
              <a:t>SET designation = 'Professor'</a:t>
            </a:r>
          </a:p>
          <a:p>
            <a:pPr rtl="0"/>
            <a:r>
              <a:rPr lang="en-IN" sz="1600" b="0" dirty="0">
                <a:latin typeface="Times New Roman" panose="02020603050405020304" pitchFamily="18" charset="0"/>
                <a:cs typeface="Times New Roman" panose="02020603050405020304" pitchFamily="18" charset="0"/>
              </a:rPr>
              <a:t>WHERE </a:t>
            </a:r>
            <a:r>
              <a:rPr lang="en-IN" sz="1600" b="0" dirty="0" err="1">
                <a:latin typeface="Times New Roman" panose="02020603050405020304" pitchFamily="18" charset="0"/>
                <a:cs typeface="Times New Roman" panose="02020603050405020304" pitchFamily="18" charset="0"/>
              </a:rPr>
              <a:t>faculty_id</a:t>
            </a:r>
            <a:r>
              <a:rPr lang="en-IN" sz="1600" b="0" dirty="0">
                <a:latin typeface="Times New Roman" panose="02020603050405020304" pitchFamily="18" charset="0"/>
                <a:cs typeface="Times New Roman" panose="02020603050405020304" pitchFamily="18" charset="0"/>
              </a:rPr>
              <a:t> = 1;</a:t>
            </a:r>
          </a:p>
          <a:p>
            <a:r>
              <a:rPr lang="en-IN" sz="1600" dirty="0">
                <a:latin typeface="Times New Roman" panose="02020603050405020304" pitchFamily="18" charset="0"/>
                <a:cs typeface="Times New Roman" panose="02020603050405020304" pitchFamily="18" charset="0"/>
              </a:rPr>
              <a:t>3. DELETE</a:t>
            </a:r>
          </a:p>
          <a:p>
            <a:r>
              <a:rPr lang="en-IN" sz="1600" b="0" dirty="0">
                <a:latin typeface="Times New Roman" panose="02020603050405020304" pitchFamily="18" charset="0"/>
                <a:cs typeface="Times New Roman" panose="02020603050405020304" pitchFamily="18" charset="0"/>
              </a:rPr>
              <a:t>Used to remove existing records.</a:t>
            </a:r>
          </a:p>
          <a:p>
            <a:r>
              <a:rPr lang="en-IN" sz="1600" b="0" dirty="0">
                <a:latin typeface="Times New Roman" panose="02020603050405020304" pitchFamily="18" charset="0"/>
                <a:cs typeface="Times New Roman" panose="02020603050405020304" pitchFamily="18" charset="0"/>
              </a:rPr>
              <a:t>Delete a student</a:t>
            </a:r>
          </a:p>
          <a:p>
            <a:pPr rtl="0"/>
            <a:r>
              <a:rPr lang="en-IN" sz="1600" b="0" dirty="0">
                <a:latin typeface="Times New Roman" panose="02020603050405020304" pitchFamily="18" charset="0"/>
                <a:cs typeface="Times New Roman" panose="02020603050405020304" pitchFamily="18" charset="0"/>
              </a:rPr>
              <a:t>DELETE FROM student</a:t>
            </a:r>
          </a:p>
          <a:p>
            <a:pPr rtl="0"/>
            <a:r>
              <a:rPr lang="en-IN" sz="1600" b="0" dirty="0">
                <a:latin typeface="Times New Roman" panose="02020603050405020304" pitchFamily="18" charset="0"/>
                <a:cs typeface="Times New Roman" panose="02020603050405020304" pitchFamily="18" charset="0"/>
              </a:rPr>
              <a:t>WHERE </a:t>
            </a:r>
            <a:r>
              <a:rPr lang="en-IN" sz="1600" b="0" dirty="0" err="1">
                <a:latin typeface="Times New Roman" panose="02020603050405020304" pitchFamily="18" charset="0"/>
                <a:cs typeface="Times New Roman" panose="02020603050405020304" pitchFamily="18" charset="0"/>
              </a:rPr>
              <a:t>student_id</a:t>
            </a:r>
            <a:r>
              <a:rPr lang="en-IN" sz="1600" b="0" dirty="0">
                <a:latin typeface="Times New Roman" panose="02020603050405020304" pitchFamily="18" charset="0"/>
                <a:cs typeface="Times New Roman" panose="02020603050405020304" pitchFamily="18" charset="0"/>
              </a:rPr>
              <a:t> = 109;</a:t>
            </a:r>
          </a:p>
          <a:p>
            <a:r>
              <a:rPr lang="en-IN" sz="1600" b="0" dirty="0">
                <a:latin typeface="Times New Roman" panose="02020603050405020304" pitchFamily="18" charset="0"/>
                <a:cs typeface="Times New Roman" panose="02020603050405020304" pitchFamily="18" charset="0"/>
              </a:rPr>
              <a:t>Delete a course</a:t>
            </a:r>
          </a:p>
          <a:p>
            <a:pPr rtl="0"/>
            <a:r>
              <a:rPr lang="en-IN" sz="1600" b="0" dirty="0">
                <a:latin typeface="Times New Roman" panose="02020603050405020304" pitchFamily="18" charset="0"/>
                <a:cs typeface="Times New Roman" panose="02020603050405020304" pitchFamily="18" charset="0"/>
              </a:rPr>
              <a:t>DELETE FROM course</a:t>
            </a:r>
          </a:p>
          <a:p>
            <a:pPr rtl="0"/>
            <a:r>
              <a:rPr lang="en-IN" sz="1600" b="0" dirty="0">
                <a:latin typeface="Times New Roman" panose="02020603050405020304" pitchFamily="18" charset="0"/>
                <a:cs typeface="Times New Roman" panose="02020603050405020304" pitchFamily="18" charset="0"/>
              </a:rPr>
              <a:t>WHERE </a:t>
            </a:r>
            <a:r>
              <a:rPr lang="en-IN" sz="1600" b="0" dirty="0" err="1">
                <a:latin typeface="Times New Roman" panose="02020603050405020304" pitchFamily="18" charset="0"/>
                <a:cs typeface="Times New Roman" panose="02020603050405020304" pitchFamily="18" charset="0"/>
              </a:rPr>
              <a:t>course_id</a:t>
            </a:r>
            <a:r>
              <a:rPr lang="en-IN" sz="1600" b="0" dirty="0">
                <a:latin typeface="Times New Roman" panose="02020603050405020304" pitchFamily="18" charset="0"/>
                <a:cs typeface="Times New Roman" panose="02020603050405020304" pitchFamily="18" charset="0"/>
              </a:rPr>
              <a:t> = 7;</a:t>
            </a:r>
          </a:p>
          <a:p>
            <a:r>
              <a:rPr lang="en-IN" sz="1600" b="0" dirty="0">
                <a:latin typeface="Times New Roman" panose="02020603050405020304" pitchFamily="18" charset="0"/>
                <a:cs typeface="Times New Roman" panose="02020603050405020304" pitchFamily="18" charset="0"/>
              </a:rPr>
              <a:t>Always use a WHERE condition carefully. Without it:</a:t>
            </a:r>
          </a:p>
          <a:p>
            <a:pPr rtl="0"/>
            <a:r>
              <a:rPr lang="en-IN" sz="1600" b="0" dirty="0">
                <a:latin typeface="Times New Roman" panose="02020603050405020304" pitchFamily="18" charset="0"/>
                <a:cs typeface="Times New Roman" panose="02020603050405020304" pitchFamily="18" charset="0"/>
              </a:rPr>
              <a:t>DELETE FROM student;</a:t>
            </a:r>
          </a:p>
          <a:p>
            <a:pPr rtl="0"/>
            <a:endParaRPr lang="en-IN" sz="1600" b="0" dirty="0">
              <a:latin typeface="Times New Roman" panose="02020603050405020304" pitchFamily="18" charset="0"/>
              <a:cs typeface="Times New Roman" panose="02020603050405020304" pitchFamily="18" charset="0"/>
            </a:endParaRPr>
          </a:p>
          <a:p>
            <a:endParaRPr lang="en-IN" sz="1600" b="0" dirty="0">
              <a:latin typeface="Times New Roman" panose="02020603050405020304" pitchFamily="18" charset="0"/>
              <a:cs typeface="Times New Roman" panose="02020603050405020304" pitchFamily="18" charset="0"/>
            </a:endParaRPr>
          </a:p>
          <a:p>
            <a:pPr rtl="0"/>
            <a:endParaRPr lang="en-IN" sz="1600" b="0" dirty="0">
              <a:latin typeface="Times New Roman" panose="02020603050405020304" pitchFamily="18" charset="0"/>
              <a:cs typeface="Times New Roman" panose="02020603050405020304" pitchFamily="18" charset="0"/>
            </a:endParaRPr>
          </a:p>
          <a:p>
            <a:pPr rtl="0"/>
            <a:endParaRPr lang="en-IN" sz="1600" b="0" dirty="0">
              <a:latin typeface="Times New Roman" panose="02020603050405020304" pitchFamily="18" charset="0"/>
              <a:cs typeface="Times New Roman" panose="02020603050405020304" pitchFamily="18" charset="0"/>
            </a:endParaRPr>
          </a:p>
          <a:p>
            <a:endParaRPr lang="en-IN" sz="1600" b="0" dirty="0">
              <a:latin typeface="Times New Roman" panose="02020603050405020304" pitchFamily="18" charset="0"/>
              <a:cs typeface="Times New Roman" panose="02020603050405020304" pitchFamily="18" charset="0"/>
            </a:endParaRPr>
          </a:p>
          <a:p>
            <a:pPr rtl="0"/>
            <a:endParaRPr lang="en-IN" sz="1600" b="0" dirty="0">
              <a:latin typeface="Times New Roman" panose="02020603050405020304" pitchFamily="18" charset="0"/>
              <a:cs typeface="Times New Roman" panose="02020603050405020304" pitchFamily="18" charset="0"/>
            </a:endParaRPr>
          </a:p>
          <a:p>
            <a:endParaRPr lang="en-IN" sz="1600" b="0" dirty="0"/>
          </a:p>
        </p:txBody>
      </p:sp>
    </p:spTree>
    <p:extLst>
      <p:ext uri="{BB962C8B-B14F-4D97-AF65-F5344CB8AC3E}">
        <p14:creationId xmlns:p14="http://schemas.microsoft.com/office/powerpoint/2010/main" val="3824990529"/>
      </p:ext>
    </p:extLst>
  </p:cSld>
  <p:clrMapOvr>
    <a:masterClrMapping/>
  </p:clrMapOvr>
  <mc:AlternateContent xmlns:mc="http://schemas.openxmlformats.org/markup-compatibility/2006" xmlns:p14="http://schemas.microsoft.com/office/powerpoint/2010/main">
    <mc:Choice Requires="p14">
      <p:transition spd="slow" p14:dur="2000" advTm="2624"/>
    </mc:Choice>
    <mc:Fallback xmlns="">
      <p:transition spd="slow" advTm="262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0F82D-9513-E28A-7E2F-89B2B0EE1474}"/>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8E91C34B-3714-FBFD-0FEB-ED5C019AE18D}"/>
              </a:ext>
            </a:extLst>
          </p:cNvPr>
          <p:cNvGrpSpPr/>
          <p:nvPr/>
        </p:nvGrpSpPr>
        <p:grpSpPr>
          <a:xfrm>
            <a:off x="2477248" y="141784"/>
            <a:ext cx="5103904" cy="1198311"/>
            <a:chOff x="2648188" y="47148"/>
            <a:chExt cx="5103904" cy="1198311"/>
          </a:xfrm>
        </p:grpSpPr>
        <p:pic>
          <p:nvPicPr>
            <p:cNvPr id="5" name="object 4">
              <a:extLst>
                <a:ext uri="{FF2B5EF4-FFF2-40B4-BE49-F238E27FC236}">
                  <a16:creationId xmlns:a16="http://schemas.microsoft.com/office/drawing/2014/main" id="{88BA5BE4-3B9D-AC16-7D76-36F3EA56D4D9}"/>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31408AFC-E982-C35B-206E-6ED3EE953182}"/>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6249DA67-CC59-A1CE-F7D9-682DC7814BCF}"/>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E0440AC-70B6-745E-393F-18957E0D88A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63E3F71-2D1F-205A-5383-492453E65ABD}"/>
              </a:ext>
            </a:extLst>
          </p:cNvPr>
          <p:cNvSpPr txBox="1"/>
          <p:nvPr/>
        </p:nvSpPr>
        <p:spPr>
          <a:xfrm>
            <a:off x="3805064" y="352412"/>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DQL COMMANDS </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AAE701E7-E28D-8AF8-AB86-3009D24A10D5}"/>
              </a:ext>
            </a:extLst>
          </p:cNvPr>
          <p:cNvPicPr/>
          <p:nvPr/>
        </p:nvPicPr>
        <p:blipFill>
          <a:blip r:embed="rId5" cstate="print"/>
          <a:stretch>
            <a:fillRect/>
          </a:stretch>
        </p:blipFill>
        <p:spPr>
          <a:xfrm>
            <a:off x="290750" y="204311"/>
            <a:ext cx="1163002" cy="424338"/>
          </a:xfrm>
          <a:prstGeom prst="rect">
            <a:avLst/>
          </a:prstGeom>
        </p:spPr>
      </p:pic>
      <p:sp>
        <p:nvSpPr>
          <p:cNvPr id="9" name="Content Placeholder 8">
            <a:extLst>
              <a:ext uri="{FF2B5EF4-FFF2-40B4-BE49-F238E27FC236}">
                <a16:creationId xmlns:a16="http://schemas.microsoft.com/office/drawing/2014/main" id="{C0056088-774C-4F92-A7F8-F16DDF91694E}"/>
              </a:ext>
            </a:extLst>
          </p:cNvPr>
          <p:cNvSpPr>
            <a:spLocks noGrp="1"/>
          </p:cNvSpPr>
          <p:nvPr>
            <p:ph sz="half" idx="2"/>
          </p:nvPr>
        </p:nvSpPr>
        <p:spPr>
          <a:xfrm>
            <a:off x="502920" y="1787652"/>
            <a:ext cx="4375404" cy="4431983"/>
          </a:xfrm>
        </p:spPr>
        <p:txBody>
          <a:bodyPr/>
          <a:lstStyle/>
          <a:p>
            <a:r>
              <a:rPr lang="en-IN" sz="1600" dirty="0">
                <a:latin typeface="Times New Roman" panose="02020603050405020304" pitchFamily="18" charset="0"/>
                <a:cs typeface="Times New Roman" panose="02020603050405020304" pitchFamily="18" charset="0"/>
              </a:rPr>
              <a:t>DQL Command: </a:t>
            </a:r>
          </a:p>
          <a:p>
            <a:r>
              <a:rPr lang="en-IN" sz="1600" dirty="0">
                <a:latin typeface="Times New Roman" panose="02020603050405020304" pitchFamily="18" charset="0"/>
                <a:cs typeface="Times New Roman" panose="02020603050405020304" pitchFamily="18" charset="0"/>
              </a:rPr>
              <a:t>SELECT</a:t>
            </a:r>
          </a:p>
          <a:p>
            <a:r>
              <a:rPr lang="en-IN" sz="1600" b="0" dirty="0">
                <a:latin typeface="Times New Roman" panose="02020603050405020304" pitchFamily="18" charset="0"/>
                <a:cs typeface="Times New Roman" panose="02020603050405020304" pitchFamily="18" charset="0"/>
              </a:rPr>
              <a:t>1. Display all students</a:t>
            </a:r>
          </a:p>
          <a:p>
            <a:pPr rtl="0"/>
            <a:r>
              <a:rPr lang="en-IN" sz="1600" b="0" dirty="0">
                <a:latin typeface="Times New Roman" panose="02020603050405020304" pitchFamily="18" charset="0"/>
                <a:cs typeface="Times New Roman" panose="02020603050405020304" pitchFamily="18" charset="0"/>
              </a:rPr>
              <a:t>SELECT * FROM student;</a:t>
            </a:r>
          </a:p>
          <a:p>
            <a:r>
              <a:rPr lang="en-IN" sz="1600" b="0" dirty="0">
                <a:latin typeface="Times New Roman" panose="02020603050405020304" pitchFamily="18" charset="0"/>
                <a:cs typeface="Times New Roman" panose="02020603050405020304" pitchFamily="18" charset="0"/>
              </a:rPr>
              <a:t>2. Display specific student details</a:t>
            </a:r>
          </a:p>
          <a:p>
            <a:pPr rtl="0"/>
            <a:r>
              <a:rPr lang="en-IN" sz="1600" b="0" dirty="0">
                <a:latin typeface="Times New Roman" panose="02020603050405020304" pitchFamily="18" charset="0"/>
                <a:cs typeface="Times New Roman" panose="02020603050405020304" pitchFamily="18" charset="0"/>
              </a:rPr>
              <a:t>SELECT </a:t>
            </a:r>
            <a:r>
              <a:rPr lang="en-IN" sz="1600" b="0" dirty="0" err="1">
                <a:latin typeface="Times New Roman" panose="02020603050405020304" pitchFamily="18" charset="0"/>
                <a:cs typeface="Times New Roman" panose="02020603050405020304" pitchFamily="18" charset="0"/>
              </a:rPr>
              <a:t>student_id</a:t>
            </a:r>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student_name</a:t>
            </a:r>
            <a:r>
              <a:rPr lang="en-IN" sz="1600" b="0" dirty="0">
                <a:latin typeface="Times New Roman" panose="02020603050405020304" pitchFamily="18" charset="0"/>
                <a:cs typeface="Times New Roman" panose="02020603050405020304" pitchFamily="18" charset="0"/>
              </a:rPr>
              <a:t>, email</a:t>
            </a:r>
          </a:p>
          <a:p>
            <a:pPr rtl="0"/>
            <a:r>
              <a:rPr lang="en-IN" sz="1600" b="0" dirty="0">
                <a:latin typeface="Times New Roman" panose="02020603050405020304" pitchFamily="18" charset="0"/>
                <a:cs typeface="Times New Roman" panose="02020603050405020304" pitchFamily="18" charset="0"/>
              </a:rPr>
              <a:t>FROM student;</a:t>
            </a:r>
          </a:p>
          <a:p>
            <a:r>
              <a:rPr lang="en-IN" sz="1600" b="0" dirty="0">
                <a:latin typeface="Times New Roman" panose="02020603050405020304" pitchFamily="18" charset="0"/>
                <a:cs typeface="Times New Roman" panose="02020603050405020304" pitchFamily="18" charset="0"/>
              </a:rPr>
              <a:t>3. Display students from AIML department</a:t>
            </a:r>
          </a:p>
          <a:p>
            <a:pPr rtl="0"/>
            <a:r>
              <a:rPr lang="en-IN" sz="1600" b="0" dirty="0">
                <a:latin typeface="Times New Roman" panose="02020603050405020304" pitchFamily="18" charset="0"/>
                <a:cs typeface="Times New Roman" panose="02020603050405020304" pitchFamily="18" charset="0"/>
              </a:rPr>
              <a:t>SELECT *</a:t>
            </a:r>
          </a:p>
          <a:p>
            <a:pPr rtl="0"/>
            <a:r>
              <a:rPr lang="en-IN" sz="1600" b="0" dirty="0">
                <a:latin typeface="Times New Roman" panose="02020603050405020304" pitchFamily="18" charset="0"/>
                <a:cs typeface="Times New Roman" panose="02020603050405020304" pitchFamily="18" charset="0"/>
              </a:rPr>
              <a:t>FROM student</a:t>
            </a:r>
          </a:p>
          <a:p>
            <a:pPr rtl="0"/>
            <a:r>
              <a:rPr lang="en-IN" sz="1600" b="0" dirty="0">
                <a:latin typeface="Times New Roman" panose="02020603050405020304" pitchFamily="18" charset="0"/>
                <a:cs typeface="Times New Roman" panose="02020603050405020304" pitchFamily="18" charset="0"/>
              </a:rPr>
              <a:t>WHERE </a:t>
            </a:r>
            <a:r>
              <a:rPr lang="en-IN" sz="1600" b="0" dirty="0" err="1">
                <a:latin typeface="Times New Roman" panose="02020603050405020304" pitchFamily="18" charset="0"/>
                <a:cs typeface="Times New Roman" panose="02020603050405020304" pitchFamily="18" charset="0"/>
              </a:rPr>
              <a:t>department_id</a:t>
            </a:r>
            <a:r>
              <a:rPr lang="en-IN" sz="1600" b="0" dirty="0">
                <a:latin typeface="Times New Roman" panose="02020603050405020304" pitchFamily="18" charset="0"/>
                <a:cs typeface="Times New Roman" panose="02020603050405020304" pitchFamily="18" charset="0"/>
              </a:rPr>
              <a:t> = 1;</a:t>
            </a:r>
          </a:p>
          <a:p>
            <a:r>
              <a:rPr lang="en-IN" sz="1600" b="0" dirty="0">
                <a:latin typeface="Times New Roman" panose="02020603050405020304" pitchFamily="18" charset="0"/>
                <a:cs typeface="Times New Roman" panose="02020603050405020304" pitchFamily="18" charset="0"/>
              </a:rPr>
              <a:t>4. Display students in alphabetical order</a:t>
            </a:r>
          </a:p>
          <a:p>
            <a:pPr rtl="0"/>
            <a:r>
              <a:rPr lang="en-IN" sz="1600" b="0" dirty="0">
                <a:latin typeface="Times New Roman" panose="02020603050405020304" pitchFamily="18" charset="0"/>
                <a:cs typeface="Times New Roman" panose="02020603050405020304" pitchFamily="18" charset="0"/>
              </a:rPr>
              <a:t>SELECT *</a:t>
            </a:r>
          </a:p>
          <a:p>
            <a:pPr rtl="0"/>
            <a:r>
              <a:rPr lang="en-IN" sz="1600" b="0" dirty="0">
                <a:latin typeface="Times New Roman" panose="02020603050405020304" pitchFamily="18" charset="0"/>
                <a:cs typeface="Times New Roman" panose="02020603050405020304" pitchFamily="18" charset="0"/>
              </a:rPr>
              <a:t>FROM student</a:t>
            </a:r>
          </a:p>
          <a:p>
            <a:pPr rtl="0"/>
            <a:r>
              <a:rPr lang="en-IN" sz="1600" b="0" dirty="0">
                <a:latin typeface="Times New Roman" panose="02020603050405020304" pitchFamily="18" charset="0"/>
                <a:cs typeface="Times New Roman" panose="02020603050405020304" pitchFamily="18" charset="0"/>
              </a:rPr>
              <a:t>ORDER BY </a:t>
            </a:r>
            <a:r>
              <a:rPr lang="en-IN" sz="1600" b="0" dirty="0" err="1">
                <a:latin typeface="Times New Roman" panose="02020603050405020304" pitchFamily="18" charset="0"/>
                <a:cs typeface="Times New Roman" panose="02020603050405020304" pitchFamily="18" charset="0"/>
              </a:rPr>
              <a:t>student_name</a:t>
            </a:r>
            <a:r>
              <a:rPr lang="en-IN" sz="1600" b="0" dirty="0">
                <a:latin typeface="Times New Roman" panose="02020603050405020304" pitchFamily="18" charset="0"/>
                <a:cs typeface="Times New Roman" panose="02020603050405020304" pitchFamily="18" charset="0"/>
              </a:rPr>
              <a:t> ASC;</a:t>
            </a:r>
          </a:p>
          <a:p>
            <a:r>
              <a:rPr lang="en-IN" sz="1600" b="0" dirty="0">
                <a:latin typeface="Times New Roman" panose="02020603050405020304" pitchFamily="18" charset="0"/>
                <a:cs typeface="Times New Roman" panose="02020603050405020304" pitchFamily="18" charset="0"/>
              </a:rPr>
              <a:t>5</a:t>
            </a:r>
            <a:r>
              <a:rPr lang="en-IN" sz="1600" dirty="0">
                <a:latin typeface="Times New Roman" panose="02020603050405020304" pitchFamily="18" charset="0"/>
                <a:cs typeface="Times New Roman" panose="02020603050405020304" pitchFamily="18" charset="0"/>
              </a:rPr>
              <a:t>. Count total students</a:t>
            </a:r>
          </a:p>
          <a:p>
            <a:pPr rtl="0"/>
            <a:r>
              <a:rPr lang="en-IN" sz="1600" b="0" dirty="0">
                <a:latin typeface="Times New Roman" panose="02020603050405020304" pitchFamily="18" charset="0"/>
                <a:cs typeface="Times New Roman" panose="02020603050405020304" pitchFamily="18" charset="0"/>
              </a:rPr>
              <a:t>SELECT COUNT(*) AS </a:t>
            </a:r>
            <a:r>
              <a:rPr lang="en-IN" sz="1600" b="0" dirty="0" err="1">
                <a:latin typeface="Times New Roman" panose="02020603050405020304" pitchFamily="18" charset="0"/>
                <a:cs typeface="Times New Roman" panose="02020603050405020304" pitchFamily="18" charset="0"/>
              </a:rPr>
              <a:t>total_students</a:t>
            </a:r>
            <a:endParaRPr lang="en-IN" sz="1600" b="0" dirty="0">
              <a:latin typeface="Times New Roman" panose="02020603050405020304" pitchFamily="18" charset="0"/>
              <a:cs typeface="Times New Roman" panose="02020603050405020304" pitchFamily="18" charset="0"/>
            </a:endParaRPr>
          </a:p>
          <a:p>
            <a:pPr rtl="0"/>
            <a:r>
              <a:rPr lang="en-IN" sz="1600" b="0" dirty="0">
                <a:latin typeface="Times New Roman" panose="02020603050405020304" pitchFamily="18" charset="0"/>
                <a:cs typeface="Times New Roman" panose="02020603050405020304" pitchFamily="18" charset="0"/>
              </a:rPr>
              <a:t>FROM student;</a:t>
            </a:r>
            <a:endParaRPr lang="en-IN" sz="1600" b="0" dirty="0"/>
          </a:p>
        </p:txBody>
      </p:sp>
      <p:sp>
        <p:nvSpPr>
          <p:cNvPr id="10" name="Content Placeholder 9">
            <a:extLst>
              <a:ext uri="{FF2B5EF4-FFF2-40B4-BE49-F238E27FC236}">
                <a16:creationId xmlns:a16="http://schemas.microsoft.com/office/drawing/2014/main" id="{A95D5BE0-DBC1-73D6-1562-F816EB360396}"/>
              </a:ext>
            </a:extLst>
          </p:cNvPr>
          <p:cNvSpPr>
            <a:spLocks noGrp="1"/>
          </p:cNvSpPr>
          <p:nvPr>
            <p:ph sz="half" idx="3"/>
          </p:nvPr>
        </p:nvSpPr>
        <p:spPr>
          <a:xfrm>
            <a:off x="5180076" y="1787652"/>
            <a:ext cx="4375404" cy="5170646"/>
          </a:xfrm>
        </p:spPr>
        <p:txBody>
          <a:bodyPr/>
          <a:lstStyle/>
          <a:p>
            <a:endParaRPr lang="en-IN" sz="1600" b="0" dirty="0">
              <a:latin typeface="Times New Roman" panose="02020603050405020304" pitchFamily="18" charset="0"/>
              <a:cs typeface="Times New Roman" panose="02020603050405020304" pitchFamily="18" charset="0"/>
            </a:endParaRPr>
          </a:p>
          <a:p>
            <a:r>
              <a:rPr lang="en-IN" sz="1600" b="0" dirty="0">
                <a:latin typeface="Times New Roman" panose="02020603050405020304" pitchFamily="18" charset="0"/>
                <a:cs typeface="Times New Roman" panose="02020603050405020304" pitchFamily="18" charset="0"/>
              </a:rPr>
              <a:t>6. Find average marks</a:t>
            </a:r>
          </a:p>
          <a:p>
            <a:pPr rtl="0"/>
            <a:r>
              <a:rPr lang="en-IN" sz="1600" b="0" dirty="0">
                <a:latin typeface="Times New Roman" panose="02020603050405020304" pitchFamily="18" charset="0"/>
                <a:cs typeface="Times New Roman" panose="02020603050405020304" pitchFamily="18" charset="0"/>
              </a:rPr>
              <a:t>SELECT AVG(</a:t>
            </a:r>
            <a:r>
              <a:rPr lang="en-IN" sz="1600" b="0" dirty="0" err="1">
                <a:latin typeface="Times New Roman" panose="02020603050405020304" pitchFamily="18" charset="0"/>
                <a:cs typeface="Times New Roman" panose="02020603050405020304" pitchFamily="18" charset="0"/>
              </a:rPr>
              <a:t>marks_obtained</a:t>
            </a:r>
            <a:r>
              <a:rPr lang="en-IN" sz="1600" b="0" dirty="0">
                <a:latin typeface="Times New Roman" panose="02020603050405020304" pitchFamily="18" charset="0"/>
                <a:cs typeface="Times New Roman" panose="02020603050405020304" pitchFamily="18" charset="0"/>
              </a:rPr>
              <a:t>) AS </a:t>
            </a:r>
            <a:r>
              <a:rPr lang="en-IN" sz="1600" b="0" dirty="0" err="1">
                <a:latin typeface="Times New Roman" panose="02020603050405020304" pitchFamily="18" charset="0"/>
                <a:cs typeface="Times New Roman" panose="02020603050405020304" pitchFamily="18" charset="0"/>
              </a:rPr>
              <a:t>average_marks</a:t>
            </a:r>
            <a:endParaRPr lang="en-IN" sz="1600" b="0" dirty="0">
              <a:latin typeface="Times New Roman" panose="02020603050405020304" pitchFamily="18" charset="0"/>
              <a:cs typeface="Times New Roman" panose="02020603050405020304" pitchFamily="18" charset="0"/>
            </a:endParaRPr>
          </a:p>
          <a:p>
            <a:pPr rtl="0"/>
            <a:r>
              <a:rPr lang="en-IN" sz="1600" b="0" dirty="0">
                <a:latin typeface="Times New Roman" panose="02020603050405020304" pitchFamily="18" charset="0"/>
                <a:cs typeface="Times New Roman" panose="02020603050405020304" pitchFamily="18" charset="0"/>
              </a:rPr>
              <a:t>FROM result;</a:t>
            </a:r>
          </a:p>
          <a:p>
            <a:r>
              <a:rPr lang="en-IN" sz="1600" b="0" dirty="0">
                <a:latin typeface="Times New Roman" panose="02020603050405020304" pitchFamily="18" charset="0"/>
                <a:cs typeface="Times New Roman" panose="02020603050405020304" pitchFamily="18" charset="0"/>
              </a:rPr>
              <a:t>7. Find highest marks</a:t>
            </a:r>
          </a:p>
          <a:p>
            <a:pPr rtl="0"/>
            <a:r>
              <a:rPr lang="en-IN" sz="1600" b="0" dirty="0">
                <a:latin typeface="Times New Roman" panose="02020603050405020304" pitchFamily="18" charset="0"/>
                <a:cs typeface="Times New Roman" panose="02020603050405020304" pitchFamily="18" charset="0"/>
              </a:rPr>
              <a:t>SELECT MAX(</a:t>
            </a:r>
            <a:r>
              <a:rPr lang="en-IN" sz="1600" b="0" dirty="0" err="1">
                <a:latin typeface="Times New Roman" panose="02020603050405020304" pitchFamily="18" charset="0"/>
                <a:cs typeface="Times New Roman" panose="02020603050405020304" pitchFamily="18" charset="0"/>
              </a:rPr>
              <a:t>marks_obtained</a:t>
            </a:r>
            <a:r>
              <a:rPr lang="en-IN" sz="1600" b="0" dirty="0">
                <a:latin typeface="Times New Roman" panose="02020603050405020304" pitchFamily="18" charset="0"/>
                <a:cs typeface="Times New Roman" panose="02020603050405020304" pitchFamily="18" charset="0"/>
              </a:rPr>
              <a:t>) AS </a:t>
            </a:r>
            <a:r>
              <a:rPr lang="en-IN" sz="1600" b="0" dirty="0" err="1">
                <a:latin typeface="Times New Roman" panose="02020603050405020304" pitchFamily="18" charset="0"/>
                <a:cs typeface="Times New Roman" panose="02020603050405020304" pitchFamily="18" charset="0"/>
              </a:rPr>
              <a:t>highest_marks</a:t>
            </a:r>
            <a:endParaRPr lang="en-IN" sz="1600" b="0" dirty="0">
              <a:latin typeface="Times New Roman" panose="02020603050405020304" pitchFamily="18" charset="0"/>
              <a:cs typeface="Times New Roman" panose="02020603050405020304" pitchFamily="18" charset="0"/>
            </a:endParaRPr>
          </a:p>
          <a:p>
            <a:pPr rtl="0"/>
            <a:r>
              <a:rPr lang="en-IN" sz="1600" b="0" dirty="0">
                <a:latin typeface="Times New Roman" panose="02020603050405020304" pitchFamily="18" charset="0"/>
                <a:cs typeface="Times New Roman" panose="02020603050405020304" pitchFamily="18" charset="0"/>
              </a:rPr>
              <a:t>FROM result;</a:t>
            </a:r>
          </a:p>
          <a:p>
            <a:r>
              <a:rPr lang="en-IN" sz="1600" b="0" dirty="0">
                <a:latin typeface="Times New Roman" panose="02020603050405020304" pitchFamily="18" charset="0"/>
                <a:cs typeface="Times New Roman" panose="02020603050405020304" pitchFamily="18" charset="0"/>
              </a:rPr>
              <a:t>8. Find lowest marks</a:t>
            </a:r>
          </a:p>
          <a:p>
            <a:pPr rtl="0"/>
            <a:r>
              <a:rPr lang="en-IN" sz="1600" b="0" dirty="0">
                <a:latin typeface="Times New Roman" panose="02020603050405020304" pitchFamily="18" charset="0"/>
                <a:cs typeface="Times New Roman" panose="02020603050405020304" pitchFamily="18" charset="0"/>
              </a:rPr>
              <a:t>SELECT MIN(</a:t>
            </a:r>
            <a:r>
              <a:rPr lang="en-IN" sz="1600" b="0" dirty="0" err="1">
                <a:latin typeface="Times New Roman" panose="02020603050405020304" pitchFamily="18" charset="0"/>
                <a:cs typeface="Times New Roman" panose="02020603050405020304" pitchFamily="18" charset="0"/>
              </a:rPr>
              <a:t>marks_obtained</a:t>
            </a:r>
            <a:r>
              <a:rPr lang="en-IN" sz="1600" b="0" dirty="0">
                <a:latin typeface="Times New Roman" panose="02020603050405020304" pitchFamily="18" charset="0"/>
                <a:cs typeface="Times New Roman" panose="02020603050405020304" pitchFamily="18" charset="0"/>
              </a:rPr>
              <a:t>) AS </a:t>
            </a:r>
            <a:r>
              <a:rPr lang="en-IN" sz="1600" b="0" dirty="0" err="1">
                <a:latin typeface="Times New Roman" panose="02020603050405020304" pitchFamily="18" charset="0"/>
                <a:cs typeface="Times New Roman" panose="02020603050405020304" pitchFamily="18" charset="0"/>
              </a:rPr>
              <a:t>lowest_marks</a:t>
            </a:r>
            <a:endParaRPr lang="en-IN" sz="1600" b="0" dirty="0">
              <a:latin typeface="Times New Roman" panose="02020603050405020304" pitchFamily="18" charset="0"/>
              <a:cs typeface="Times New Roman" panose="02020603050405020304" pitchFamily="18" charset="0"/>
            </a:endParaRPr>
          </a:p>
          <a:p>
            <a:pPr rtl="0"/>
            <a:r>
              <a:rPr lang="en-IN" sz="1600" b="0" dirty="0">
                <a:latin typeface="Times New Roman" panose="02020603050405020304" pitchFamily="18" charset="0"/>
                <a:cs typeface="Times New Roman" panose="02020603050405020304" pitchFamily="18" charset="0"/>
              </a:rPr>
              <a:t>FROM result;</a:t>
            </a:r>
          </a:p>
          <a:p>
            <a:r>
              <a:rPr lang="en-IN" sz="1600" b="0" dirty="0">
                <a:latin typeface="Times New Roman" panose="02020603050405020304" pitchFamily="18" charset="0"/>
                <a:cs typeface="Times New Roman" panose="02020603050405020304" pitchFamily="18" charset="0"/>
              </a:rPr>
              <a:t>9. Display student and department names using JOIN</a:t>
            </a:r>
          </a:p>
          <a:p>
            <a:pPr rtl="0"/>
            <a:r>
              <a:rPr lang="en-IN" sz="1600" b="0" dirty="0">
                <a:latin typeface="Times New Roman" panose="02020603050405020304" pitchFamily="18" charset="0"/>
                <a:cs typeface="Times New Roman" panose="02020603050405020304" pitchFamily="18" charset="0"/>
              </a:rPr>
              <a:t>SELECT</a:t>
            </a:r>
          </a:p>
          <a:p>
            <a:pPr rtl="0"/>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s.student_id</a:t>
            </a:r>
            <a:r>
              <a:rPr lang="en-IN" sz="1600" b="0" dirty="0">
                <a:latin typeface="Times New Roman" panose="02020603050405020304" pitchFamily="18" charset="0"/>
                <a:cs typeface="Times New Roman" panose="02020603050405020304" pitchFamily="18" charset="0"/>
              </a:rPr>
              <a:t>,</a:t>
            </a:r>
          </a:p>
          <a:p>
            <a:pPr rtl="0"/>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s.student_name</a:t>
            </a:r>
            <a:r>
              <a:rPr lang="en-IN" sz="1600" b="0" dirty="0">
                <a:latin typeface="Times New Roman" panose="02020603050405020304" pitchFamily="18" charset="0"/>
                <a:cs typeface="Times New Roman" panose="02020603050405020304" pitchFamily="18" charset="0"/>
              </a:rPr>
              <a:t>,</a:t>
            </a:r>
          </a:p>
          <a:p>
            <a:pPr rtl="0"/>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d.department_name</a:t>
            </a:r>
            <a:endParaRPr lang="en-IN" sz="1600" b="0" dirty="0">
              <a:latin typeface="Times New Roman" panose="02020603050405020304" pitchFamily="18" charset="0"/>
              <a:cs typeface="Times New Roman" panose="02020603050405020304" pitchFamily="18" charset="0"/>
            </a:endParaRPr>
          </a:p>
          <a:p>
            <a:pPr rtl="0"/>
            <a:r>
              <a:rPr lang="en-IN" sz="1600" b="0" dirty="0">
                <a:latin typeface="Times New Roman" panose="02020603050405020304" pitchFamily="18" charset="0"/>
                <a:cs typeface="Times New Roman" panose="02020603050405020304" pitchFamily="18" charset="0"/>
              </a:rPr>
              <a:t>FROM student s</a:t>
            </a:r>
          </a:p>
          <a:p>
            <a:pPr rtl="0"/>
            <a:r>
              <a:rPr lang="en-IN" sz="1600" b="0" dirty="0">
                <a:latin typeface="Times New Roman" panose="02020603050405020304" pitchFamily="18" charset="0"/>
                <a:cs typeface="Times New Roman" panose="02020603050405020304" pitchFamily="18" charset="0"/>
              </a:rPr>
              <a:t>JOIN department </a:t>
            </a:r>
          </a:p>
          <a:p>
            <a:pPr rtl="0"/>
            <a:r>
              <a:rPr lang="en-IN" sz="1600" b="0" dirty="0">
                <a:latin typeface="Times New Roman" panose="02020603050405020304" pitchFamily="18" charset="0"/>
                <a:cs typeface="Times New Roman" panose="02020603050405020304" pitchFamily="18" charset="0"/>
              </a:rPr>
              <a:t>ON </a:t>
            </a:r>
            <a:r>
              <a:rPr lang="en-IN" sz="1600" b="0" dirty="0" err="1">
                <a:latin typeface="Times New Roman" panose="02020603050405020304" pitchFamily="18" charset="0"/>
                <a:cs typeface="Times New Roman" panose="02020603050405020304" pitchFamily="18" charset="0"/>
              </a:rPr>
              <a:t>s.department_id</a:t>
            </a:r>
            <a:r>
              <a:rPr lang="en-IN" sz="1600" b="0" dirty="0">
                <a:latin typeface="Times New Roman" panose="02020603050405020304" pitchFamily="18" charset="0"/>
                <a:cs typeface="Times New Roman" panose="02020603050405020304" pitchFamily="18" charset="0"/>
              </a:rPr>
              <a:t> = </a:t>
            </a:r>
            <a:r>
              <a:rPr lang="en-IN" sz="1600" b="0" dirty="0" err="1">
                <a:latin typeface="Times New Roman" panose="02020603050405020304" pitchFamily="18" charset="0"/>
                <a:cs typeface="Times New Roman" panose="02020603050405020304" pitchFamily="18" charset="0"/>
              </a:rPr>
              <a:t>d.department_id</a:t>
            </a:r>
            <a:r>
              <a:rPr lang="en-IN" sz="1600" b="0" dirty="0">
                <a:latin typeface="Times New Roman" panose="02020603050405020304" pitchFamily="18" charset="0"/>
                <a:cs typeface="Times New Roman" panose="02020603050405020304" pitchFamily="18" charset="0"/>
              </a:rPr>
              <a:t>;</a:t>
            </a:r>
          </a:p>
          <a:p>
            <a:pPr rtl="0"/>
            <a:endParaRPr lang="en-IN" sz="1600" b="0" dirty="0">
              <a:latin typeface="Times New Roman" panose="02020603050405020304" pitchFamily="18" charset="0"/>
              <a:cs typeface="Times New Roman" panose="02020603050405020304" pitchFamily="18" charset="0"/>
            </a:endParaRPr>
          </a:p>
          <a:p>
            <a:endParaRPr lang="en-IN" sz="1600" b="0" dirty="0">
              <a:latin typeface="Times New Roman" panose="02020603050405020304" pitchFamily="18" charset="0"/>
              <a:cs typeface="Times New Roman" panose="02020603050405020304" pitchFamily="18" charset="0"/>
            </a:endParaRPr>
          </a:p>
          <a:p>
            <a:endParaRPr lang="en-IN" sz="1600" b="0" dirty="0"/>
          </a:p>
        </p:txBody>
      </p:sp>
    </p:spTree>
    <p:extLst>
      <p:ext uri="{BB962C8B-B14F-4D97-AF65-F5344CB8AC3E}">
        <p14:creationId xmlns:p14="http://schemas.microsoft.com/office/powerpoint/2010/main" val="1523701918"/>
      </p:ext>
    </p:extLst>
  </p:cSld>
  <p:clrMapOvr>
    <a:masterClrMapping/>
  </p:clrMapOvr>
  <mc:AlternateContent xmlns:mc="http://schemas.openxmlformats.org/markup-compatibility/2006" xmlns:p14="http://schemas.microsoft.com/office/powerpoint/2010/main">
    <mc:Choice Requires="p14">
      <p:transition spd="slow" p14:dur="2000" advTm="2624"/>
    </mc:Choice>
    <mc:Fallback xmlns="">
      <p:transition spd="slow" advTm="262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3BBD-B655-F8DD-FD7F-2B0D77BAE611}"/>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DE29B888-DD87-E8D2-184E-D82E3F6BC5D7}"/>
              </a:ext>
            </a:extLst>
          </p:cNvPr>
          <p:cNvGrpSpPr/>
          <p:nvPr/>
        </p:nvGrpSpPr>
        <p:grpSpPr>
          <a:xfrm>
            <a:off x="2477248" y="141784"/>
            <a:ext cx="5103904" cy="1198311"/>
            <a:chOff x="2648188" y="47148"/>
            <a:chExt cx="5103904" cy="1198311"/>
          </a:xfrm>
        </p:grpSpPr>
        <p:pic>
          <p:nvPicPr>
            <p:cNvPr id="5" name="object 4">
              <a:extLst>
                <a:ext uri="{FF2B5EF4-FFF2-40B4-BE49-F238E27FC236}">
                  <a16:creationId xmlns:a16="http://schemas.microsoft.com/office/drawing/2014/main" id="{36E444FD-6686-CD36-D175-83B67F57C647}"/>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19D320C3-6FF4-D738-7D88-9139DE588DE8}"/>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3D8834E0-DFD8-E03D-4C2C-7F3A04FE598D}"/>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560F1790-0E6B-EE76-DB99-E09C0E2E652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1EF3D2D1-ED29-C28D-5A3E-C6D673F5B160}"/>
              </a:ext>
            </a:extLst>
          </p:cNvPr>
          <p:cNvSpPr txBox="1"/>
          <p:nvPr/>
        </p:nvSpPr>
        <p:spPr>
          <a:xfrm>
            <a:off x="3805064" y="352412"/>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DQL COMMANDS </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34B42410-B249-D401-2284-D1288392AFDD}"/>
              </a:ext>
            </a:extLst>
          </p:cNvPr>
          <p:cNvPicPr/>
          <p:nvPr/>
        </p:nvPicPr>
        <p:blipFill>
          <a:blip r:embed="rId5" cstate="print"/>
          <a:stretch>
            <a:fillRect/>
          </a:stretch>
        </p:blipFill>
        <p:spPr>
          <a:xfrm>
            <a:off x="290750" y="204311"/>
            <a:ext cx="1163002" cy="424338"/>
          </a:xfrm>
          <a:prstGeom prst="rect">
            <a:avLst/>
          </a:prstGeom>
        </p:spPr>
      </p:pic>
      <p:sp>
        <p:nvSpPr>
          <p:cNvPr id="9" name="Content Placeholder 8">
            <a:extLst>
              <a:ext uri="{FF2B5EF4-FFF2-40B4-BE49-F238E27FC236}">
                <a16:creationId xmlns:a16="http://schemas.microsoft.com/office/drawing/2014/main" id="{C8D284C0-9460-8611-E733-B0E6CB8511EC}"/>
              </a:ext>
            </a:extLst>
          </p:cNvPr>
          <p:cNvSpPr>
            <a:spLocks noGrp="1"/>
          </p:cNvSpPr>
          <p:nvPr>
            <p:ph sz="half" idx="2"/>
          </p:nvPr>
        </p:nvSpPr>
        <p:spPr>
          <a:xfrm>
            <a:off x="502920" y="1787652"/>
            <a:ext cx="4375404" cy="5416868"/>
          </a:xfrm>
        </p:spPr>
        <p:txBody>
          <a:bodyPr/>
          <a:lstStyle/>
          <a:p>
            <a:r>
              <a:rPr lang="en-IN" sz="1600" b="0" dirty="0">
                <a:latin typeface="Times New Roman" panose="02020603050405020304" pitchFamily="18" charset="0"/>
                <a:cs typeface="Times New Roman" panose="02020603050405020304" pitchFamily="18" charset="0"/>
              </a:rPr>
              <a:t>10. Display student results</a:t>
            </a:r>
          </a:p>
          <a:p>
            <a:pPr rtl="0"/>
            <a:r>
              <a:rPr lang="en-IN" sz="1600" b="0" dirty="0">
                <a:latin typeface="Times New Roman" panose="02020603050405020304" pitchFamily="18" charset="0"/>
                <a:cs typeface="Times New Roman" panose="02020603050405020304" pitchFamily="18" charset="0"/>
              </a:rPr>
              <a:t>SELECT</a:t>
            </a:r>
          </a:p>
          <a:p>
            <a:pPr rtl="0"/>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s.student_name</a:t>
            </a:r>
            <a:r>
              <a:rPr lang="en-IN" sz="1600" b="0" dirty="0">
                <a:latin typeface="Times New Roman" panose="02020603050405020304" pitchFamily="18" charset="0"/>
                <a:cs typeface="Times New Roman" panose="02020603050405020304" pitchFamily="18" charset="0"/>
              </a:rPr>
              <a:t>,</a:t>
            </a:r>
          </a:p>
          <a:p>
            <a:pPr rtl="0"/>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r.marks_obtained</a:t>
            </a:r>
            <a:r>
              <a:rPr lang="en-IN" sz="1600" b="0" dirty="0">
                <a:latin typeface="Times New Roman" panose="02020603050405020304" pitchFamily="18" charset="0"/>
                <a:cs typeface="Times New Roman" panose="02020603050405020304" pitchFamily="18" charset="0"/>
              </a:rPr>
              <a:t>,</a:t>
            </a:r>
          </a:p>
          <a:p>
            <a:pPr rtl="0"/>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r.grade</a:t>
            </a:r>
            <a:r>
              <a:rPr lang="en-IN" sz="1600" b="0" dirty="0">
                <a:latin typeface="Times New Roman" panose="02020603050405020304" pitchFamily="18" charset="0"/>
                <a:cs typeface="Times New Roman" panose="02020603050405020304" pitchFamily="18" charset="0"/>
              </a:rPr>
              <a:t>,</a:t>
            </a:r>
          </a:p>
          <a:p>
            <a:pPr rtl="0"/>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r.result_status</a:t>
            </a:r>
            <a:endParaRPr lang="en-IN" sz="1600" b="0" dirty="0">
              <a:latin typeface="Times New Roman" panose="02020603050405020304" pitchFamily="18" charset="0"/>
              <a:cs typeface="Times New Roman" panose="02020603050405020304" pitchFamily="18" charset="0"/>
            </a:endParaRPr>
          </a:p>
          <a:p>
            <a:pPr rtl="0"/>
            <a:r>
              <a:rPr lang="en-IN" sz="1600" b="0" dirty="0">
                <a:latin typeface="Times New Roman" panose="02020603050405020304" pitchFamily="18" charset="0"/>
                <a:cs typeface="Times New Roman" panose="02020603050405020304" pitchFamily="18" charset="0"/>
              </a:rPr>
              <a:t>FROM student s</a:t>
            </a:r>
          </a:p>
          <a:p>
            <a:pPr rtl="0"/>
            <a:r>
              <a:rPr lang="en-IN" sz="1600" b="0" dirty="0">
                <a:latin typeface="Times New Roman" panose="02020603050405020304" pitchFamily="18" charset="0"/>
                <a:cs typeface="Times New Roman" panose="02020603050405020304" pitchFamily="18" charset="0"/>
              </a:rPr>
              <a:t>JOIN result r</a:t>
            </a:r>
          </a:p>
          <a:p>
            <a:pPr rtl="0"/>
            <a:r>
              <a:rPr lang="en-IN" sz="1600" b="0" dirty="0">
                <a:latin typeface="Times New Roman" panose="02020603050405020304" pitchFamily="18" charset="0"/>
                <a:cs typeface="Times New Roman" panose="02020603050405020304" pitchFamily="18" charset="0"/>
              </a:rPr>
              <a:t>ON </a:t>
            </a:r>
            <a:r>
              <a:rPr lang="en-IN" sz="1600" b="0" dirty="0" err="1">
                <a:latin typeface="Times New Roman" panose="02020603050405020304" pitchFamily="18" charset="0"/>
                <a:cs typeface="Times New Roman" panose="02020603050405020304" pitchFamily="18" charset="0"/>
              </a:rPr>
              <a:t>s.student_id</a:t>
            </a:r>
            <a:r>
              <a:rPr lang="en-IN" sz="1600" b="0" dirty="0">
                <a:latin typeface="Times New Roman" panose="02020603050405020304" pitchFamily="18" charset="0"/>
                <a:cs typeface="Times New Roman" panose="02020603050405020304" pitchFamily="18" charset="0"/>
              </a:rPr>
              <a:t> = </a:t>
            </a:r>
            <a:r>
              <a:rPr lang="en-IN" sz="1600" b="0" dirty="0" err="1">
                <a:latin typeface="Times New Roman" panose="02020603050405020304" pitchFamily="18" charset="0"/>
                <a:cs typeface="Times New Roman" panose="02020603050405020304" pitchFamily="18" charset="0"/>
              </a:rPr>
              <a:t>r.student_id</a:t>
            </a:r>
            <a:r>
              <a:rPr lang="en-IN" sz="1600" b="0" dirty="0">
                <a:latin typeface="Times New Roman" panose="02020603050405020304" pitchFamily="18" charset="0"/>
                <a:cs typeface="Times New Roman" panose="02020603050405020304" pitchFamily="18" charset="0"/>
              </a:rPr>
              <a:t>;</a:t>
            </a:r>
          </a:p>
          <a:p>
            <a:r>
              <a:rPr lang="en-IN" sz="1600" b="0" dirty="0">
                <a:latin typeface="Times New Roman" panose="02020603050405020304" pitchFamily="18" charset="0"/>
                <a:cs typeface="Times New Roman" panose="02020603050405020304" pitchFamily="18" charset="0"/>
              </a:rPr>
              <a:t>11. Display attendance</a:t>
            </a:r>
          </a:p>
          <a:p>
            <a:pPr rtl="0"/>
            <a:r>
              <a:rPr lang="en-IN" sz="1600" b="0" dirty="0">
                <a:latin typeface="Times New Roman" panose="02020603050405020304" pitchFamily="18" charset="0"/>
                <a:cs typeface="Times New Roman" panose="02020603050405020304" pitchFamily="18" charset="0"/>
              </a:rPr>
              <a:t>SELECT</a:t>
            </a:r>
          </a:p>
          <a:p>
            <a:pPr rtl="0"/>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student_id</a:t>
            </a:r>
            <a:r>
              <a:rPr lang="en-IN" sz="1600" b="0" dirty="0">
                <a:latin typeface="Times New Roman" panose="02020603050405020304" pitchFamily="18" charset="0"/>
                <a:cs typeface="Times New Roman" panose="02020603050405020304" pitchFamily="18" charset="0"/>
              </a:rPr>
              <a:t>,</a:t>
            </a:r>
          </a:p>
          <a:p>
            <a:pPr rtl="0"/>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course_id</a:t>
            </a:r>
            <a:r>
              <a:rPr lang="en-IN" sz="1600" b="0" dirty="0">
                <a:latin typeface="Times New Roman" panose="02020603050405020304" pitchFamily="18" charset="0"/>
                <a:cs typeface="Times New Roman" panose="02020603050405020304" pitchFamily="18" charset="0"/>
              </a:rPr>
              <a:t>,</a:t>
            </a:r>
          </a:p>
          <a:p>
            <a:pPr rtl="0"/>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classes_held</a:t>
            </a:r>
            <a:r>
              <a:rPr lang="en-IN" sz="1600" b="0" dirty="0">
                <a:latin typeface="Times New Roman" panose="02020603050405020304" pitchFamily="18" charset="0"/>
                <a:cs typeface="Times New Roman" panose="02020603050405020304" pitchFamily="18" charset="0"/>
              </a:rPr>
              <a:t>,</a:t>
            </a:r>
          </a:p>
          <a:p>
            <a:pPr rtl="0"/>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classes_attended</a:t>
            </a:r>
            <a:r>
              <a:rPr lang="en-IN" sz="1600" b="0" dirty="0">
                <a:latin typeface="Times New Roman" panose="02020603050405020304" pitchFamily="18" charset="0"/>
                <a:cs typeface="Times New Roman" panose="02020603050405020304" pitchFamily="18" charset="0"/>
              </a:rPr>
              <a:t>,</a:t>
            </a:r>
          </a:p>
          <a:p>
            <a:pPr rtl="0"/>
            <a:r>
              <a:rPr lang="en-IN" sz="1600" b="0" dirty="0">
                <a:latin typeface="Times New Roman" panose="02020603050405020304" pitchFamily="18" charset="0"/>
                <a:cs typeface="Times New Roman" panose="02020603050405020304" pitchFamily="18" charset="0"/>
              </a:rPr>
              <a:t>    </a:t>
            </a:r>
            <a:r>
              <a:rPr lang="en-IN" sz="1600" b="0" dirty="0" err="1">
                <a:latin typeface="Times New Roman" panose="02020603050405020304" pitchFamily="18" charset="0"/>
                <a:cs typeface="Times New Roman" panose="02020603050405020304" pitchFamily="18" charset="0"/>
              </a:rPr>
              <a:t>attendance_percentage</a:t>
            </a:r>
            <a:endParaRPr lang="en-IN" sz="1600" b="0" dirty="0">
              <a:latin typeface="Times New Roman" panose="02020603050405020304" pitchFamily="18" charset="0"/>
              <a:cs typeface="Times New Roman" panose="02020603050405020304" pitchFamily="18" charset="0"/>
            </a:endParaRPr>
          </a:p>
          <a:p>
            <a:pPr rtl="0"/>
            <a:r>
              <a:rPr lang="en-IN" sz="1600" b="0" dirty="0">
                <a:latin typeface="Times New Roman" panose="02020603050405020304" pitchFamily="18" charset="0"/>
                <a:cs typeface="Times New Roman" panose="02020603050405020304" pitchFamily="18" charset="0"/>
              </a:rPr>
              <a:t>FROM attendance;</a:t>
            </a:r>
          </a:p>
          <a:p>
            <a:r>
              <a:rPr lang="en-IN" sz="1600" b="0" dirty="0">
                <a:latin typeface="Times New Roman" panose="02020603050405020304" pitchFamily="18" charset="0"/>
                <a:cs typeface="Times New Roman" panose="02020603050405020304" pitchFamily="18" charset="0"/>
              </a:rPr>
              <a:t>12. Display students who passed</a:t>
            </a:r>
          </a:p>
          <a:p>
            <a:pPr rtl="0"/>
            <a:r>
              <a:rPr lang="en-IN" sz="1600" b="0" dirty="0">
                <a:latin typeface="Times New Roman" panose="02020603050405020304" pitchFamily="18" charset="0"/>
                <a:cs typeface="Times New Roman" panose="02020603050405020304" pitchFamily="18" charset="0"/>
              </a:rPr>
              <a:t>SELECT *</a:t>
            </a:r>
          </a:p>
          <a:p>
            <a:pPr rtl="0"/>
            <a:r>
              <a:rPr lang="en-IN" sz="1600" b="0" dirty="0">
                <a:latin typeface="Times New Roman" panose="02020603050405020304" pitchFamily="18" charset="0"/>
                <a:cs typeface="Times New Roman" panose="02020603050405020304" pitchFamily="18" charset="0"/>
              </a:rPr>
              <a:t>FROM result</a:t>
            </a:r>
          </a:p>
          <a:p>
            <a:pPr rtl="0"/>
            <a:r>
              <a:rPr lang="en-IN" sz="1600" b="0" dirty="0">
                <a:latin typeface="Times New Roman" panose="02020603050405020304" pitchFamily="18" charset="0"/>
                <a:cs typeface="Times New Roman" panose="02020603050405020304" pitchFamily="18" charset="0"/>
              </a:rPr>
              <a:t>WHERE </a:t>
            </a:r>
            <a:r>
              <a:rPr lang="en-IN" sz="1600" b="0" dirty="0" err="1">
                <a:latin typeface="Times New Roman" panose="02020603050405020304" pitchFamily="18" charset="0"/>
                <a:cs typeface="Times New Roman" panose="02020603050405020304" pitchFamily="18" charset="0"/>
              </a:rPr>
              <a:t>result_status</a:t>
            </a:r>
            <a:r>
              <a:rPr lang="en-IN" sz="1600" b="0" dirty="0">
                <a:latin typeface="Times New Roman" panose="02020603050405020304" pitchFamily="18" charset="0"/>
                <a:cs typeface="Times New Roman" panose="02020603050405020304" pitchFamily="18" charset="0"/>
              </a:rPr>
              <a:t> = 'PASS';</a:t>
            </a:r>
          </a:p>
          <a:p>
            <a:endParaRPr lang="en-IN" sz="1600" b="0" dirty="0"/>
          </a:p>
        </p:txBody>
      </p:sp>
      <p:sp>
        <p:nvSpPr>
          <p:cNvPr id="10" name="Content Placeholder 9">
            <a:extLst>
              <a:ext uri="{FF2B5EF4-FFF2-40B4-BE49-F238E27FC236}">
                <a16:creationId xmlns:a16="http://schemas.microsoft.com/office/drawing/2014/main" id="{87602C72-10C7-5BE0-6132-3BECA6AD2F28}"/>
              </a:ext>
            </a:extLst>
          </p:cNvPr>
          <p:cNvSpPr>
            <a:spLocks noGrp="1"/>
          </p:cNvSpPr>
          <p:nvPr>
            <p:ph sz="half" idx="3"/>
          </p:nvPr>
        </p:nvSpPr>
        <p:spPr>
          <a:xfrm>
            <a:off x="5180076" y="1787652"/>
            <a:ext cx="4375404" cy="4431983"/>
          </a:xfrm>
        </p:spPr>
        <p:txBody>
          <a:bodyPr/>
          <a:lstStyle/>
          <a:p>
            <a:r>
              <a:rPr lang="en-IN" sz="1600" b="0" dirty="0">
                <a:latin typeface="Times New Roman" panose="02020603050405020304" pitchFamily="18" charset="0"/>
                <a:cs typeface="Times New Roman" panose="02020603050405020304" pitchFamily="18" charset="0"/>
              </a:rPr>
              <a:t>13. Display students who failed</a:t>
            </a:r>
          </a:p>
          <a:p>
            <a:pPr rtl="0"/>
            <a:r>
              <a:rPr lang="en-IN" sz="1600" b="0" dirty="0">
                <a:latin typeface="Times New Roman" panose="02020603050405020304" pitchFamily="18" charset="0"/>
                <a:cs typeface="Times New Roman" panose="02020603050405020304" pitchFamily="18" charset="0"/>
              </a:rPr>
              <a:t>SELECT *</a:t>
            </a:r>
          </a:p>
          <a:p>
            <a:pPr rtl="0"/>
            <a:r>
              <a:rPr lang="en-IN" sz="1600" b="0" dirty="0">
                <a:latin typeface="Times New Roman" panose="02020603050405020304" pitchFamily="18" charset="0"/>
                <a:cs typeface="Times New Roman" panose="02020603050405020304" pitchFamily="18" charset="0"/>
              </a:rPr>
              <a:t>FROM result</a:t>
            </a:r>
          </a:p>
          <a:p>
            <a:pPr rtl="0"/>
            <a:r>
              <a:rPr lang="en-IN" sz="1600" b="0" dirty="0">
                <a:latin typeface="Times New Roman" panose="02020603050405020304" pitchFamily="18" charset="0"/>
                <a:cs typeface="Times New Roman" panose="02020603050405020304" pitchFamily="18" charset="0"/>
              </a:rPr>
              <a:t>WHERE </a:t>
            </a:r>
            <a:r>
              <a:rPr lang="en-IN" sz="1600" b="0" dirty="0" err="1">
                <a:latin typeface="Times New Roman" panose="02020603050405020304" pitchFamily="18" charset="0"/>
                <a:cs typeface="Times New Roman" panose="02020603050405020304" pitchFamily="18" charset="0"/>
              </a:rPr>
              <a:t>result_status</a:t>
            </a:r>
            <a:r>
              <a:rPr lang="en-IN" sz="1600" b="0" dirty="0">
                <a:latin typeface="Times New Roman" panose="02020603050405020304" pitchFamily="18" charset="0"/>
                <a:cs typeface="Times New Roman" panose="02020603050405020304" pitchFamily="18" charset="0"/>
              </a:rPr>
              <a:t> = 'FAIL';</a:t>
            </a:r>
          </a:p>
          <a:p>
            <a:r>
              <a:rPr lang="en-IN" sz="1600" b="0" dirty="0">
                <a:latin typeface="Times New Roman" panose="02020603050405020304" pitchFamily="18" charset="0"/>
                <a:cs typeface="Times New Roman" panose="02020603050405020304" pitchFamily="18" charset="0"/>
              </a:rPr>
              <a:t>14. GROUP BY</a:t>
            </a:r>
          </a:p>
          <a:p>
            <a:pPr rtl="0"/>
            <a:r>
              <a:rPr lang="en-IN" sz="1600" b="0" dirty="0">
                <a:latin typeface="Times New Roman" panose="02020603050405020304" pitchFamily="18" charset="0"/>
                <a:cs typeface="Times New Roman" panose="02020603050405020304" pitchFamily="18" charset="0"/>
              </a:rPr>
              <a:t>SELECT </a:t>
            </a:r>
            <a:r>
              <a:rPr lang="en-IN" sz="1600" b="0" dirty="0" err="1">
                <a:latin typeface="Times New Roman" panose="02020603050405020304" pitchFamily="18" charset="0"/>
                <a:cs typeface="Times New Roman" panose="02020603050405020304" pitchFamily="18" charset="0"/>
              </a:rPr>
              <a:t>department_id</a:t>
            </a:r>
            <a:r>
              <a:rPr lang="en-IN" sz="1600" b="0" dirty="0">
                <a:latin typeface="Times New Roman" panose="02020603050405020304" pitchFamily="18" charset="0"/>
                <a:cs typeface="Times New Roman" panose="02020603050405020304" pitchFamily="18" charset="0"/>
              </a:rPr>
              <a:t>, COUNT(*) AS </a:t>
            </a:r>
            <a:r>
              <a:rPr lang="en-IN" sz="1600" b="0" dirty="0" err="1">
                <a:latin typeface="Times New Roman" panose="02020603050405020304" pitchFamily="18" charset="0"/>
                <a:cs typeface="Times New Roman" panose="02020603050405020304" pitchFamily="18" charset="0"/>
              </a:rPr>
              <a:t>total_students</a:t>
            </a:r>
            <a:endParaRPr lang="en-IN" sz="1600" b="0" dirty="0">
              <a:latin typeface="Times New Roman" panose="02020603050405020304" pitchFamily="18" charset="0"/>
              <a:cs typeface="Times New Roman" panose="02020603050405020304" pitchFamily="18" charset="0"/>
            </a:endParaRPr>
          </a:p>
          <a:p>
            <a:pPr rtl="0"/>
            <a:r>
              <a:rPr lang="en-IN" sz="1600" b="0" dirty="0">
                <a:latin typeface="Times New Roman" panose="02020603050405020304" pitchFamily="18" charset="0"/>
                <a:cs typeface="Times New Roman" panose="02020603050405020304" pitchFamily="18" charset="0"/>
              </a:rPr>
              <a:t>FROM student</a:t>
            </a:r>
          </a:p>
          <a:p>
            <a:pPr rtl="0"/>
            <a:r>
              <a:rPr lang="en-IN" sz="1600" b="0" dirty="0">
                <a:latin typeface="Times New Roman" panose="02020603050405020304" pitchFamily="18" charset="0"/>
                <a:cs typeface="Times New Roman" panose="02020603050405020304" pitchFamily="18" charset="0"/>
              </a:rPr>
              <a:t>GROUP BY </a:t>
            </a:r>
            <a:r>
              <a:rPr lang="en-IN" sz="1600" b="0" dirty="0" err="1">
                <a:latin typeface="Times New Roman" panose="02020603050405020304" pitchFamily="18" charset="0"/>
                <a:cs typeface="Times New Roman" panose="02020603050405020304" pitchFamily="18" charset="0"/>
              </a:rPr>
              <a:t>department_id</a:t>
            </a:r>
            <a:r>
              <a:rPr lang="en-IN" sz="1600" b="0" dirty="0">
                <a:latin typeface="Times New Roman" panose="02020603050405020304" pitchFamily="18" charset="0"/>
                <a:cs typeface="Times New Roman" panose="02020603050405020304" pitchFamily="18" charset="0"/>
              </a:rPr>
              <a:t>;</a:t>
            </a:r>
          </a:p>
          <a:p>
            <a:r>
              <a:rPr lang="en-IN" sz="1600" b="0" dirty="0">
                <a:latin typeface="Times New Roman" panose="02020603050405020304" pitchFamily="18" charset="0"/>
                <a:cs typeface="Times New Roman" panose="02020603050405020304" pitchFamily="18" charset="0"/>
              </a:rPr>
              <a:t>15. HAVING</a:t>
            </a:r>
          </a:p>
          <a:p>
            <a:pPr rtl="0"/>
            <a:r>
              <a:rPr lang="en-IN" sz="1600" b="0" dirty="0">
                <a:latin typeface="Times New Roman" panose="02020603050405020304" pitchFamily="18" charset="0"/>
                <a:cs typeface="Times New Roman" panose="02020603050405020304" pitchFamily="18" charset="0"/>
              </a:rPr>
              <a:t>SELECT </a:t>
            </a:r>
            <a:r>
              <a:rPr lang="en-IN" sz="1600" b="0" dirty="0" err="1">
                <a:latin typeface="Times New Roman" panose="02020603050405020304" pitchFamily="18" charset="0"/>
                <a:cs typeface="Times New Roman" panose="02020603050405020304" pitchFamily="18" charset="0"/>
              </a:rPr>
              <a:t>department_id</a:t>
            </a:r>
            <a:r>
              <a:rPr lang="en-IN" sz="1600" b="0" dirty="0">
                <a:latin typeface="Times New Roman" panose="02020603050405020304" pitchFamily="18" charset="0"/>
                <a:cs typeface="Times New Roman" panose="02020603050405020304" pitchFamily="18" charset="0"/>
              </a:rPr>
              <a:t>, COUNT(*) AS </a:t>
            </a:r>
            <a:r>
              <a:rPr lang="en-IN" sz="1600" b="0" dirty="0" err="1">
                <a:latin typeface="Times New Roman" panose="02020603050405020304" pitchFamily="18" charset="0"/>
                <a:cs typeface="Times New Roman" panose="02020603050405020304" pitchFamily="18" charset="0"/>
              </a:rPr>
              <a:t>total_students</a:t>
            </a:r>
            <a:endParaRPr lang="en-IN" sz="1600" b="0" dirty="0">
              <a:latin typeface="Times New Roman" panose="02020603050405020304" pitchFamily="18" charset="0"/>
              <a:cs typeface="Times New Roman" panose="02020603050405020304" pitchFamily="18" charset="0"/>
            </a:endParaRPr>
          </a:p>
          <a:p>
            <a:pPr rtl="0"/>
            <a:r>
              <a:rPr lang="en-IN" sz="1600" b="0" dirty="0">
                <a:latin typeface="Times New Roman" panose="02020603050405020304" pitchFamily="18" charset="0"/>
                <a:cs typeface="Times New Roman" panose="02020603050405020304" pitchFamily="18" charset="0"/>
              </a:rPr>
              <a:t>FROM student</a:t>
            </a:r>
          </a:p>
          <a:p>
            <a:pPr rtl="0"/>
            <a:r>
              <a:rPr lang="en-IN" sz="1600" b="0" dirty="0">
                <a:latin typeface="Times New Roman" panose="02020603050405020304" pitchFamily="18" charset="0"/>
                <a:cs typeface="Times New Roman" panose="02020603050405020304" pitchFamily="18" charset="0"/>
              </a:rPr>
              <a:t>GROUP BY </a:t>
            </a:r>
            <a:r>
              <a:rPr lang="en-IN" sz="1600" b="0" dirty="0" err="1">
                <a:latin typeface="Times New Roman" panose="02020603050405020304" pitchFamily="18" charset="0"/>
                <a:cs typeface="Times New Roman" panose="02020603050405020304" pitchFamily="18" charset="0"/>
              </a:rPr>
              <a:t>department_id</a:t>
            </a:r>
            <a:endParaRPr lang="en-IN" sz="1600" b="0" dirty="0">
              <a:latin typeface="Times New Roman" panose="02020603050405020304" pitchFamily="18" charset="0"/>
              <a:cs typeface="Times New Roman" panose="02020603050405020304" pitchFamily="18" charset="0"/>
            </a:endParaRPr>
          </a:p>
          <a:p>
            <a:pPr rtl="0"/>
            <a:r>
              <a:rPr lang="en-IN" sz="1600" b="0" dirty="0">
                <a:latin typeface="Times New Roman" panose="02020603050405020304" pitchFamily="18" charset="0"/>
                <a:cs typeface="Times New Roman" panose="02020603050405020304" pitchFamily="18" charset="0"/>
              </a:rPr>
              <a:t>HAVING COUNT(*) &gt; 2;</a:t>
            </a:r>
          </a:p>
          <a:p>
            <a:endParaRPr lang="en-IN" sz="1600" b="0" dirty="0">
              <a:latin typeface="Times New Roman" panose="02020603050405020304" pitchFamily="18" charset="0"/>
              <a:cs typeface="Times New Roman" panose="02020603050405020304" pitchFamily="18" charset="0"/>
            </a:endParaRPr>
          </a:p>
          <a:p>
            <a:endParaRPr lang="en-IN" sz="1600" b="0" dirty="0">
              <a:latin typeface="Times New Roman" panose="02020603050405020304" pitchFamily="18" charset="0"/>
              <a:cs typeface="Times New Roman" panose="02020603050405020304" pitchFamily="18" charset="0"/>
            </a:endParaRPr>
          </a:p>
          <a:p>
            <a:endParaRPr lang="en-IN" sz="1600" b="0" dirty="0"/>
          </a:p>
        </p:txBody>
      </p:sp>
    </p:spTree>
    <p:extLst>
      <p:ext uri="{BB962C8B-B14F-4D97-AF65-F5344CB8AC3E}">
        <p14:creationId xmlns:p14="http://schemas.microsoft.com/office/powerpoint/2010/main" val="971842821"/>
      </p:ext>
    </p:extLst>
  </p:cSld>
  <p:clrMapOvr>
    <a:masterClrMapping/>
  </p:clrMapOvr>
  <mc:AlternateContent xmlns:mc="http://schemas.openxmlformats.org/markup-compatibility/2006" xmlns:p14="http://schemas.microsoft.com/office/powerpoint/2010/main">
    <mc:Choice Requires="p14">
      <p:transition spd="slow" p14:dur="2000" advTm="2624"/>
    </mc:Choice>
    <mc:Fallback xmlns="">
      <p:transition spd="slow" advTm="262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02EA1-AB31-ACB3-E64B-07C3F40E3362}"/>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16FCD2AF-FA7A-FB09-6E2F-68420C6BE30E}"/>
              </a:ext>
            </a:extLst>
          </p:cNvPr>
          <p:cNvGrpSpPr/>
          <p:nvPr/>
        </p:nvGrpSpPr>
        <p:grpSpPr>
          <a:xfrm>
            <a:off x="2477248" y="141784"/>
            <a:ext cx="5103904" cy="1198311"/>
            <a:chOff x="2648188" y="47148"/>
            <a:chExt cx="5103904" cy="1198311"/>
          </a:xfrm>
        </p:grpSpPr>
        <p:pic>
          <p:nvPicPr>
            <p:cNvPr id="5" name="object 4">
              <a:extLst>
                <a:ext uri="{FF2B5EF4-FFF2-40B4-BE49-F238E27FC236}">
                  <a16:creationId xmlns:a16="http://schemas.microsoft.com/office/drawing/2014/main" id="{F89F4CA9-61F4-758E-C1FB-614B68312B66}"/>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541DC689-D163-610F-3D7E-03872E92F679}"/>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69E65D1-E418-C7EB-3D5F-404E58CF8F33}"/>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4BC07E76-C531-130F-7428-C4D4D857F66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7B44140B-7854-6A9D-9297-077DA0696523}"/>
              </a:ext>
            </a:extLst>
          </p:cNvPr>
          <p:cNvSpPr txBox="1"/>
          <p:nvPr/>
        </p:nvSpPr>
        <p:spPr>
          <a:xfrm>
            <a:off x="3805064" y="352412"/>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NORMALIZATION</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93563071-AD13-70D4-BFA8-D435E973BCDF}"/>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366A6EA7-3204-3F9E-35D7-3077133E5BC1}"/>
              </a:ext>
            </a:extLst>
          </p:cNvPr>
          <p:cNvSpPr txBox="1"/>
          <p:nvPr/>
        </p:nvSpPr>
        <p:spPr>
          <a:xfrm>
            <a:off x="780729" y="1797968"/>
            <a:ext cx="8318362" cy="2114490"/>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1. First Normal Form (1NF)</a:t>
            </a:r>
          </a:p>
          <a:p>
            <a:r>
              <a:rPr lang="en-IN" sz="2000" dirty="0">
                <a:latin typeface="Times New Roman" panose="02020603050405020304" pitchFamily="18" charset="0"/>
                <a:cs typeface="Times New Roman" panose="02020603050405020304" pitchFamily="18" charset="0"/>
              </a:rPr>
              <a:t>A table is in </a:t>
            </a:r>
            <a:r>
              <a:rPr lang="en-IN" sz="2000" b="1" dirty="0">
                <a:latin typeface="Times New Roman" panose="02020603050405020304" pitchFamily="18" charset="0"/>
                <a:cs typeface="Times New Roman" panose="02020603050405020304" pitchFamily="18" charset="0"/>
              </a:rPr>
              <a:t>1NF</a:t>
            </a:r>
            <a:r>
              <a:rPr lang="en-IN" sz="2000" dirty="0">
                <a:latin typeface="Times New Roman" panose="02020603050405020304" pitchFamily="18" charset="0"/>
                <a:cs typeface="Times New Roman" panose="02020603050405020304" pitchFamily="18" charset="0"/>
              </a:rPr>
              <a:t> when:</a:t>
            </a:r>
          </a:p>
          <a:p>
            <a:pPr lvl="0"/>
            <a:r>
              <a:rPr lang="en-IN" sz="2000" dirty="0">
                <a:latin typeface="Times New Roman" panose="02020603050405020304" pitchFamily="18" charset="0"/>
                <a:cs typeface="Times New Roman" panose="02020603050405020304" pitchFamily="18" charset="0"/>
              </a:rPr>
              <a:t>Each column contains a single/atomic value. </a:t>
            </a:r>
          </a:p>
          <a:p>
            <a:pPr lvl="0"/>
            <a:r>
              <a:rPr lang="en-IN" sz="2000" dirty="0">
                <a:latin typeface="Times New Roman" panose="02020603050405020304" pitchFamily="18" charset="0"/>
                <a:cs typeface="Times New Roman" panose="02020603050405020304" pitchFamily="18" charset="0"/>
              </a:rPr>
              <a:t>There are no repeating groups. </a:t>
            </a:r>
          </a:p>
          <a:p>
            <a:pPr lvl="0"/>
            <a:r>
              <a:rPr lang="en-IN" sz="2000" dirty="0">
                <a:latin typeface="Times New Roman" panose="02020603050405020304" pitchFamily="18" charset="0"/>
                <a:cs typeface="Times New Roman" panose="02020603050405020304" pitchFamily="18" charset="0"/>
              </a:rPr>
              <a:t>Each row can be uniquely identified.</a:t>
            </a:r>
          </a:p>
          <a:p>
            <a:pPr marL="342900" indent="-342900" algn="just">
              <a:lnSpc>
                <a:spcPct val="150000"/>
              </a:lnSpc>
              <a:spcBef>
                <a:spcPts val="600"/>
              </a:spcBef>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7CFD1436-8F59-4280-4A9D-6DC9FD0F81F9}"/>
              </a:ext>
            </a:extLst>
          </p:cNvPr>
          <p:cNvGraphicFramePr>
            <a:graphicFrameLocks noGrp="1"/>
          </p:cNvGraphicFramePr>
          <p:nvPr>
            <p:extLst>
              <p:ext uri="{D42A27DB-BD31-4B8C-83A1-F6EECF244321}">
                <p14:modId xmlns:p14="http://schemas.microsoft.com/office/powerpoint/2010/main" val="561947027"/>
              </p:ext>
            </p:extLst>
          </p:nvPr>
        </p:nvGraphicFramePr>
        <p:xfrm>
          <a:off x="620713" y="3694152"/>
          <a:ext cx="8948736" cy="2496303"/>
        </p:xfrm>
        <a:graphic>
          <a:graphicData uri="http://schemas.openxmlformats.org/drawingml/2006/table">
            <a:tbl>
              <a:tblPr>
                <a:tableStyleId>{5C22544A-7EE6-4342-B048-85BDC9FD1C3A}</a:tableStyleId>
              </a:tblPr>
              <a:tblGrid>
                <a:gridCol w="1491456">
                  <a:extLst>
                    <a:ext uri="{9D8B030D-6E8A-4147-A177-3AD203B41FA5}">
                      <a16:colId xmlns:a16="http://schemas.microsoft.com/office/drawing/2014/main" val="2511144007"/>
                    </a:ext>
                  </a:extLst>
                </a:gridCol>
                <a:gridCol w="1491456">
                  <a:extLst>
                    <a:ext uri="{9D8B030D-6E8A-4147-A177-3AD203B41FA5}">
                      <a16:colId xmlns:a16="http://schemas.microsoft.com/office/drawing/2014/main" val="310312054"/>
                    </a:ext>
                  </a:extLst>
                </a:gridCol>
                <a:gridCol w="1491456">
                  <a:extLst>
                    <a:ext uri="{9D8B030D-6E8A-4147-A177-3AD203B41FA5}">
                      <a16:colId xmlns:a16="http://schemas.microsoft.com/office/drawing/2014/main" val="1864322133"/>
                    </a:ext>
                  </a:extLst>
                </a:gridCol>
                <a:gridCol w="1491456">
                  <a:extLst>
                    <a:ext uri="{9D8B030D-6E8A-4147-A177-3AD203B41FA5}">
                      <a16:colId xmlns:a16="http://schemas.microsoft.com/office/drawing/2014/main" val="1963712345"/>
                    </a:ext>
                  </a:extLst>
                </a:gridCol>
                <a:gridCol w="1491456">
                  <a:extLst>
                    <a:ext uri="{9D8B030D-6E8A-4147-A177-3AD203B41FA5}">
                      <a16:colId xmlns:a16="http://schemas.microsoft.com/office/drawing/2014/main" val="1218663561"/>
                    </a:ext>
                  </a:extLst>
                </a:gridCol>
                <a:gridCol w="1491456">
                  <a:extLst>
                    <a:ext uri="{9D8B030D-6E8A-4147-A177-3AD203B41FA5}">
                      <a16:colId xmlns:a16="http://schemas.microsoft.com/office/drawing/2014/main" val="1288506538"/>
                    </a:ext>
                  </a:extLst>
                </a:gridCol>
              </a:tblGrid>
              <a:tr h="832101">
                <a:tc>
                  <a:txBody>
                    <a:bodyPr/>
                    <a:lstStyle/>
                    <a:p>
                      <a:pPr>
                        <a:buNone/>
                      </a:pPr>
                      <a:r>
                        <a:rPr lang="en-IN" dirty="0" err="1">
                          <a:latin typeface="Times New Roman" panose="02020603050405020304" pitchFamily="18" charset="0"/>
                          <a:cs typeface="Times New Roman" panose="02020603050405020304" pitchFamily="18" charset="0"/>
                        </a:rPr>
                        <a:t>student_id</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student_name</a:t>
                      </a:r>
                    </a:p>
                  </a:txBody>
                  <a:tcPr anchor="ctr"/>
                </a:tc>
                <a:tc>
                  <a:txBody>
                    <a:bodyPr/>
                    <a:lstStyle/>
                    <a:p>
                      <a:pPr>
                        <a:buNone/>
                      </a:pPr>
                      <a:r>
                        <a:rPr lang="en-IN">
                          <a:latin typeface="Times New Roman" panose="02020603050405020304" pitchFamily="18" charset="0"/>
                          <a:cs typeface="Times New Roman" panose="02020603050405020304" pitchFamily="18" charset="0"/>
                        </a:rPr>
                        <a:t>gender</a:t>
                      </a:r>
                    </a:p>
                  </a:txBody>
                  <a:tcPr anchor="ctr"/>
                </a:tc>
                <a:tc>
                  <a:txBody>
                    <a:bodyPr/>
                    <a:lstStyle/>
                    <a:p>
                      <a:pPr>
                        <a:buNone/>
                      </a:pPr>
                      <a:r>
                        <a:rPr lang="en-IN">
                          <a:latin typeface="Times New Roman" panose="02020603050405020304" pitchFamily="18" charset="0"/>
                          <a:cs typeface="Times New Roman" panose="02020603050405020304" pitchFamily="18" charset="0"/>
                        </a:rPr>
                        <a:t>phone</a:t>
                      </a:r>
                    </a:p>
                  </a:txBody>
                  <a:tcPr anchor="ctr"/>
                </a:tc>
                <a:tc>
                  <a:txBody>
                    <a:bodyPr/>
                    <a:lstStyle/>
                    <a:p>
                      <a:pPr>
                        <a:buNone/>
                      </a:pPr>
                      <a:r>
                        <a:rPr lang="en-IN">
                          <a:latin typeface="Times New Roman" panose="02020603050405020304" pitchFamily="18" charset="0"/>
                          <a:cs typeface="Times New Roman" panose="02020603050405020304" pitchFamily="18" charset="0"/>
                        </a:rPr>
                        <a:t>email</a:t>
                      </a:r>
                    </a:p>
                  </a:txBody>
                  <a:tcPr anchor="ctr"/>
                </a:tc>
                <a:tc>
                  <a:txBody>
                    <a:bodyPr/>
                    <a:lstStyle/>
                    <a:p>
                      <a:pPr>
                        <a:buNone/>
                      </a:pPr>
                      <a:r>
                        <a:rPr lang="en-IN">
                          <a:latin typeface="Times New Roman" panose="02020603050405020304" pitchFamily="18" charset="0"/>
                          <a:cs typeface="Times New Roman" panose="02020603050405020304" pitchFamily="18" charset="0"/>
                        </a:rPr>
                        <a:t>department_id</a:t>
                      </a:r>
                    </a:p>
                  </a:txBody>
                  <a:tcPr anchor="ctr"/>
                </a:tc>
                <a:extLst>
                  <a:ext uri="{0D108BD9-81ED-4DB2-BD59-A6C34878D82A}">
                    <a16:rowId xmlns:a16="http://schemas.microsoft.com/office/drawing/2014/main" val="4223648778"/>
                  </a:ext>
                </a:extLst>
              </a:tr>
              <a:tr h="832101">
                <a:tc>
                  <a:txBody>
                    <a:bodyPr/>
                    <a:lstStyle/>
                    <a:p>
                      <a:pPr>
                        <a:buNone/>
                      </a:pPr>
                      <a:r>
                        <a:rPr lang="en-IN" dirty="0">
                          <a:latin typeface="Times New Roman" panose="02020603050405020304" pitchFamily="18" charset="0"/>
                          <a:cs typeface="Times New Roman" panose="02020603050405020304" pitchFamily="18" charset="0"/>
                        </a:rPr>
                        <a:t>101</a:t>
                      </a:r>
                    </a:p>
                  </a:txBody>
                  <a:tcPr anchor="ctr"/>
                </a:tc>
                <a:tc>
                  <a:txBody>
                    <a:bodyPr/>
                    <a:lstStyle/>
                    <a:p>
                      <a:pPr>
                        <a:buNone/>
                      </a:pPr>
                      <a:r>
                        <a:rPr lang="en-IN">
                          <a:latin typeface="Times New Roman" panose="02020603050405020304" pitchFamily="18" charset="0"/>
                          <a:cs typeface="Times New Roman" panose="02020603050405020304" pitchFamily="18" charset="0"/>
                        </a:rPr>
                        <a:t>Amrutha</a:t>
                      </a:r>
                    </a:p>
                  </a:txBody>
                  <a:tcPr anchor="ctr"/>
                </a:tc>
                <a:tc>
                  <a:txBody>
                    <a:bodyPr/>
                    <a:lstStyle/>
                    <a:p>
                      <a:pPr>
                        <a:buNone/>
                      </a:pPr>
                      <a:r>
                        <a:rPr lang="en-IN">
                          <a:latin typeface="Times New Roman" panose="02020603050405020304" pitchFamily="18" charset="0"/>
                          <a:cs typeface="Times New Roman" panose="02020603050405020304" pitchFamily="18" charset="0"/>
                        </a:rPr>
                        <a:t>Female</a:t>
                      </a:r>
                    </a:p>
                  </a:txBody>
                  <a:tcPr anchor="ctr"/>
                </a:tc>
                <a:tc>
                  <a:txBody>
                    <a:bodyPr/>
                    <a:lstStyle/>
                    <a:p>
                      <a:pPr>
                        <a:buNone/>
                      </a:pPr>
                      <a:r>
                        <a:rPr lang="en-IN">
                          <a:latin typeface="Times New Roman" panose="02020603050405020304" pitchFamily="18" charset="0"/>
                          <a:cs typeface="Times New Roman" panose="02020603050405020304" pitchFamily="18" charset="0"/>
                        </a:rPr>
                        <a:t>9000000001</a:t>
                      </a:r>
                    </a:p>
                  </a:txBody>
                  <a:tcPr anchor="ctr"/>
                </a:tc>
                <a:tc>
                  <a:txBody>
                    <a:bodyPr/>
                    <a:lstStyle/>
                    <a:p>
                      <a:pPr>
                        <a:buNone/>
                      </a:pPr>
                      <a:r>
                        <a:rPr lang="en-IN">
                          <a:latin typeface="Times New Roman" panose="02020603050405020304" pitchFamily="18" charset="0"/>
                          <a:cs typeface="Times New Roman" panose="02020603050405020304" pitchFamily="18" charset="0"/>
                          <a:hlinkClick r:id="rId6"/>
                        </a:rPr>
                        <a:t>amrutha@university.edu</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1</a:t>
                      </a:r>
                    </a:p>
                  </a:txBody>
                  <a:tcPr anchor="ctr"/>
                </a:tc>
                <a:extLst>
                  <a:ext uri="{0D108BD9-81ED-4DB2-BD59-A6C34878D82A}">
                    <a16:rowId xmlns:a16="http://schemas.microsoft.com/office/drawing/2014/main" val="3696751021"/>
                  </a:ext>
                </a:extLst>
              </a:tr>
              <a:tr h="832101">
                <a:tc>
                  <a:txBody>
                    <a:bodyPr/>
                    <a:lstStyle/>
                    <a:p>
                      <a:pPr>
                        <a:buNone/>
                      </a:pPr>
                      <a:r>
                        <a:rPr lang="en-IN">
                          <a:latin typeface="Times New Roman" panose="02020603050405020304" pitchFamily="18" charset="0"/>
                          <a:cs typeface="Times New Roman" panose="02020603050405020304" pitchFamily="18" charset="0"/>
                        </a:rPr>
                        <a:t>102</a:t>
                      </a:r>
                    </a:p>
                  </a:txBody>
                  <a:tcPr anchor="ctr"/>
                </a:tc>
                <a:tc>
                  <a:txBody>
                    <a:bodyPr/>
                    <a:lstStyle/>
                    <a:p>
                      <a:pPr>
                        <a:buNone/>
                      </a:pPr>
                      <a:r>
                        <a:rPr lang="en-IN">
                          <a:latin typeface="Times New Roman" panose="02020603050405020304" pitchFamily="18" charset="0"/>
                          <a:cs typeface="Times New Roman" panose="02020603050405020304" pitchFamily="18" charset="0"/>
                        </a:rPr>
                        <a:t>Rahul</a:t>
                      </a:r>
                    </a:p>
                  </a:txBody>
                  <a:tcPr anchor="ctr"/>
                </a:tc>
                <a:tc>
                  <a:txBody>
                    <a:bodyPr/>
                    <a:lstStyle/>
                    <a:p>
                      <a:pPr>
                        <a:buNone/>
                      </a:pPr>
                      <a:r>
                        <a:rPr lang="en-IN" dirty="0">
                          <a:latin typeface="Times New Roman" panose="02020603050405020304" pitchFamily="18" charset="0"/>
                          <a:cs typeface="Times New Roman" panose="02020603050405020304" pitchFamily="18" charset="0"/>
                        </a:rPr>
                        <a:t>Male</a:t>
                      </a:r>
                    </a:p>
                  </a:txBody>
                  <a:tcPr anchor="ctr"/>
                </a:tc>
                <a:tc>
                  <a:txBody>
                    <a:bodyPr/>
                    <a:lstStyle/>
                    <a:p>
                      <a:pPr>
                        <a:buNone/>
                      </a:pPr>
                      <a:r>
                        <a:rPr lang="en-IN" dirty="0">
                          <a:latin typeface="Times New Roman" panose="02020603050405020304" pitchFamily="18" charset="0"/>
                          <a:cs typeface="Times New Roman" panose="02020603050405020304" pitchFamily="18" charset="0"/>
                        </a:rPr>
                        <a:t>9000000002</a:t>
                      </a:r>
                    </a:p>
                  </a:txBody>
                  <a:tcPr anchor="ctr"/>
                </a:tc>
                <a:tc>
                  <a:txBody>
                    <a:bodyPr/>
                    <a:lstStyle/>
                    <a:p>
                      <a:pPr>
                        <a:buNone/>
                      </a:pPr>
                      <a:r>
                        <a:rPr lang="en-IN">
                          <a:latin typeface="Times New Roman" panose="02020603050405020304" pitchFamily="18" charset="0"/>
                          <a:cs typeface="Times New Roman" panose="02020603050405020304" pitchFamily="18" charset="0"/>
                          <a:hlinkClick r:id="rId7"/>
                        </a:rPr>
                        <a:t>rahul@university.edu</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2</a:t>
                      </a:r>
                    </a:p>
                  </a:txBody>
                  <a:tcPr anchor="ctr"/>
                </a:tc>
                <a:extLst>
                  <a:ext uri="{0D108BD9-81ED-4DB2-BD59-A6C34878D82A}">
                    <a16:rowId xmlns:a16="http://schemas.microsoft.com/office/drawing/2014/main" val="1412413909"/>
                  </a:ext>
                </a:extLst>
              </a:tr>
            </a:tbl>
          </a:graphicData>
        </a:graphic>
      </p:graphicFrame>
    </p:spTree>
    <p:extLst>
      <p:ext uri="{BB962C8B-B14F-4D97-AF65-F5344CB8AC3E}">
        <p14:creationId xmlns:p14="http://schemas.microsoft.com/office/powerpoint/2010/main" val="2997505075"/>
      </p:ext>
    </p:extLst>
  </p:cSld>
  <p:clrMapOvr>
    <a:masterClrMapping/>
  </p:clrMapOvr>
  <mc:AlternateContent xmlns:mc="http://schemas.openxmlformats.org/markup-compatibility/2006" xmlns:p14="http://schemas.microsoft.com/office/powerpoint/2010/main">
    <mc:Choice Requires="p14">
      <p:transition spd="slow" p14:dur="2000" advTm="2624"/>
    </mc:Choice>
    <mc:Fallback xmlns="">
      <p:transition spd="slow" advTm="262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51E37-3A50-8879-C20C-72A2125A126F}"/>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38CA4D1B-67EE-4120-7947-DBEFD8F290D8}"/>
              </a:ext>
            </a:extLst>
          </p:cNvPr>
          <p:cNvGrpSpPr/>
          <p:nvPr/>
        </p:nvGrpSpPr>
        <p:grpSpPr>
          <a:xfrm>
            <a:off x="2477248" y="141784"/>
            <a:ext cx="5103904" cy="1198311"/>
            <a:chOff x="2648188" y="47148"/>
            <a:chExt cx="5103904" cy="1198311"/>
          </a:xfrm>
        </p:grpSpPr>
        <p:pic>
          <p:nvPicPr>
            <p:cNvPr id="5" name="object 4">
              <a:extLst>
                <a:ext uri="{FF2B5EF4-FFF2-40B4-BE49-F238E27FC236}">
                  <a16:creationId xmlns:a16="http://schemas.microsoft.com/office/drawing/2014/main" id="{C9427242-8AB6-31E4-8899-16CBD0C201B1}"/>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2BE9413C-0E50-561C-7DC9-654CC1206CE6}"/>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AED08BFD-BFA7-6CDF-6539-36BAF46968D2}"/>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A41D0927-4D51-C301-E99B-62198C8177F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ABA3370-8D81-732D-D46D-B17533E802E0}"/>
              </a:ext>
            </a:extLst>
          </p:cNvPr>
          <p:cNvSpPr txBox="1"/>
          <p:nvPr/>
        </p:nvSpPr>
        <p:spPr>
          <a:xfrm>
            <a:off x="3805064" y="352412"/>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NORMALIZATION</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DAECFD6E-6EBE-1545-F6E3-ACC3F19C9E3E}"/>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34B0B6D6-037C-69FB-AB58-B617723872D5}"/>
              </a:ext>
            </a:extLst>
          </p:cNvPr>
          <p:cNvSpPr txBox="1"/>
          <p:nvPr/>
        </p:nvSpPr>
        <p:spPr>
          <a:xfrm>
            <a:off x="791438" y="1032087"/>
            <a:ext cx="8318362" cy="2730043"/>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2. Second Normal Form (2NF)</a:t>
            </a:r>
          </a:p>
          <a:p>
            <a:r>
              <a:rPr lang="en-IN" sz="2000" dirty="0">
                <a:latin typeface="Times New Roman" panose="02020603050405020304" pitchFamily="18" charset="0"/>
                <a:cs typeface="Times New Roman" panose="02020603050405020304" pitchFamily="18" charset="0"/>
              </a:rPr>
              <a:t>A table is in </a:t>
            </a:r>
            <a:r>
              <a:rPr lang="en-IN" sz="2000" b="1" dirty="0">
                <a:latin typeface="Times New Roman" panose="02020603050405020304" pitchFamily="18" charset="0"/>
                <a:cs typeface="Times New Roman" panose="02020603050405020304" pitchFamily="18" charset="0"/>
              </a:rPr>
              <a:t>2NF</a:t>
            </a:r>
            <a:r>
              <a:rPr lang="en-IN" sz="2000" dirty="0">
                <a:latin typeface="Times New Roman" panose="02020603050405020304" pitchFamily="18" charset="0"/>
                <a:cs typeface="Times New Roman" panose="02020603050405020304" pitchFamily="18" charset="0"/>
              </a:rPr>
              <a:t> when:</a:t>
            </a:r>
          </a:p>
          <a:p>
            <a:pPr lvl="0"/>
            <a:r>
              <a:rPr lang="en-IN" sz="2000" dirty="0">
                <a:latin typeface="Times New Roman" panose="02020603050405020304" pitchFamily="18" charset="0"/>
                <a:cs typeface="Times New Roman" panose="02020603050405020304" pitchFamily="18" charset="0"/>
              </a:rPr>
              <a:t>It is already in 1NF. </a:t>
            </a:r>
          </a:p>
          <a:p>
            <a:pPr lvl="0"/>
            <a:r>
              <a:rPr lang="en-IN" sz="2000" dirty="0">
                <a:latin typeface="Times New Roman" panose="02020603050405020304" pitchFamily="18" charset="0"/>
                <a:cs typeface="Times New Roman" panose="02020603050405020304" pitchFamily="18" charset="0"/>
              </a:rPr>
              <a:t>There is no partial dependency on part of a composite key. </a:t>
            </a:r>
          </a:p>
          <a:p>
            <a:r>
              <a:rPr lang="en-IN" sz="2000" dirty="0">
                <a:latin typeface="Times New Roman" panose="02020603050405020304" pitchFamily="18" charset="0"/>
                <a:cs typeface="Times New Roman" panose="02020603050405020304" pitchFamily="18" charset="0"/>
              </a:rPr>
              <a:t>Your system separates many-to-many relationships into separate tables.</a:t>
            </a:r>
          </a:p>
          <a:p>
            <a:r>
              <a:rPr lang="en-IN" sz="2000" dirty="0">
                <a:latin typeface="Times New Roman" panose="02020603050405020304" pitchFamily="18" charset="0"/>
                <a:cs typeface="Times New Roman" panose="02020603050405020304" pitchFamily="18" charset="0"/>
              </a:rPr>
              <a:t>For example, students can </a:t>
            </a:r>
            <a:r>
              <a:rPr lang="en-IN" sz="2000" dirty="0" err="1">
                <a:latin typeface="Times New Roman" panose="02020603050405020304" pitchFamily="18" charset="0"/>
                <a:cs typeface="Times New Roman" panose="02020603050405020304" pitchFamily="18" charset="0"/>
              </a:rPr>
              <a:t>enroll</a:t>
            </a:r>
            <a:r>
              <a:rPr lang="en-IN" sz="2000" dirty="0">
                <a:latin typeface="Times New Roman" panose="02020603050405020304" pitchFamily="18" charset="0"/>
                <a:cs typeface="Times New Roman" panose="02020603050405020304" pitchFamily="18" charset="0"/>
              </a:rPr>
              <a:t> in multiple courses. Instead of storing several courses inside the student table, you have an </a:t>
            </a:r>
            <a:r>
              <a:rPr lang="en-IN" sz="2000" dirty="0" err="1">
                <a:latin typeface="Times New Roman" panose="02020603050405020304" pitchFamily="18" charset="0"/>
                <a:cs typeface="Times New Roman" panose="02020603050405020304" pitchFamily="18" charset="0"/>
              </a:rPr>
              <a:t>enrollment</a:t>
            </a:r>
            <a:r>
              <a:rPr lang="en-IN" sz="2000" dirty="0">
                <a:latin typeface="Times New Roman" panose="02020603050405020304" pitchFamily="18" charset="0"/>
                <a:cs typeface="Times New Roman" panose="02020603050405020304" pitchFamily="18" charset="0"/>
              </a:rPr>
              <a:t> table:</a:t>
            </a:r>
          </a:p>
          <a:p>
            <a:pPr marL="342900" indent="-342900" algn="just">
              <a:lnSpc>
                <a:spcPct val="150000"/>
              </a:lnSpc>
              <a:spcBef>
                <a:spcPts val="600"/>
              </a:spcBef>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637A8F14-FCDF-260C-11EE-8BA4C47D04F1}"/>
              </a:ext>
            </a:extLst>
          </p:cNvPr>
          <p:cNvGraphicFramePr>
            <a:graphicFrameLocks noGrp="1"/>
          </p:cNvGraphicFramePr>
          <p:nvPr>
            <p:extLst>
              <p:ext uri="{D42A27DB-BD31-4B8C-83A1-F6EECF244321}">
                <p14:modId xmlns:p14="http://schemas.microsoft.com/office/powerpoint/2010/main" val="1580306809"/>
              </p:ext>
            </p:extLst>
          </p:nvPr>
        </p:nvGraphicFramePr>
        <p:xfrm>
          <a:off x="620713" y="3694152"/>
          <a:ext cx="8948736" cy="3328404"/>
        </p:xfrm>
        <a:graphic>
          <a:graphicData uri="http://schemas.openxmlformats.org/drawingml/2006/table">
            <a:tbl>
              <a:tblPr>
                <a:tableStyleId>{5C22544A-7EE6-4342-B048-85BDC9FD1C3A}</a:tableStyleId>
              </a:tblPr>
              <a:tblGrid>
                <a:gridCol w="1491456">
                  <a:extLst>
                    <a:ext uri="{9D8B030D-6E8A-4147-A177-3AD203B41FA5}">
                      <a16:colId xmlns:a16="http://schemas.microsoft.com/office/drawing/2014/main" val="2511144007"/>
                    </a:ext>
                  </a:extLst>
                </a:gridCol>
                <a:gridCol w="1491456">
                  <a:extLst>
                    <a:ext uri="{9D8B030D-6E8A-4147-A177-3AD203B41FA5}">
                      <a16:colId xmlns:a16="http://schemas.microsoft.com/office/drawing/2014/main" val="310312054"/>
                    </a:ext>
                  </a:extLst>
                </a:gridCol>
                <a:gridCol w="1491456">
                  <a:extLst>
                    <a:ext uri="{9D8B030D-6E8A-4147-A177-3AD203B41FA5}">
                      <a16:colId xmlns:a16="http://schemas.microsoft.com/office/drawing/2014/main" val="1864322133"/>
                    </a:ext>
                  </a:extLst>
                </a:gridCol>
                <a:gridCol w="1491456">
                  <a:extLst>
                    <a:ext uri="{9D8B030D-6E8A-4147-A177-3AD203B41FA5}">
                      <a16:colId xmlns:a16="http://schemas.microsoft.com/office/drawing/2014/main" val="1963712345"/>
                    </a:ext>
                  </a:extLst>
                </a:gridCol>
                <a:gridCol w="1491456">
                  <a:extLst>
                    <a:ext uri="{9D8B030D-6E8A-4147-A177-3AD203B41FA5}">
                      <a16:colId xmlns:a16="http://schemas.microsoft.com/office/drawing/2014/main" val="1218663561"/>
                    </a:ext>
                  </a:extLst>
                </a:gridCol>
                <a:gridCol w="1491456">
                  <a:extLst>
                    <a:ext uri="{9D8B030D-6E8A-4147-A177-3AD203B41FA5}">
                      <a16:colId xmlns:a16="http://schemas.microsoft.com/office/drawing/2014/main" val="1288506538"/>
                    </a:ext>
                  </a:extLst>
                </a:gridCol>
              </a:tblGrid>
              <a:tr h="832101">
                <a:tc>
                  <a:txBody>
                    <a:bodyPr/>
                    <a:lstStyle/>
                    <a:p>
                      <a:pPr>
                        <a:buNone/>
                      </a:pPr>
                      <a:r>
                        <a:rPr lang="en-IN" dirty="0" err="1">
                          <a:latin typeface="Times New Roman" panose="02020603050405020304" pitchFamily="18" charset="0"/>
                          <a:cs typeface="Times New Roman" panose="02020603050405020304" pitchFamily="18" charset="0"/>
                        </a:rPr>
                        <a:t>enrollment_id</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IN">
                          <a:latin typeface="Times New Roman" panose="02020603050405020304" pitchFamily="18" charset="0"/>
                          <a:cs typeface="Times New Roman" panose="02020603050405020304" pitchFamily="18" charset="0"/>
                        </a:rPr>
                        <a:t>student_id</a:t>
                      </a:r>
                    </a:p>
                  </a:txBody>
                  <a:tcPr anchor="ctr"/>
                </a:tc>
                <a:tc>
                  <a:txBody>
                    <a:bodyPr/>
                    <a:lstStyle/>
                    <a:p>
                      <a:pPr>
                        <a:buNone/>
                      </a:pPr>
                      <a:r>
                        <a:rPr lang="en-IN">
                          <a:latin typeface="Times New Roman" panose="02020603050405020304" pitchFamily="18" charset="0"/>
                          <a:cs typeface="Times New Roman" panose="02020603050405020304" pitchFamily="18" charset="0"/>
                        </a:rPr>
                        <a:t>course_id</a:t>
                      </a:r>
                    </a:p>
                  </a:txBody>
                  <a:tcPr anchor="ctr"/>
                </a:tc>
                <a:tc>
                  <a:txBody>
                    <a:bodyPr/>
                    <a:lstStyle/>
                    <a:p>
                      <a:pPr>
                        <a:buNone/>
                      </a:pPr>
                      <a:r>
                        <a:rPr lang="en-IN">
                          <a:latin typeface="Times New Roman" panose="02020603050405020304" pitchFamily="18" charset="0"/>
                          <a:cs typeface="Times New Roman" panose="02020603050405020304" pitchFamily="18" charset="0"/>
                        </a:rPr>
                        <a:t>academic_year</a:t>
                      </a:r>
                    </a:p>
                  </a:txBody>
                  <a:tcPr anchor="ctr"/>
                </a:tc>
                <a:tc>
                  <a:txBody>
                    <a:bodyPr/>
                    <a:lstStyle/>
                    <a:p>
                      <a:pPr>
                        <a:buNone/>
                      </a:pPr>
                      <a:r>
                        <a:rPr lang="en-IN">
                          <a:latin typeface="Times New Roman" panose="02020603050405020304" pitchFamily="18" charset="0"/>
                          <a:cs typeface="Times New Roman" panose="02020603050405020304" pitchFamily="18" charset="0"/>
                        </a:rPr>
                        <a:t>semester</a:t>
                      </a:r>
                    </a:p>
                  </a:txBody>
                  <a:tcPr anchor="ctr"/>
                </a:tc>
                <a:tc>
                  <a:txBody>
                    <a:bodyPr/>
                    <a:lstStyle/>
                    <a:p>
                      <a:pPr>
                        <a:buNone/>
                      </a:pP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23648778"/>
                  </a:ext>
                </a:extLst>
              </a:tr>
              <a:tr h="832101">
                <a:tc>
                  <a:txBody>
                    <a:bodyPr/>
                    <a:lstStyle/>
                    <a:p>
                      <a:pPr>
                        <a:buNone/>
                      </a:pPr>
                      <a:r>
                        <a:rPr lang="en-IN">
                          <a:latin typeface="Times New Roman" panose="02020603050405020304" pitchFamily="18" charset="0"/>
                          <a:cs typeface="Times New Roman" panose="02020603050405020304" pitchFamily="18" charset="0"/>
                        </a:rPr>
                        <a:t>1</a:t>
                      </a:r>
                    </a:p>
                  </a:txBody>
                  <a:tcPr anchor="ctr"/>
                </a:tc>
                <a:tc>
                  <a:txBody>
                    <a:bodyPr/>
                    <a:lstStyle/>
                    <a:p>
                      <a:pPr>
                        <a:buNone/>
                      </a:pPr>
                      <a:r>
                        <a:rPr lang="en-IN" dirty="0">
                          <a:latin typeface="Times New Roman" panose="02020603050405020304" pitchFamily="18" charset="0"/>
                          <a:cs typeface="Times New Roman" panose="02020603050405020304" pitchFamily="18" charset="0"/>
                        </a:rPr>
                        <a:t>101</a:t>
                      </a:r>
                    </a:p>
                  </a:txBody>
                  <a:tcPr anchor="ctr"/>
                </a:tc>
                <a:tc>
                  <a:txBody>
                    <a:bodyPr/>
                    <a:lstStyle/>
                    <a:p>
                      <a:pPr>
                        <a:buNone/>
                      </a:pPr>
                      <a:r>
                        <a:rPr lang="en-IN">
                          <a:latin typeface="Times New Roman" panose="02020603050405020304" pitchFamily="18" charset="0"/>
                          <a:cs typeface="Times New Roman" panose="02020603050405020304" pitchFamily="18" charset="0"/>
                        </a:rPr>
                        <a:t>1</a:t>
                      </a:r>
                    </a:p>
                  </a:txBody>
                  <a:tcPr anchor="ctr"/>
                </a:tc>
                <a:tc>
                  <a:txBody>
                    <a:bodyPr/>
                    <a:lstStyle/>
                    <a:p>
                      <a:pPr>
                        <a:buNone/>
                      </a:pPr>
                      <a:r>
                        <a:rPr lang="en-IN">
                          <a:latin typeface="Times New Roman" panose="02020603050405020304" pitchFamily="18" charset="0"/>
                          <a:cs typeface="Times New Roman" panose="02020603050405020304" pitchFamily="18" charset="0"/>
                        </a:rPr>
                        <a:t>2026-27</a:t>
                      </a:r>
                    </a:p>
                  </a:txBody>
                  <a:tcPr anchor="ctr"/>
                </a:tc>
                <a:tc>
                  <a:txBody>
                    <a:bodyPr/>
                    <a:lstStyle/>
                    <a:p>
                      <a:pPr>
                        <a:buNone/>
                      </a:pPr>
                      <a:r>
                        <a:rPr lang="en-IN">
                          <a:latin typeface="Times New Roman" panose="02020603050405020304" pitchFamily="18" charset="0"/>
                          <a:cs typeface="Times New Roman" panose="02020603050405020304" pitchFamily="18" charset="0"/>
                        </a:rPr>
                        <a:t>3</a:t>
                      </a:r>
                    </a:p>
                  </a:txBody>
                  <a:tcPr anchor="ctr"/>
                </a:tc>
                <a:tc>
                  <a:txBody>
                    <a:bodyPr/>
                    <a:lstStyle/>
                    <a:p>
                      <a:pPr>
                        <a:buNone/>
                      </a:pP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330577438"/>
                  </a:ext>
                </a:extLst>
              </a:tr>
              <a:tr h="832101">
                <a:tc>
                  <a:txBody>
                    <a:bodyPr/>
                    <a:lstStyle/>
                    <a:p>
                      <a:pPr>
                        <a:buNone/>
                      </a:pPr>
                      <a:r>
                        <a:rPr lang="en-IN">
                          <a:latin typeface="Times New Roman" panose="02020603050405020304" pitchFamily="18" charset="0"/>
                          <a:cs typeface="Times New Roman" panose="02020603050405020304" pitchFamily="18" charset="0"/>
                        </a:rPr>
                        <a:t>2</a:t>
                      </a:r>
                    </a:p>
                  </a:txBody>
                  <a:tcPr anchor="ctr"/>
                </a:tc>
                <a:tc>
                  <a:txBody>
                    <a:bodyPr/>
                    <a:lstStyle/>
                    <a:p>
                      <a:pPr>
                        <a:buNone/>
                      </a:pPr>
                      <a:r>
                        <a:rPr lang="en-IN">
                          <a:latin typeface="Times New Roman" panose="02020603050405020304" pitchFamily="18" charset="0"/>
                          <a:cs typeface="Times New Roman" panose="02020603050405020304" pitchFamily="18" charset="0"/>
                        </a:rPr>
                        <a:t>101</a:t>
                      </a:r>
                    </a:p>
                  </a:txBody>
                  <a:tcPr anchor="ctr"/>
                </a:tc>
                <a:tc>
                  <a:txBody>
                    <a:bodyPr/>
                    <a:lstStyle/>
                    <a:p>
                      <a:pPr>
                        <a:buNone/>
                      </a:pPr>
                      <a:r>
                        <a:rPr lang="en-IN">
                          <a:latin typeface="Times New Roman" panose="02020603050405020304" pitchFamily="18" charset="0"/>
                          <a:cs typeface="Times New Roman" panose="02020603050405020304" pitchFamily="18" charset="0"/>
                        </a:rPr>
                        <a:t>2</a:t>
                      </a:r>
                    </a:p>
                  </a:txBody>
                  <a:tcPr anchor="ctr"/>
                </a:tc>
                <a:tc>
                  <a:txBody>
                    <a:bodyPr/>
                    <a:lstStyle/>
                    <a:p>
                      <a:pPr>
                        <a:buNone/>
                      </a:pPr>
                      <a:r>
                        <a:rPr lang="en-IN">
                          <a:latin typeface="Times New Roman" panose="02020603050405020304" pitchFamily="18" charset="0"/>
                          <a:cs typeface="Times New Roman" panose="02020603050405020304" pitchFamily="18" charset="0"/>
                        </a:rPr>
                        <a:t>2026-27</a:t>
                      </a:r>
                    </a:p>
                  </a:txBody>
                  <a:tcPr anchor="ctr"/>
                </a:tc>
                <a:tc>
                  <a:txBody>
                    <a:bodyPr/>
                    <a:lstStyle/>
                    <a:p>
                      <a:pPr>
                        <a:buNone/>
                      </a:pPr>
                      <a:r>
                        <a:rPr lang="en-IN">
                          <a:latin typeface="Times New Roman" panose="02020603050405020304" pitchFamily="18" charset="0"/>
                          <a:cs typeface="Times New Roman" panose="02020603050405020304" pitchFamily="18" charset="0"/>
                        </a:rPr>
                        <a:t>3</a:t>
                      </a:r>
                    </a:p>
                  </a:txBody>
                  <a:tcPr anchor="ctr"/>
                </a:tc>
                <a:tc>
                  <a:txBody>
                    <a:bodyPr/>
                    <a:lstStyle/>
                    <a:p>
                      <a:pPr>
                        <a:buNone/>
                      </a:pPr>
                      <a:endParaRPr lang="en-IN">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696751021"/>
                  </a:ext>
                </a:extLst>
              </a:tr>
              <a:tr h="832101">
                <a:tc>
                  <a:txBody>
                    <a:bodyPr/>
                    <a:lstStyle/>
                    <a:p>
                      <a:pPr>
                        <a:buNone/>
                      </a:pPr>
                      <a:r>
                        <a:rPr lang="en-IN">
                          <a:latin typeface="Times New Roman" panose="02020603050405020304" pitchFamily="18" charset="0"/>
                          <a:cs typeface="Times New Roman" panose="02020603050405020304" pitchFamily="18" charset="0"/>
                        </a:rPr>
                        <a:t>3</a:t>
                      </a:r>
                    </a:p>
                  </a:txBody>
                  <a:tcPr anchor="ctr"/>
                </a:tc>
                <a:tc>
                  <a:txBody>
                    <a:bodyPr/>
                    <a:lstStyle/>
                    <a:p>
                      <a:pPr>
                        <a:buNone/>
                      </a:pPr>
                      <a:r>
                        <a:rPr lang="en-IN">
                          <a:latin typeface="Times New Roman" panose="02020603050405020304" pitchFamily="18" charset="0"/>
                          <a:cs typeface="Times New Roman" panose="02020603050405020304" pitchFamily="18" charset="0"/>
                        </a:rPr>
                        <a:t>101</a:t>
                      </a:r>
                    </a:p>
                  </a:txBody>
                  <a:tcPr anchor="ctr"/>
                </a:tc>
                <a:tc>
                  <a:txBody>
                    <a:bodyPr/>
                    <a:lstStyle/>
                    <a:p>
                      <a:pPr>
                        <a:buNone/>
                      </a:pPr>
                      <a:r>
                        <a:rPr lang="en-IN">
                          <a:latin typeface="Times New Roman" panose="02020603050405020304" pitchFamily="18" charset="0"/>
                          <a:cs typeface="Times New Roman" panose="02020603050405020304" pitchFamily="18" charset="0"/>
                        </a:rPr>
                        <a:t>3</a:t>
                      </a:r>
                    </a:p>
                  </a:txBody>
                  <a:tcPr anchor="ctr"/>
                </a:tc>
                <a:tc>
                  <a:txBody>
                    <a:bodyPr/>
                    <a:lstStyle/>
                    <a:p>
                      <a:pPr>
                        <a:buNone/>
                      </a:pPr>
                      <a:r>
                        <a:rPr lang="en-IN">
                          <a:latin typeface="Times New Roman" panose="02020603050405020304" pitchFamily="18" charset="0"/>
                          <a:cs typeface="Times New Roman" panose="02020603050405020304" pitchFamily="18" charset="0"/>
                        </a:rPr>
                        <a:t>2026-27</a:t>
                      </a:r>
                    </a:p>
                  </a:txBody>
                  <a:tcPr anchor="ctr"/>
                </a:tc>
                <a:tc>
                  <a:txBody>
                    <a:bodyPr/>
                    <a:lstStyle/>
                    <a:p>
                      <a:pPr>
                        <a:buNone/>
                      </a:pPr>
                      <a:r>
                        <a:rPr lang="en-IN" dirty="0">
                          <a:latin typeface="Times New Roman" panose="02020603050405020304" pitchFamily="18" charset="0"/>
                          <a:cs typeface="Times New Roman" panose="02020603050405020304" pitchFamily="18" charset="0"/>
                        </a:rPr>
                        <a:t>3</a:t>
                      </a:r>
                    </a:p>
                  </a:txBody>
                  <a:tcPr anchor="ctr"/>
                </a:tc>
                <a:tc>
                  <a:txBody>
                    <a:bodyPr/>
                    <a:lstStyle/>
                    <a:p>
                      <a:pPr>
                        <a:buNone/>
                      </a:pP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412413909"/>
                  </a:ext>
                </a:extLst>
              </a:tr>
            </a:tbl>
          </a:graphicData>
        </a:graphic>
      </p:graphicFrame>
    </p:spTree>
    <p:extLst>
      <p:ext uri="{BB962C8B-B14F-4D97-AF65-F5344CB8AC3E}">
        <p14:creationId xmlns:p14="http://schemas.microsoft.com/office/powerpoint/2010/main" val="975641371"/>
      </p:ext>
    </p:extLst>
  </p:cSld>
  <p:clrMapOvr>
    <a:masterClrMapping/>
  </p:clrMapOvr>
  <mc:AlternateContent xmlns:mc="http://schemas.openxmlformats.org/markup-compatibility/2006" xmlns:p14="http://schemas.microsoft.com/office/powerpoint/2010/main">
    <mc:Choice Requires="p14">
      <p:transition spd="slow" p14:dur="2000" advTm="2624"/>
    </mc:Choice>
    <mc:Fallback xmlns="">
      <p:transition spd="slow" advTm="2624"/>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D322C-3C2A-2847-4DF7-AEA27D65E119}"/>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6754E3A1-C35D-98B3-CAF9-6B40874498A9}"/>
              </a:ext>
            </a:extLst>
          </p:cNvPr>
          <p:cNvGrpSpPr/>
          <p:nvPr/>
        </p:nvGrpSpPr>
        <p:grpSpPr>
          <a:xfrm>
            <a:off x="2477248" y="141784"/>
            <a:ext cx="5103904" cy="1198311"/>
            <a:chOff x="2648188" y="47148"/>
            <a:chExt cx="5103904" cy="1198311"/>
          </a:xfrm>
        </p:grpSpPr>
        <p:pic>
          <p:nvPicPr>
            <p:cNvPr id="5" name="object 4">
              <a:extLst>
                <a:ext uri="{FF2B5EF4-FFF2-40B4-BE49-F238E27FC236}">
                  <a16:creationId xmlns:a16="http://schemas.microsoft.com/office/drawing/2014/main" id="{576E8DAB-595F-190E-B14F-6291DBADFD4A}"/>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74BA1E14-5F26-DE06-AA02-9E0CDCBF0C8B}"/>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CF166804-1C71-0551-4984-78F84DFFAACA}"/>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BF7B1D50-2018-728D-528F-598CCE882E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90A5E7D5-F1FA-7F9F-249B-DEDEE54162CD}"/>
              </a:ext>
            </a:extLst>
          </p:cNvPr>
          <p:cNvSpPr txBox="1"/>
          <p:nvPr/>
        </p:nvSpPr>
        <p:spPr>
          <a:xfrm>
            <a:off x="3805064" y="352412"/>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NORMALIZATION</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63D2BFCF-B838-31CA-FFAC-F584FB4E3D41}"/>
              </a:ext>
            </a:extLst>
          </p:cNvPr>
          <p:cNvPicPr/>
          <p:nvPr/>
        </p:nvPicPr>
        <p:blipFill>
          <a:blip r:embed="rId5"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A38967D9-135E-B5F6-65C2-395BB8562F68}"/>
              </a:ext>
            </a:extLst>
          </p:cNvPr>
          <p:cNvSpPr txBox="1"/>
          <p:nvPr/>
        </p:nvSpPr>
        <p:spPr>
          <a:xfrm>
            <a:off x="653941" y="1296669"/>
            <a:ext cx="8318362" cy="1806713"/>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3. Third Normal Form (3NF)</a:t>
            </a:r>
          </a:p>
          <a:p>
            <a:r>
              <a:rPr lang="en-IN" sz="2000" dirty="0">
                <a:latin typeface="Times New Roman" panose="02020603050405020304" pitchFamily="18" charset="0"/>
                <a:cs typeface="Times New Roman" panose="02020603050405020304" pitchFamily="18" charset="0"/>
              </a:rPr>
              <a:t>A table is in </a:t>
            </a:r>
            <a:r>
              <a:rPr lang="en-IN" sz="2000" b="1" dirty="0">
                <a:latin typeface="Times New Roman" panose="02020603050405020304" pitchFamily="18" charset="0"/>
                <a:cs typeface="Times New Roman" panose="02020603050405020304" pitchFamily="18" charset="0"/>
              </a:rPr>
              <a:t>3NF</a:t>
            </a:r>
            <a:r>
              <a:rPr lang="en-IN" sz="2000" dirty="0">
                <a:latin typeface="Times New Roman" panose="02020603050405020304" pitchFamily="18" charset="0"/>
                <a:cs typeface="Times New Roman" panose="02020603050405020304" pitchFamily="18" charset="0"/>
              </a:rPr>
              <a:t> when:</a:t>
            </a:r>
          </a:p>
          <a:p>
            <a:pPr lvl="0"/>
            <a:r>
              <a:rPr lang="en-IN" sz="2000" dirty="0">
                <a:latin typeface="Times New Roman" panose="02020603050405020304" pitchFamily="18" charset="0"/>
                <a:cs typeface="Times New Roman" panose="02020603050405020304" pitchFamily="18" charset="0"/>
              </a:rPr>
              <a:t>It is already in 2NF. </a:t>
            </a:r>
          </a:p>
          <a:p>
            <a:pPr lvl="0"/>
            <a:r>
              <a:rPr lang="en-IN" sz="2000" dirty="0">
                <a:latin typeface="Times New Roman" panose="02020603050405020304" pitchFamily="18" charset="0"/>
                <a:cs typeface="Times New Roman" panose="02020603050405020304" pitchFamily="18" charset="0"/>
              </a:rPr>
              <a:t>Non-key attributes do not depend on other non-key attributes.</a:t>
            </a:r>
          </a:p>
          <a:p>
            <a:pPr marL="342900" indent="-342900" algn="just">
              <a:lnSpc>
                <a:spcPct val="150000"/>
              </a:lnSpc>
              <a:spcBef>
                <a:spcPts val="600"/>
              </a:spcBef>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67266C80-7940-A47D-AAC8-E43D18907EED}"/>
              </a:ext>
            </a:extLst>
          </p:cNvPr>
          <p:cNvGraphicFramePr>
            <a:graphicFrameLocks noGrp="1"/>
          </p:cNvGraphicFramePr>
          <p:nvPr>
            <p:extLst>
              <p:ext uri="{D42A27DB-BD31-4B8C-83A1-F6EECF244321}">
                <p14:modId xmlns:p14="http://schemas.microsoft.com/office/powerpoint/2010/main" val="4252409312"/>
              </p:ext>
            </p:extLst>
          </p:nvPr>
        </p:nvGraphicFramePr>
        <p:xfrm>
          <a:off x="455723" y="3033938"/>
          <a:ext cx="8948736" cy="2039608"/>
        </p:xfrm>
        <a:graphic>
          <a:graphicData uri="http://schemas.openxmlformats.org/drawingml/2006/table">
            <a:tbl>
              <a:tblPr>
                <a:tableStyleId>{5C22544A-7EE6-4342-B048-85BDC9FD1C3A}</a:tableStyleId>
              </a:tblPr>
              <a:tblGrid>
                <a:gridCol w="1672183">
                  <a:extLst>
                    <a:ext uri="{9D8B030D-6E8A-4147-A177-3AD203B41FA5}">
                      <a16:colId xmlns:a16="http://schemas.microsoft.com/office/drawing/2014/main" val="2511144007"/>
                    </a:ext>
                  </a:extLst>
                </a:gridCol>
                <a:gridCol w="1800200">
                  <a:extLst>
                    <a:ext uri="{9D8B030D-6E8A-4147-A177-3AD203B41FA5}">
                      <a16:colId xmlns:a16="http://schemas.microsoft.com/office/drawing/2014/main" val="310312054"/>
                    </a:ext>
                  </a:extLst>
                </a:gridCol>
                <a:gridCol w="2160240">
                  <a:extLst>
                    <a:ext uri="{9D8B030D-6E8A-4147-A177-3AD203B41FA5}">
                      <a16:colId xmlns:a16="http://schemas.microsoft.com/office/drawing/2014/main" val="1864322133"/>
                    </a:ext>
                  </a:extLst>
                </a:gridCol>
                <a:gridCol w="333201">
                  <a:extLst>
                    <a:ext uri="{9D8B030D-6E8A-4147-A177-3AD203B41FA5}">
                      <a16:colId xmlns:a16="http://schemas.microsoft.com/office/drawing/2014/main" val="1963712345"/>
                    </a:ext>
                  </a:extLst>
                </a:gridCol>
                <a:gridCol w="1491456">
                  <a:extLst>
                    <a:ext uri="{9D8B030D-6E8A-4147-A177-3AD203B41FA5}">
                      <a16:colId xmlns:a16="http://schemas.microsoft.com/office/drawing/2014/main" val="1218663561"/>
                    </a:ext>
                  </a:extLst>
                </a:gridCol>
                <a:gridCol w="1491456">
                  <a:extLst>
                    <a:ext uri="{9D8B030D-6E8A-4147-A177-3AD203B41FA5}">
                      <a16:colId xmlns:a16="http://schemas.microsoft.com/office/drawing/2014/main" val="1288506538"/>
                    </a:ext>
                  </a:extLst>
                </a:gridCol>
              </a:tblGrid>
              <a:tr h="486532">
                <a:tc>
                  <a:txBody>
                    <a:bodyPr/>
                    <a:lstStyle/>
                    <a:p>
                      <a:pPr>
                        <a:buNone/>
                      </a:pPr>
                      <a:endParaRPr lang="en-IN" dirty="0"/>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a:p>
                  </a:txBody>
                  <a:tcPr anchor="ctr"/>
                </a:tc>
                <a:extLst>
                  <a:ext uri="{0D108BD9-81ED-4DB2-BD59-A6C34878D82A}">
                    <a16:rowId xmlns:a16="http://schemas.microsoft.com/office/drawing/2014/main" val="4223648778"/>
                  </a:ext>
                </a:extLst>
              </a:tr>
              <a:tr h="486532">
                <a:tc>
                  <a:txBody>
                    <a:bodyPr/>
                    <a:lstStyle/>
                    <a:p>
                      <a:pPr>
                        <a:buNone/>
                      </a:pPr>
                      <a:r>
                        <a:rPr lang="en-IN" dirty="0" err="1"/>
                        <a:t>department_id</a:t>
                      </a:r>
                      <a:endParaRPr lang="en-IN" dirty="0"/>
                    </a:p>
                  </a:txBody>
                  <a:tcPr anchor="ctr"/>
                </a:tc>
                <a:tc>
                  <a:txBody>
                    <a:bodyPr/>
                    <a:lstStyle/>
                    <a:p>
                      <a:pPr>
                        <a:buNone/>
                      </a:pPr>
                      <a:r>
                        <a:rPr lang="en-IN"/>
                        <a:t>department_name</a:t>
                      </a:r>
                    </a:p>
                  </a:txBody>
                  <a:tcPr anchor="ctr"/>
                </a:tc>
                <a:tc>
                  <a:txBody>
                    <a:bodyPr/>
                    <a:lstStyle/>
                    <a:p>
                      <a:pPr>
                        <a:buNone/>
                      </a:pPr>
                      <a:r>
                        <a:rPr lang="en-IN"/>
                        <a:t>hod_name</a:t>
                      </a:r>
                    </a:p>
                  </a:txBody>
                  <a:tcPr anchor="ctr"/>
                </a:tc>
                <a:tc>
                  <a:txBody>
                    <a:bodyPr/>
                    <a:lstStyle/>
                    <a:p>
                      <a:pPr>
                        <a:buNone/>
                      </a:pPr>
                      <a:endParaRPr lang="en-IN"/>
                    </a:p>
                  </a:txBody>
                  <a:tcPr anchor="ctr"/>
                </a:tc>
                <a:tc>
                  <a:txBody>
                    <a:bodyPr/>
                    <a:lstStyle/>
                    <a:p>
                      <a:pPr>
                        <a:buNone/>
                      </a:pPr>
                      <a:endParaRPr lang="en-IN"/>
                    </a:p>
                  </a:txBody>
                  <a:tcPr anchor="ctr"/>
                </a:tc>
                <a:tc>
                  <a:txBody>
                    <a:bodyPr/>
                    <a:lstStyle/>
                    <a:p>
                      <a:pPr>
                        <a:buNone/>
                      </a:pPr>
                      <a:endParaRPr lang="en-IN" dirty="0"/>
                    </a:p>
                  </a:txBody>
                  <a:tcPr anchor="ctr"/>
                </a:tc>
                <a:extLst>
                  <a:ext uri="{0D108BD9-81ED-4DB2-BD59-A6C34878D82A}">
                    <a16:rowId xmlns:a16="http://schemas.microsoft.com/office/drawing/2014/main" val="3330577438"/>
                  </a:ext>
                </a:extLst>
              </a:tr>
              <a:tr h="486532">
                <a:tc>
                  <a:txBody>
                    <a:bodyPr/>
                    <a:lstStyle/>
                    <a:p>
                      <a:pPr>
                        <a:buNone/>
                      </a:pPr>
                      <a:r>
                        <a:rPr lang="en-IN" dirty="0"/>
                        <a:t>1</a:t>
                      </a:r>
                    </a:p>
                  </a:txBody>
                  <a:tcPr anchor="ctr"/>
                </a:tc>
                <a:tc>
                  <a:txBody>
                    <a:bodyPr/>
                    <a:lstStyle/>
                    <a:p>
                      <a:pPr>
                        <a:buNone/>
                      </a:pPr>
                      <a:r>
                        <a:rPr lang="en-IN"/>
                        <a:t>AI and ML</a:t>
                      </a:r>
                    </a:p>
                  </a:txBody>
                  <a:tcPr anchor="ctr"/>
                </a:tc>
                <a:tc>
                  <a:txBody>
                    <a:bodyPr/>
                    <a:lstStyle/>
                    <a:p>
                      <a:pPr>
                        <a:buNone/>
                      </a:pPr>
                      <a:r>
                        <a:rPr lang="en-IN"/>
                        <a:t>Dr. Rajesh Kumar</a:t>
                      </a:r>
                    </a:p>
                  </a:txBody>
                  <a:tcPr anchor="ctr"/>
                </a:tc>
                <a:tc>
                  <a:txBody>
                    <a:bodyPr/>
                    <a:lstStyle/>
                    <a:p>
                      <a:pPr>
                        <a:buNone/>
                      </a:pPr>
                      <a:endParaRPr lang="en-US" dirty="0"/>
                    </a:p>
                  </a:txBody>
                  <a:tcPr anchor="ctr"/>
                </a:tc>
                <a:tc>
                  <a:txBody>
                    <a:bodyPr/>
                    <a:lstStyle/>
                    <a:p>
                      <a:pPr>
                        <a:buNone/>
                      </a:pPr>
                      <a:endParaRPr lang="en-IN" dirty="0"/>
                    </a:p>
                  </a:txBody>
                  <a:tcPr anchor="ctr"/>
                </a:tc>
                <a:tc>
                  <a:txBody>
                    <a:bodyPr/>
                    <a:lstStyle/>
                    <a:p>
                      <a:pPr>
                        <a:buNone/>
                      </a:pPr>
                      <a:endParaRPr lang="en-IN"/>
                    </a:p>
                  </a:txBody>
                  <a:tcPr anchor="ctr"/>
                </a:tc>
                <a:extLst>
                  <a:ext uri="{0D108BD9-81ED-4DB2-BD59-A6C34878D82A}">
                    <a16:rowId xmlns:a16="http://schemas.microsoft.com/office/drawing/2014/main" val="3696751021"/>
                  </a:ext>
                </a:extLst>
              </a:tr>
              <a:tr h="426464">
                <a:tc>
                  <a:txBody>
                    <a:bodyPr/>
                    <a:lstStyle/>
                    <a:p>
                      <a:pPr>
                        <a:buNone/>
                      </a:pPr>
                      <a:r>
                        <a:rPr lang="en-IN"/>
                        <a:t>2</a:t>
                      </a:r>
                    </a:p>
                  </a:txBody>
                  <a:tcPr anchor="ctr"/>
                </a:tc>
                <a:tc>
                  <a:txBody>
                    <a:bodyPr/>
                    <a:lstStyle/>
                    <a:p>
                      <a:pPr>
                        <a:buNone/>
                      </a:pPr>
                      <a:r>
                        <a:rPr lang="en-IN"/>
                        <a:t>CSE</a:t>
                      </a:r>
                    </a:p>
                  </a:txBody>
                  <a:tcPr anchor="ctr"/>
                </a:tc>
                <a:tc>
                  <a:txBody>
                    <a:bodyPr/>
                    <a:lstStyle/>
                    <a:p>
                      <a:pPr>
                        <a:buNone/>
                      </a:pPr>
                      <a:r>
                        <a:rPr lang="en-IN" dirty="0"/>
                        <a:t>Dr. Suresh Rao</a:t>
                      </a:r>
                    </a:p>
                  </a:txBody>
                  <a:tcPr anchor="ctr"/>
                </a:tc>
                <a:tc>
                  <a:txBody>
                    <a:bodyPr/>
                    <a:lstStyle/>
                    <a:p>
                      <a:pPr>
                        <a:buNone/>
                      </a:pPr>
                      <a:endParaRPr lang="en-IN" dirty="0"/>
                    </a:p>
                  </a:txBody>
                  <a:tcPr anchor="ctr"/>
                </a:tc>
                <a:tc>
                  <a:txBody>
                    <a:bodyPr/>
                    <a:lstStyle/>
                    <a:p>
                      <a:pPr>
                        <a:buNone/>
                      </a:pPr>
                      <a:endParaRPr lang="en-IN" dirty="0"/>
                    </a:p>
                  </a:txBody>
                  <a:tcPr anchor="ctr"/>
                </a:tc>
                <a:tc>
                  <a:txBody>
                    <a:bodyPr/>
                    <a:lstStyle/>
                    <a:p>
                      <a:pPr>
                        <a:buNone/>
                      </a:pPr>
                      <a:endParaRPr lang="en-IN" dirty="0"/>
                    </a:p>
                  </a:txBody>
                  <a:tcPr anchor="ctr"/>
                </a:tc>
                <a:extLst>
                  <a:ext uri="{0D108BD9-81ED-4DB2-BD59-A6C34878D82A}">
                    <a16:rowId xmlns:a16="http://schemas.microsoft.com/office/drawing/2014/main" val="1412413909"/>
                  </a:ext>
                </a:extLst>
              </a:tr>
            </a:tbl>
          </a:graphicData>
        </a:graphic>
      </p:graphicFrame>
      <p:graphicFrame>
        <p:nvGraphicFramePr>
          <p:cNvPr id="10" name="Table 9">
            <a:extLst>
              <a:ext uri="{FF2B5EF4-FFF2-40B4-BE49-F238E27FC236}">
                <a16:creationId xmlns:a16="http://schemas.microsoft.com/office/drawing/2014/main" id="{E0A19672-2717-0D07-6514-B82346E09BBE}"/>
              </a:ext>
            </a:extLst>
          </p:cNvPr>
          <p:cNvGraphicFramePr>
            <a:graphicFrameLocks noGrp="1"/>
          </p:cNvGraphicFramePr>
          <p:nvPr>
            <p:extLst>
              <p:ext uri="{D42A27DB-BD31-4B8C-83A1-F6EECF244321}">
                <p14:modId xmlns:p14="http://schemas.microsoft.com/office/powerpoint/2010/main" val="1564402506"/>
              </p:ext>
            </p:extLst>
          </p:nvPr>
        </p:nvGraphicFramePr>
        <p:xfrm>
          <a:off x="476251" y="5490889"/>
          <a:ext cx="8948736" cy="1097280"/>
        </p:xfrm>
        <a:graphic>
          <a:graphicData uri="http://schemas.openxmlformats.org/drawingml/2006/table">
            <a:tbl>
              <a:tblPr>
                <a:tableStyleId>{5C22544A-7EE6-4342-B048-85BDC9FD1C3A}</a:tableStyleId>
              </a:tblPr>
              <a:tblGrid>
                <a:gridCol w="2982912">
                  <a:extLst>
                    <a:ext uri="{9D8B030D-6E8A-4147-A177-3AD203B41FA5}">
                      <a16:colId xmlns:a16="http://schemas.microsoft.com/office/drawing/2014/main" val="3067726614"/>
                    </a:ext>
                  </a:extLst>
                </a:gridCol>
                <a:gridCol w="2982912">
                  <a:extLst>
                    <a:ext uri="{9D8B030D-6E8A-4147-A177-3AD203B41FA5}">
                      <a16:colId xmlns:a16="http://schemas.microsoft.com/office/drawing/2014/main" val="73831780"/>
                    </a:ext>
                  </a:extLst>
                </a:gridCol>
                <a:gridCol w="2982912">
                  <a:extLst>
                    <a:ext uri="{9D8B030D-6E8A-4147-A177-3AD203B41FA5}">
                      <a16:colId xmlns:a16="http://schemas.microsoft.com/office/drawing/2014/main" val="816935795"/>
                    </a:ext>
                  </a:extLst>
                </a:gridCol>
              </a:tblGrid>
              <a:tr h="0">
                <a:tc>
                  <a:txBody>
                    <a:bodyPr/>
                    <a:lstStyle/>
                    <a:p>
                      <a:pPr>
                        <a:buNone/>
                      </a:pPr>
                      <a:r>
                        <a:rPr lang="en-IN" dirty="0" err="1"/>
                        <a:t>student_id</a:t>
                      </a:r>
                      <a:endParaRPr lang="en-IN" dirty="0"/>
                    </a:p>
                  </a:txBody>
                  <a:tcPr anchor="ctr"/>
                </a:tc>
                <a:tc>
                  <a:txBody>
                    <a:bodyPr/>
                    <a:lstStyle/>
                    <a:p>
                      <a:pPr>
                        <a:buNone/>
                      </a:pPr>
                      <a:r>
                        <a:rPr lang="en-IN"/>
                        <a:t>student_name</a:t>
                      </a:r>
                    </a:p>
                  </a:txBody>
                  <a:tcPr anchor="ctr"/>
                </a:tc>
                <a:tc>
                  <a:txBody>
                    <a:bodyPr/>
                    <a:lstStyle/>
                    <a:p>
                      <a:pPr>
                        <a:buNone/>
                      </a:pPr>
                      <a:r>
                        <a:rPr lang="en-IN" dirty="0" err="1"/>
                        <a:t>department_id</a:t>
                      </a:r>
                      <a:endParaRPr lang="en-IN" dirty="0"/>
                    </a:p>
                  </a:txBody>
                  <a:tcPr anchor="ctr"/>
                </a:tc>
                <a:extLst>
                  <a:ext uri="{0D108BD9-81ED-4DB2-BD59-A6C34878D82A}">
                    <a16:rowId xmlns:a16="http://schemas.microsoft.com/office/drawing/2014/main" val="596843300"/>
                  </a:ext>
                </a:extLst>
              </a:tr>
              <a:tr h="0">
                <a:tc>
                  <a:txBody>
                    <a:bodyPr/>
                    <a:lstStyle/>
                    <a:p>
                      <a:pPr>
                        <a:buNone/>
                      </a:pPr>
                      <a:r>
                        <a:rPr lang="en-IN" dirty="0"/>
                        <a:t>101</a:t>
                      </a:r>
                    </a:p>
                  </a:txBody>
                  <a:tcPr anchor="ctr"/>
                </a:tc>
                <a:tc>
                  <a:txBody>
                    <a:bodyPr/>
                    <a:lstStyle/>
                    <a:p>
                      <a:pPr>
                        <a:buNone/>
                      </a:pPr>
                      <a:r>
                        <a:rPr lang="en-IN" dirty="0"/>
                        <a:t>Amrutha</a:t>
                      </a:r>
                    </a:p>
                  </a:txBody>
                  <a:tcPr anchor="ctr"/>
                </a:tc>
                <a:tc>
                  <a:txBody>
                    <a:bodyPr/>
                    <a:lstStyle/>
                    <a:p>
                      <a:pPr>
                        <a:buNone/>
                      </a:pPr>
                      <a:r>
                        <a:rPr lang="en-IN"/>
                        <a:t>1</a:t>
                      </a:r>
                    </a:p>
                  </a:txBody>
                  <a:tcPr anchor="ctr"/>
                </a:tc>
                <a:extLst>
                  <a:ext uri="{0D108BD9-81ED-4DB2-BD59-A6C34878D82A}">
                    <a16:rowId xmlns:a16="http://schemas.microsoft.com/office/drawing/2014/main" val="2224003233"/>
                  </a:ext>
                </a:extLst>
              </a:tr>
              <a:tr h="0">
                <a:tc>
                  <a:txBody>
                    <a:bodyPr/>
                    <a:lstStyle/>
                    <a:p>
                      <a:pPr>
                        <a:buNone/>
                      </a:pPr>
                      <a:r>
                        <a:rPr lang="en-IN"/>
                        <a:t>102</a:t>
                      </a:r>
                    </a:p>
                  </a:txBody>
                  <a:tcPr anchor="ctr"/>
                </a:tc>
                <a:tc>
                  <a:txBody>
                    <a:bodyPr/>
                    <a:lstStyle/>
                    <a:p>
                      <a:pPr>
                        <a:buNone/>
                      </a:pPr>
                      <a:r>
                        <a:rPr lang="en-IN"/>
                        <a:t>Rahul</a:t>
                      </a:r>
                    </a:p>
                  </a:txBody>
                  <a:tcPr anchor="ctr"/>
                </a:tc>
                <a:tc>
                  <a:txBody>
                    <a:bodyPr/>
                    <a:lstStyle/>
                    <a:p>
                      <a:pPr>
                        <a:buNone/>
                      </a:pPr>
                      <a:r>
                        <a:rPr lang="en-IN" dirty="0"/>
                        <a:t>2</a:t>
                      </a:r>
                    </a:p>
                  </a:txBody>
                  <a:tcPr anchor="ctr"/>
                </a:tc>
                <a:extLst>
                  <a:ext uri="{0D108BD9-81ED-4DB2-BD59-A6C34878D82A}">
                    <a16:rowId xmlns:a16="http://schemas.microsoft.com/office/drawing/2014/main" val="906307850"/>
                  </a:ext>
                </a:extLst>
              </a:tr>
            </a:tbl>
          </a:graphicData>
        </a:graphic>
      </p:graphicFrame>
    </p:spTree>
    <p:extLst>
      <p:ext uri="{BB962C8B-B14F-4D97-AF65-F5344CB8AC3E}">
        <p14:creationId xmlns:p14="http://schemas.microsoft.com/office/powerpoint/2010/main" val="861652554"/>
      </p:ext>
    </p:extLst>
  </p:cSld>
  <p:clrMapOvr>
    <a:masterClrMapping/>
  </p:clrMapOvr>
  <mc:AlternateContent xmlns:mc="http://schemas.openxmlformats.org/markup-compatibility/2006" xmlns:p14="http://schemas.microsoft.com/office/powerpoint/2010/main">
    <mc:Choice Requires="p14">
      <p:transition spd="slow" p14:dur="2000" advTm="2624"/>
    </mc:Choice>
    <mc:Fallback xmlns="">
      <p:transition spd="slow" advTm="2624"/>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DD69F-6BDD-EEA7-6B68-26A1CFFD2DD5}"/>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B97F6CD9-5552-EEFD-83A3-E6BD795F208C}"/>
              </a:ext>
            </a:extLst>
          </p:cNvPr>
          <p:cNvGrpSpPr/>
          <p:nvPr/>
        </p:nvGrpSpPr>
        <p:grpSpPr>
          <a:xfrm>
            <a:off x="2477248" y="416480"/>
            <a:ext cx="5103904" cy="1198311"/>
            <a:chOff x="2648188" y="47148"/>
            <a:chExt cx="5103904" cy="1198311"/>
          </a:xfrm>
        </p:grpSpPr>
        <p:pic>
          <p:nvPicPr>
            <p:cNvPr id="5" name="object 4">
              <a:extLst>
                <a:ext uri="{FF2B5EF4-FFF2-40B4-BE49-F238E27FC236}">
                  <a16:creationId xmlns:a16="http://schemas.microsoft.com/office/drawing/2014/main" id="{0F8ECFE5-1DBE-644A-987A-C3CA9B73588D}"/>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2997CA3F-7F90-68AA-0AE6-610F978B9F0D}"/>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E156BF87-6A31-4ECB-EA0D-1199814F89E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28CF2FA9-F194-CFE5-190A-F404E9CC3F1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5FD11744-5ED4-D9DF-A852-4DB09BD38DE4}"/>
              </a:ext>
            </a:extLst>
          </p:cNvPr>
          <p:cNvSpPr txBox="1"/>
          <p:nvPr/>
        </p:nvSpPr>
        <p:spPr>
          <a:xfrm>
            <a:off x="3575448" y="612881"/>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JOIN AND VIEW </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05C5452A-8D46-BFD2-5F24-009DCEC3E852}"/>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16829AB1-FC82-FB28-9440-941DE3FC253C}"/>
              </a:ext>
            </a:extLst>
          </p:cNvPr>
          <p:cNvSpPr txBox="1"/>
          <p:nvPr/>
        </p:nvSpPr>
        <p:spPr>
          <a:xfrm>
            <a:off x="872251" y="1797968"/>
            <a:ext cx="8403450" cy="6463308"/>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1. JOIN</a:t>
            </a:r>
          </a:p>
          <a:p>
            <a:r>
              <a:rPr lang="en-IN" b="1" dirty="0">
                <a:latin typeface="Times New Roman" panose="02020603050405020304" pitchFamily="18" charset="0"/>
                <a:cs typeface="Times New Roman" panose="02020603050405020304" pitchFamily="18" charset="0"/>
              </a:rPr>
              <a:t>JOIN</a:t>
            </a:r>
            <a:r>
              <a:rPr lang="en-IN" dirty="0">
                <a:latin typeface="Times New Roman" panose="02020603050405020304" pitchFamily="18" charset="0"/>
                <a:cs typeface="Times New Roman" panose="02020603050405020304" pitchFamily="18" charset="0"/>
              </a:rPr>
              <a:t> is used to combine data from two or more tables using a related column.</a:t>
            </a:r>
          </a:p>
          <a:p>
            <a:r>
              <a:rPr lang="en-IN" b="1" dirty="0">
                <a:latin typeface="Times New Roman" panose="02020603050405020304" pitchFamily="18" charset="0"/>
                <a:cs typeface="Times New Roman" panose="02020603050405020304" pitchFamily="18" charset="0"/>
              </a:rPr>
              <a:t>Example:</a:t>
            </a:r>
            <a:endParaRPr lang="en-IN" dirty="0">
              <a:latin typeface="Times New Roman" panose="02020603050405020304" pitchFamily="18" charset="0"/>
              <a:cs typeface="Times New Roman" panose="02020603050405020304" pitchFamily="18" charset="0"/>
            </a:endParaRPr>
          </a:p>
          <a:p>
            <a:pPr rtl="0"/>
            <a:r>
              <a:rPr lang="en-IN" dirty="0">
                <a:latin typeface="Times New Roman" panose="02020603050405020304" pitchFamily="18" charset="0"/>
                <a:cs typeface="Times New Roman" panose="02020603050405020304" pitchFamily="18" charset="0"/>
              </a:rPr>
              <a:t>SELECT </a:t>
            </a:r>
            <a:r>
              <a:rPr lang="en-IN" dirty="0" err="1">
                <a:latin typeface="Times New Roman" panose="02020603050405020304" pitchFamily="18" charset="0"/>
                <a:cs typeface="Times New Roman" panose="02020603050405020304" pitchFamily="18" charset="0"/>
              </a:rPr>
              <a:t>s.student_id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s.student_name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d.department_name</a:t>
            </a:r>
            <a:endParaRPr lang="en-IN" dirty="0">
              <a:latin typeface="Times New Roman" panose="02020603050405020304" pitchFamily="18" charset="0"/>
              <a:cs typeface="Times New Roman" panose="02020603050405020304" pitchFamily="18" charset="0"/>
            </a:endParaRPr>
          </a:p>
          <a:p>
            <a:pPr rtl="0"/>
            <a:r>
              <a:rPr lang="en-IN" dirty="0">
                <a:latin typeface="Times New Roman" panose="02020603050405020304" pitchFamily="18" charset="0"/>
                <a:cs typeface="Times New Roman" panose="02020603050405020304" pitchFamily="18" charset="0"/>
              </a:rPr>
              <a:t>FROM student s</a:t>
            </a:r>
          </a:p>
          <a:p>
            <a:pPr rtl="0"/>
            <a:r>
              <a:rPr lang="en-IN" dirty="0">
                <a:latin typeface="Times New Roman" panose="02020603050405020304" pitchFamily="18" charset="0"/>
                <a:cs typeface="Times New Roman" panose="02020603050405020304" pitchFamily="18" charset="0"/>
              </a:rPr>
              <a:t>JOIN department d</a:t>
            </a:r>
          </a:p>
          <a:p>
            <a:pPr rtl="0"/>
            <a:r>
              <a:rPr lang="en-IN" dirty="0">
                <a:latin typeface="Times New Roman" panose="02020603050405020304" pitchFamily="18" charset="0"/>
                <a:cs typeface="Times New Roman" panose="02020603050405020304" pitchFamily="18" charset="0"/>
              </a:rPr>
              <a:t>ON </a:t>
            </a:r>
            <a:r>
              <a:rPr lang="en-IN" dirty="0" err="1">
                <a:latin typeface="Times New Roman" panose="02020603050405020304" pitchFamily="18" charset="0"/>
                <a:cs typeface="Times New Roman" panose="02020603050405020304" pitchFamily="18" charset="0"/>
              </a:rPr>
              <a:t>s.department_id</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d.department_id</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2. VIEW</a:t>
            </a:r>
          </a:p>
          <a:p>
            <a:r>
              <a:rPr lang="en-IN" dirty="0">
                <a:latin typeface="Times New Roman" panose="02020603050405020304" pitchFamily="18" charset="0"/>
                <a:cs typeface="Times New Roman" panose="02020603050405020304" pitchFamily="18" charset="0"/>
              </a:rPr>
              <a:t>A </a:t>
            </a:r>
            <a:r>
              <a:rPr lang="en-IN" b="1" dirty="0">
                <a:latin typeface="Times New Roman" panose="02020603050405020304" pitchFamily="18" charset="0"/>
                <a:cs typeface="Times New Roman" panose="02020603050405020304" pitchFamily="18" charset="0"/>
              </a:rPr>
              <a:t>VIEW</a:t>
            </a:r>
            <a:r>
              <a:rPr lang="en-IN" dirty="0">
                <a:latin typeface="Times New Roman" panose="02020603050405020304" pitchFamily="18" charset="0"/>
                <a:cs typeface="Times New Roman" panose="02020603050405020304" pitchFamily="18" charset="0"/>
              </a:rPr>
              <a:t> is a virtual table created from a SQL query. It is used to store a frequently used query for easy access.</a:t>
            </a:r>
          </a:p>
          <a:p>
            <a:r>
              <a:rPr lang="en-IN" b="1" dirty="0">
                <a:latin typeface="Times New Roman" panose="02020603050405020304" pitchFamily="18" charset="0"/>
                <a:cs typeface="Times New Roman" panose="02020603050405020304" pitchFamily="18" charset="0"/>
              </a:rPr>
              <a:t>Example:</a:t>
            </a:r>
            <a:endParaRPr lang="en-IN" dirty="0">
              <a:latin typeface="Times New Roman" panose="02020603050405020304" pitchFamily="18" charset="0"/>
              <a:cs typeface="Times New Roman" panose="02020603050405020304" pitchFamily="18" charset="0"/>
            </a:endParaRPr>
          </a:p>
          <a:p>
            <a:pPr algn="just" rtl="0"/>
            <a:r>
              <a:rPr lang="en-IN" dirty="0">
                <a:latin typeface="Times New Roman" panose="02020603050405020304" pitchFamily="18" charset="0"/>
                <a:cs typeface="Times New Roman" panose="02020603050405020304" pitchFamily="18" charset="0"/>
              </a:rPr>
              <a:t>CREATE VIEW </a:t>
            </a:r>
            <a:r>
              <a:rPr lang="en-IN" dirty="0" err="1">
                <a:latin typeface="Times New Roman" panose="02020603050405020304" pitchFamily="18" charset="0"/>
                <a:cs typeface="Times New Roman" panose="02020603050405020304" pitchFamily="18" charset="0"/>
              </a:rPr>
              <a:t>student_academic_summary</a:t>
            </a:r>
            <a:r>
              <a:rPr lang="en-IN" dirty="0">
                <a:latin typeface="Times New Roman" panose="02020603050405020304" pitchFamily="18" charset="0"/>
                <a:cs typeface="Times New Roman" panose="02020603050405020304" pitchFamily="18" charset="0"/>
              </a:rPr>
              <a:t> AS</a:t>
            </a:r>
          </a:p>
          <a:p>
            <a:pPr rtl="0"/>
            <a:r>
              <a:rPr lang="en-IN" dirty="0">
                <a:latin typeface="Times New Roman" panose="02020603050405020304" pitchFamily="18" charset="0"/>
                <a:cs typeface="Times New Roman" panose="02020603050405020304" pitchFamily="18" charset="0"/>
              </a:rPr>
              <a:t>SELECT </a:t>
            </a:r>
            <a:r>
              <a:rPr lang="en-IN" dirty="0" err="1">
                <a:latin typeface="Times New Roman" panose="02020603050405020304" pitchFamily="18" charset="0"/>
                <a:cs typeface="Times New Roman" panose="02020603050405020304" pitchFamily="18" charset="0"/>
              </a:rPr>
              <a:t>s.student_id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s.student_name</a:t>
            </a:r>
            <a:r>
              <a:rPr lang="en-IN" dirty="0">
                <a:latin typeface="Times New Roman" panose="02020603050405020304" pitchFamily="18" charset="0"/>
                <a:cs typeface="Times New Roman" panose="02020603050405020304" pitchFamily="18" charset="0"/>
              </a:rPr>
              <a:t>,</a:t>
            </a:r>
          </a:p>
          <a:p>
            <a:pPr rtl="0"/>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r.marks_obtained</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r.grade</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r.result_status</a:t>
            </a:r>
            <a:endParaRPr lang="en-IN" dirty="0">
              <a:latin typeface="Times New Roman" panose="02020603050405020304" pitchFamily="18" charset="0"/>
              <a:cs typeface="Times New Roman" panose="02020603050405020304" pitchFamily="18" charset="0"/>
            </a:endParaRPr>
          </a:p>
          <a:p>
            <a:pPr rtl="0"/>
            <a:r>
              <a:rPr lang="en-IN" dirty="0">
                <a:latin typeface="Times New Roman" panose="02020603050405020304" pitchFamily="18" charset="0"/>
                <a:cs typeface="Times New Roman" panose="02020603050405020304" pitchFamily="18" charset="0"/>
              </a:rPr>
              <a:t>FROM student s</a:t>
            </a:r>
          </a:p>
          <a:p>
            <a:pPr rtl="0"/>
            <a:r>
              <a:rPr lang="en-IN" dirty="0">
                <a:latin typeface="Times New Roman" panose="02020603050405020304" pitchFamily="18" charset="0"/>
                <a:cs typeface="Times New Roman" panose="02020603050405020304" pitchFamily="18" charset="0"/>
              </a:rPr>
              <a:t>JOIN result r</a:t>
            </a:r>
          </a:p>
          <a:p>
            <a:pPr rtl="0"/>
            <a:r>
              <a:rPr lang="en-IN" dirty="0">
                <a:latin typeface="Times New Roman" panose="02020603050405020304" pitchFamily="18" charset="0"/>
                <a:cs typeface="Times New Roman" panose="02020603050405020304" pitchFamily="18" charset="0"/>
              </a:rPr>
              <a:t>ON </a:t>
            </a:r>
            <a:r>
              <a:rPr lang="en-IN" dirty="0" err="1">
                <a:latin typeface="Times New Roman" panose="02020603050405020304" pitchFamily="18" charset="0"/>
                <a:cs typeface="Times New Roman" panose="02020603050405020304" pitchFamily="18" charset="0"/>
              </a:rPr>
              <a:t>s.student_id</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r.student_id</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To display the view:</a:t>
            </a:r>
          </a:p>
          <a:p>
            <a:pPr rtl="0"/>
            <a:r>
              <a:rPr lang="en-IN" dirty="0">
                <a:latin typeface="Times New Roman" panose="02020603050405020304" pitchFamily="18" charset="0"/>
                <a:cs typeface="Times New Roman" panose="02020603050405020304" pitchFamily="18" charset="0"/>
              </a:rPr>
              <a:t>SELECT * FROM </a:t>
            </a:r>
            <a:r>
              <a:rPr lang="en-IN" dirty="0" err="1">
                <a:latin typeface="Times New Roman" panose="02020603050405020304" pitchFamily="18" charset="0"/>
                <a:cs typeface="Times New Roman" panose="02020603050405020304" pitchFamily="18" charset="0"/>
              </a:rPr>
              <a:t>student_academic_summary</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5690273"/>
      </p:ext>
    </p:extLst>
  </p:cSld>
  <p:clrMapOvr>
    <a:masterClrMapping/>
  </p:clrMapOvr>
  <mc:AlternateContent xmlns:mc="http://schemas.openxmlformats.org/markup-compatibility/2006" xmlns:p14="http://schemas.microsoft.com/office/powerpoint/2010/main">
    <mc:Choice Requires="p14">
      <p:transition spd="slow" p14:dur="2000" advTm="2624"/>
    </mc:Choice>
    <mc:Fallback xmlns="">
      <p:transition spd="slow" advTm="262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C0D6C-E806-0ACC-EE2E-12B1D15413CF}"/>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5EEB7587-2D2F-43B4-51D5-8E14B6116146}"/>
              </a:ext>
            </a:extLst>
          </p:cNvPr>
          <p:cNvGrpSpPr/>
          <p:nvPr/>
        </p:nvGrpSpPr>
        <p:grpSpPr>
          <a:xfrm>
            <a:off x="2477248" y="416480"/>
            <a:ext cx="5103904" cy="1198311"/>
            <a:chOff x="2648188" y="47148"/>
            <a:chExt cx="5103904" cy="1198311"/>
          </a:xfrm>
        </p:grpSpPr>
        <p:pic>
          <p:nvPicPr>
            <p:cNvPr id="5" name="object 4">
              <a:extLst>
                <a:ext uri="{FF2B5EF4-FFF2-40B4-BE49-F238E27FC236}">
                  <a16:creationId xmlns:a16="http://schemas.microsoft.com/office/drawing/2014/main" id="{1C47F419-1B39-323F-6F51-03F9D7637AE9}"/>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A6649B0D-492C-386C-CA22-FA4290BAB58B}"/>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11A7B88E-4845-2D18-A113-199426051778}"/>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600599D7-B2B5-7AB3-E623-9A78752646E4}"/>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4A148028-3748-DC09-E9B5-85FCAE689501}"/>
              </a:ext>
            </a:extLst>
          </p:cNvPr>
          <p:cNvSpPr txBox="1"/>
          <p:nvPr/>
        </p:nvSpPr>
        <p:spPr>
          <a:xfrm>
            <a:off x="3575448" y="612881"/>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ACID PROPERTIES </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55FA265B-4153-2B29-5F45-5A6AD930D405}"/>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92F02736-3E7A-A09F-30B4-CB7B68B3E637}"/>
              </a:ext>
            </a:extLst>
          </p:cNvPr>
          <p:cNvSpPr txBox="1"/>
          <p:nvPr/>
        </p:nvSpPr>
        <p:spPr>
          <a:xfrm>
            <a:off x="996752" y="2013992"/>
            <a:ext cx="8403450" cy="2862322"/>
          </a:xfrm>
          <a:prstGeom prst="rect">
            <a:avLst/>
          </a:prstGeom>
          <a:noFill/>
        </p:spPr>
        <p:txBody>
          <a:bodyPr wrap="square" rtlCol="0">
            <a:spAutoFit/>
          </a:bodyPr>
          <a:lstStyle/>
          <a:p>
            <a:pPr marL="342900" lvl="0" indent="-342900">
              <a:buFont typeface="+mj-lt"/>
              <a:buAutoNum type="arabicPeriod"/>
            </a:pPr>
            <a:r>
              <a:rPr lang="en-IN" sz="2000" b="1" dirty="0">
                <a:latin typeface="Times New Roman" panose="02020603050405020304" pitchFamily="18" charset="0"/>
                <a:cs typeface="Times New Roman" panose="02020603050405020304" pitchFamily="18" charset="0"/>
              </a:rPr>
              <a:t>Atomicity:</a:t>
            </a:r>
            <a:r>
              <a:rPr lang="en-IN" sz="2000" dirty="0">
                <a:latin typeface="Times New Roman" panose="02020603050405020304" pitchFamily="18" charset="0"/>
                <a:cs typeface="Times New Roman" panose="02020603050405020304" pitchFamily="18" charset="0"/>
              </a:rPr>
              <a:t> Student result, attendance, or </a:t>
            </a:r>
            <a:r>
              <a:rPr lang="en-IN" sz="2000" dirty="0" err="1">
                <a:latin typeface="Times New Roman" panose="02020603050405020304" pitchFamily="18" charset="0"/>
                <a:cs typeface="Times New Roman" panose="02020603050405020304" pitchFamily="18" charset="0"/>
              </a:rPr>
              <a:t>enrollment</a:t>
            </a:r>
            <a:r>
              <a:rPr lang="en-IN" sz="2000" dirty="0">
                <a:latin typeface="Times New Roman" panose="02020603050405020304" pitchFamily="18" charset="0"/>
                <a:cs typeface="Times New Roman" panose="02020603050405020304" pitchFamily="18" charset="0"/>
              </a:rPr>
              <a:t> transactions are completed fully or not at all. </a:t>
            </a:r>
          </a:p>
          <a:p>
            <a:pPr marL="342900" lvl="0" indent="-342900" algn="just">
              <a:buFont typeface="+mj-lt"/>
              <a:buAutoNum type="arabicPeriod"/>
            </a:pPr>
            <a:r>
              <a:rPr lang="en-IN" sz="2000" b="1" dirty="0">
                <a:latin typeface="Times New Roman" panose="02020603050405020304" pitchFamily="18" charset="0"/>
                <a:cs typeface="Times New Roman" panose="02020603050405020304" pitchFamily="18" charset="0"/>
              </a:rPr>
              <a:t>Consistency:</a:t>
            </a:r>
            <a:r>
              <a:rPr lang="en-IN" sz="2000" dirty="0">
                <a:latin typeface="Times New Roman" panose="02020603050405020304" pitchFamily="18" charset="0"/>
                <a:cs typeface="Times New Roman" panose="02020603050405020304" pitchFamily="18" charset="0"/>
              </a:rPr>
              <a:t> The database maintains valid data, such as correct student IDs, course IDs, marks, and attendance values. </a:t>
            </a:r>
          </a:p>
          <a:p>
            <a:pPr marL="342900" lvl="0" indent="-342900">
              <a:buFont typeface="+mj-lt"/>
              <a:buAutoNum type="arabicPeriod"/>
            </a:pPr>
            <a:r>
              <a:rPr lang="en-IN" sz="2000" b="1" dirty="0">
                <a:latin typeface="Times New Roman" panose="02020603050405020304" pitchFamily="18" charset="0"/>
                <a:cs typeface="Times New Roman" panose="02020603050405020304" pitchFamily="18" charset="0"/>
              </a:rPr>
              <a:t>Isolation:</a:t>
            </a:r>
            <a:r>
              <a:rPr lang="en-IN" sz="2000" dirty="0">
                <a:latin typeface="Times New Roman" panose="02020603050405020304" pitchFamily="18" charset="0"/>
                <a:cs typeface="Times New Roman" panose="02020603050405020304" pitchFamily="18" charset="0"/>
              </a:rPr>
              <a:t> Multiple users can access or update student, result, and attendance data without affecting each other's transactions. </a:t>
            </a:r>
          </a:p>
          <a:p>
            <a:pPr marL="342900" lvl="0" indent="-342900">
              <a:buFont typeface="+mj-lt"/>
              <a:buAutoNum type="arabicPeriod"/>
            </a:pPr>
            <a:r>
              <a:rPr lang="en-IN" sz="2000" b="1" dirty="0">
                <a:latin typeface="Times New Roman" panose="02020603050405020304" pitchFamily="18" charset="0"/>
                <a:cs typeface="Times New Roman" panose="02020603050405020304" pitchFamily="18" charset="0"/>
              </a:rPr>
              <a:t>Durability:</a:t>
            </a:r>
            <a:r>
              <a:rPr lang="en-IN" sz="2000" dirty="0">
                <a:latin typeface="Times New Roman" panose="02020603050405020304" pitchFamily="18" charset="0"/>
                <a:cs typeface="Times New Roman" panose="02020603050405020304" pitchFamily="18" charset="0"/>
              </a:rPr>
              <a:t> Once student results, attendance, or other records are successfully saved, they remain stored even after a system failure.</a:t>
            </a:r>
          </a:p>
          <a:p>
            <a:pPr marL="400050" indent="-400050" algn="just">
              <a:buFont typeface="+mj-lt"/>
              <a:buAutoNum type="arabicPeriod"/>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8303434"/>
      </p:ext>
    </p:extLst>
  </p:cSld>
  <p:clrMapOvr>
    <a:masterClrMapping/>
  </p:clrMapOvr>
  <mc:AlternateContent xmlns:mc="http://schemas.openxmlformats.org/markup-compatibility/2006" xmlns:p14="http://schemas.microsoft.com/office/powerpoint/2010/main">
    <mc:Choice Requires="p14">
      <p:transition spd="slow" p14:dur="2000" advTm="2624"/>
    </mc:Choice>
    <mc:Fallback xmlns="">
      <p:transition spd="slow" advTm="262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6CBA8-6FB2-A401-A0FB-3FB885E0B59E}"/>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F4DEAF25-17C0-EAE3-5D79-90EB95CDD937}"/>
              </a:ext>
            </a:extLst>
          </p:cNvPr>
          <p:cNvGrpSpPr/>
          <p:nvPr/>
        </p:nvGrpSpPr>
        <p:grpSpPr>
          <a:xfrm>
            <a:off x="2724944" y="406140"/>
            <a:ext cx="5103904" cy="1198311"/>
            <a:chOff x="2648188" y="47148"/>
            <a:chExt cx="5103904" cy="1198311"/>
          </a:xfrm>
        </p:grpSpPr>
        <p:pic>
          <p:nvPicPr>
            <p:cNvPr id="5" name="object 4">
              <a:extLst>
                <a:ext uri="{FF2B5EF4-FFF2-40B4-BE49-F238E27FC236}">
                  <a16:creationId xmlns:a16="http://schemas.microsoft.com/office/drawing/2014/main" id="{A8BE71FF-20EF-C9FC-59D7-98D9753D1BD4}"/>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9A3F7E96-F889-7EE8-7E9D-91F2B60DEC48}"/>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9F9EDEAD-1666-468A-30AA-3B29842E8B4B}"/>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00E36B86-558B-E031-45A0-02BB2D3CDCA4}"/>
                </a:ext>
              </a:extLst>
            </p:cNvPr>
            <p:cNvSpPr/>
            <p:nvPr/>
          </p:nvSpPr>
          <p:spPr>
            <a:xfrm>
              <a:off x="2828925" y="280841"/>
              <a:ext cx="4815872"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16399E3D-CB0E-B125-5297-3590376980DD}"/>
              </a:ext>
            </a:extLst>
          </p:cNvPr>
          <p:cNvSpPr txBox="1"/>
          <p:nvPr/>
        </p:nvSpPr>
        <p:spPr>
          <a:xfrm>
            <a:off x="4165104" y="651904"/>
            <a:ext cx="525509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CONCLUSION</a:t>
            </a:r>
          </a:p>
        </p:txBody>
      </p:sp>
      <p:pic>
        <p:nvPicPr>
          <p:cNvPr id="17" name="object 3">
            <a:extLst>
              <a:ext uri="{FF2B5EF4-FFF2-40B4-BE49-F238E27FC236}">
                <a16:creationId xmlns:a16="http://schemas.microsoft.com/office/drawing/2014/main" id="{1EA8E49C-17EE-E28B-AA62-C93C627C76C4}"/>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52F0B3B5-CCE8-C292-0A3D-7A23A10914F0}"/>
              </a:ext>
            </a:extLst>
          </p:cNvPr>
          <p:cNvSpPr txBox="1"/>
          <p:nvPr/>
        </p:nvSpPr>
        <p:spPr>
          <a:xfrm>
            <a:off x="872251" y="1797968"/>
            <a:ext cx="8403450" cy="3730317"/>
          </a:xfrm>
          <a:prstGeom prst="rect">
            <a:avLst/>
          </a:prstGeom>
          <a:noFill/>
        </p:spPr>
        <p:txBody>
          <a:bodyPr wrap="square" rtlCol="0">
            <a:spAutoFit/>
          </a:bodyPr>
          <a:lstStyle/>
          <a:p>
            <a:pPr algn="just">
              <a:lnSpc>
                <a:spcPct val="150000"/>
              </a:lnSpc>
              <a:spcBef>
                <a:spcPts val="600"/>
              </a:spcBef>
              <a:spcAft>
                <a:spcPts val="600"/>
              </a:spcAft>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Smart University Academic Management System</a:t>
            </a:r>
            <a:r>
              <a:rPr lang="en-IN" sz="2000" dirty="0">
                <a:latin typeface="Times New Roman" panose="02020603050405020304" pitchFamily="18" charset="0"/>
                <a:cs typeface="Times New Roman" panose="02020603050405020304" pitchFamily="18" charset="0"/>
              </a:rPr>
              <a:t> provides a centralized MySQL database for managing students, departments, faculty, courses, attendance, examinations, results, scholarships, and placements. It uses normalization, constraints, views, functions, triggers, and stored procedures to ensure reliable and consistent data management. The system also generates academic risk and placement eligibility reports, making it useful for monitoring student performance and supporting university activities. Overall, the project provides a strong foundation for efficient and organized academic management.</a:t>
            </a:r>
          </a:p>
        </p:txBody>
      </p:sp>
    </p:spTree>
    <p:extLst>
      <p:ext uri="{BB962C8B-B14F-4D97-AF65-F5344CB8AC3E}">
        <p14:creationId xmlns:p14="http://schemas.microsoft.com/office/powerpoint/2010/main" val="1107808921"/>
      </p:ext>
    </p:extLst>
  </p:cSld>
  <p:clrMapOvr>
    <a:masterClrMapping/>
  </p:clrMapOvr>
  <mc:AlternateContent xmlns:mc="http://schemas.openxmlformats.org/markup-compatibility/2006" xmlns:p14="http://schemas.microsoft.com/office/powerpoint/2010/main">
    <mc:Choice Requires="p14">
      <p:transition spd="slow" p14:dur="2000" advTm="2624"/>
    </mc:Choice>
    <mc:Fallback xmlns="">
      <p:transition spd="slow" advTm="262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0DA61-A181-2751-7A5E-AFF15B7CA0C2}"/>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06CA663E-05F1-9623-0ED5-C3B004188E26}"/>
              </a:ext>
            </a:extLst>
          </p:cNvPr>
          <p:cNvGrpSpPr/>
          <p:nvPr/>
        </p:nvGrpSpPr>
        <p:grpSpPr>
          <a:xfrm>
            <a:off x="2477248" y="416480"/>
            <a:ext cx="5103904" cy="1198311"/>
            <a:chOff x="2648188" y="47148"/>
            <a:chExt cx="5103904" cy="1198311"/>
          </a:xfrm>
        </p:grpSpPr>
        <p:pic>
          <p:nvPicPr>
            <p:cNvPr id="5" name="object 4">
              <a:extLst>
                <a:ext uri="{FF2B5EF4-FFF2-40B4-BE49-F238E27FC236}">
                  <a16:creationId xmlns:a16="http://schemas.microsoft.com/office/drawing/2014/main" id="{6058627F-404D-5F91-F89A-AE561E6128D7}"/>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EE1EC55A-A7BB-272F-C4EE-B5F65CB14A7B}"/>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69C12445-9BAD-C26F-1E1B-3304DAF79733}"/>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108A2912-C73C-0961-78D3-FD46CDD03CC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98B883F8-1251-3EC6-B461-7E6DAD0F9EF1}"/>
              </a:ext>
            </a:extLst>
          </p:cNvPr>
          <p:cNvSpPr txBox="1"/>
          <p:nvPr/>
        </p:nvSpPr>
        <p:spPr>
          <a:xfrm>
            <a:off x="3575448" y="612881"/>
            <a:ext cx="5029200" cy="46166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Future SCOPE </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53F70CAD-381D-EF25-9DE7-9A09435D54EF}"/>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8F545CF5-EBAA-D36D-9AEE-E6595230D745}"/>
              </a:ext>
            </a:extLst>
          </p:cNvPr>
          <p:cNvSpPr txBox="1"/>
          <p:nvPr/>
        </p:nvSpPr>
        <p:spPr>
          <a:xfrm>
            <a:off x="872251" y="1797968"/>
            <a:ext cx="8403450" cy="4093428"/>
          </a:xfrm>
          <a:prstGeom prst="rect">
            <a:avLst/>
          </a:prstGeom>
          <a:noFill/>
        </p:spPr>
        <p:txBody>
          <a:bodyPr wrap="square" rtlCol="0">
            <a:spAutoFit/>
          </a:bodyPr>
          <a:lstStyle/>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Student and Faculty Login:</a:t>
            </a:r>
            <a:r>
              <a:rPr lang="en-IN" sz="2000" dirty="0">
                <a:latin typeface="Times New Roman" panose="02020603050405020304" pitchFamily="18" charset="0"/>
                <a:cs typeface="Times New Roman" panose="02020603050405020304" pitchFamily="18" charset="0"/>
              </a:rPr>
              <a:t> Add secure login systems with personalized dashboards for students, faculty, and administrators.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Online Fee Management:</a:t>
            </a:r>
            <a:r>
              <a:rPr lang="en-IN" sz="2000" dirty="0">
                <a:latin typeface="Times New Roman" panose="02020603050405020304" pitchFamily="18" charset="0"/>
                <a:cs typeface="Times New Roman" panose="02020603050405020304" pitchFamily="18" charset="0"/>
              </a:rPr>
              <a:t> Include fee payment, fee status tracking, receipts, and payment history within the system.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Online Examination:</a:t>
            </a:r>
            <a:r>
              <a:rPr lang="en-IN" sz="2000" dirty="0">
                <a:latin typeface="Times New Roman" panose="02020603050405020304" pitchFamily="18" charset="0"/>
                <a:cs typeface="Times New Roman" panose="02020603050405020304" pitchFamily="18" charset="0"/>
              </a:rPr>
              <a:t> Provide online tests, automatic evaluation, result generation, and examination scheduling.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Mobile Application:</a:t>
            </a:r>
            <a:r>
              <a:rPr lang="en-IN" sz="2000" dirty="0">
                <a:latin typeface="Times New Roman" panose="02020603050405020304" pitchFamily="18" charset="0"/>
                <a:cs typeface="Times New Roman" panose="02020603050405020304" pitchFamily="18" charset="0"/>
              </a:rPr>
              <a:t> Develop a mobile app so students and faculty can access academic information anytime.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AI-Based Academic Prediction:</a:t>
            </a:r>
            <a:r>
              <a:rPr lang="en-IN" sz="2000" dirty="0">
                <a:latin typeface="Times New Roman" panose="02020603050405020304" pitchFamily="18" charset="0"/>
                <a:cs typeface="Times New Roman" panose="02020603050405020304" pitchFamily="18" charset="0"/>
              </a:rPr>
              <a:t> Use AI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student performance and predict academic risks, helping provide early support. </a:t>
            </a:r>
          </a:p>
          <a:p>
            <a:pPr marL="342900" lvl="0" indent="-342900" algn="just">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Advanced Reports and Notifications:</a:t>
            </a:r>
            <a:r>
              <a:rPr lang="en-IN" sz="2000" dirty="0">
                <a:latin typeface="Times New Roman" panose="02020603050405020304" pitchFamily="18" charset="0"/>
                <a:cs typeface="Times New Roman" panose="02020603050405020304" pitchFamily="18" charset="0"/>
              </a:rPr>
              <a:t> Add graphical reports, automated notifications, attendance alerts, result updates, and placement information</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7695477"/>
      </p:ext>
    </p:extLst>
  </p:cSld>
  <p:clrMapOvr>
    <a:masterClrMapping/>
  </p:clrMapOvr>
  <mc:AlternateContent xmlns:mc="http://schemas.openxmlformats.org/markup-compatibility/2006" xmlns:p14="http://schemas.microsoft.com/office/powerpoint/2010/main">
    <mc:Choice Requires="p14">
      <p:transition spd="slow" p14:dur="2000" advTm="2624"/>
    </mc:Choice>
    <mc:Fallback xmlns="">
      <p:transition spd="slow" advTm="262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mc:AlternateContent xmlns:mc="http://schemas.openxmlformats.org/markup-compatibility/2006" xmlns:p14="http://schemas.microsoft.com/office/powerpoint/2010/main">
    <mc:Choice Requires="p14">
      <p:transition spd="slow" p14:dur="2000" advTm="105206"/>
    </mc:Choice>
    <mc:Fallback xmlns="">
      <p:transition spd="slow" advTm="105206"/>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java</Template>
  <TotalTime>1058</TotalTime>
  <Words>2081</Words>
  <Application>Microsoft Office PowerPoint</Application>
  <PresentationFormat>Custom</PresentationFormat>
  <Paragraphs>378</Paragraphs>
  <Slides>22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Palatino Linotype</vt:lpstr>
      <vt:lpstr>Times New Roman</vt:lpstr>
      <vt:lpstr>Wingdings</vt:lpstr>
      <vt:lpstr>Office Theme</vt:lpstr>
      <vt:lpstr>         DATABASE MANAGEMENT SYSTEM  </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bunny gaming</dc:creator>
  <cp:lastModifiedBy>amruthalokareddy1@gmail.com</cp:lastModifiedBy>
  <cp:revision>21</cp:revision>
  <cp:lastPrinted>2025-10-14T18:21:49Z</cp:lastPrinted>
  <dcterms:created xsi:type="dcterms:W3CDTF">2026-02-27T08:03:13Z</dcterms:created>
  <dcterms:modified xsi:type="dcterms:W3CDTF">2026-10-01T06:03:34Z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